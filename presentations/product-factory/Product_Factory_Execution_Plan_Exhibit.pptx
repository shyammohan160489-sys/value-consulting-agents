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three-part design filter from the 29 Jun PDP session. Product-proximate = moat; customer-proximate = competitive space we lose. Every SKU must pass all three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Cost-neutrality is the floor, revenue generation is the objective. 10 × €120K ≈ €1.2M. Year two adds recurring Value Telemetry revenue on top of installs.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Rung 0 free = funnel. Rungs 1+2 = the €120K SKVC package = cost neutrality. Rung 3 = the growth flywheel (Value Telemetry + gain-share).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exit gates: Concept = qualified sponsor + pain. Design = signed SoW, agreed metrics, data access. Prototype = working demo on the client’s own data. Proof = CFO-grade evidence pack. Proposal = commercial offer + named Mission candidate. Signature = signed order form. Install = layer live + expansion roadmap handed to the 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allocation ask, and specifically NOT a hiring ask. The SE is the critical unlock: same person across all four products so tooling skill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in the Tim and Mayur conversations. Each answer is evidence-backed, from the PDP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X-Ray productizes the Process &amp; Workspace Designer. It observes real flows across the 6-12 systems per journey and quantifies leakage in the messy middle, where ~60% of bank work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backlog item 2.2 (keystone, do first) + 2.3 (the SKU). Partner with Aayushi on the value-assurance line. Only Backbase sees cost-per-resolved-outcome; external FinOps tools see the cloud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 Studio productizes Decision &amp; Policy. It codifies authority, policies, entitlements and audit needs into executable guardrails, and the output is the Sentinel deployment blueprint.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Cartographer productizes the Semantic Modeler. Relationship Intelligence (Grow plays, share of wallet) requires shared truth, so every RI opportunity is a Cartographer prospect.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build load Aug 2026 - Jul 2027: 32-40 person-weeks across four products, sequenced so the pod never carries two builds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Sequencing logic: X-Ray first (lowest build risk, front-door product), Telemetry parallel (shares the keystone cost model work), Guardrail rides the Conversational pipeline, Cartographer lands on X-Ray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insight from the PDP session: the Factory already contains the discovery-end tools. The products ARE those tools, productized as standalone paid wedges. Delivery cost stays at person-weeks because nothing is built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for Tim: the talent budget becomes seed capital for a product launch, and specifically not a training spend. Framing for Mayur: these four asks are the same asks already on the PDP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CLAUDE.md governance: no hidden assumptions. These five carry the plan; validating the first three in September de-risks the whole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717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1476375"/>
            <a:ext cx="1118235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96224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825" y="4752975"/>
            <a:ext cx="739140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20025" y="1476375"/>
            <a:ext cx="762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43825" y="1476375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base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09600"/>
            <a:ext cx="1143000" cy="2758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0125" y="2095499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69FEFF"/>
                </a:solidFill>
                <a:latin typeface="Libre Franklin"/>
              </a:rPr>
              <a:t>VALUE CONSULTING · PDP ·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2495550"/>
            <a:ext cx="6858000" cy="1619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Libre Franklin"/>
              </a:rPr>
              <a:t>Product Factory:</a:t>
            </a:r>
          </a:p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Libre Franklin"/>
              </a:rPr>
              <a:t>from concept to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5029200"/>
            <a:ext cx="66675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87" b="0">
                <a:solidFill>
                  <a:srgbClr val="C5CFDE"/>
                </a:solidFill>
                <a:latin typeface="Libre Franklin"/>
              </a:rPr>
              <a:t>The execution plan for four paid product wedges that pre-install Banking OS,</a:t>
            </a:r>
          </a:p>
          <a:p>
            <a:pPr algn="l">
              <a:lnSpc>
                <a:spcPct val="130000"/>
              </a:lnSpc>
            </a:pPr>
            <a:r>
              <a:rPr sz="1087" b="0">
                <a:solidFill>
                  <a:srgbClr val="C5CFDE"/>
                </a:solidFill>
                <a:latin typeface="Libre Franklin"/>
              </a:rPr>
              <a:t>make the function cost neutral inside a year, and open a recurring revenue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6143625"/>
            <a:ext cx="66675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Shyam · July 2026 · prepared for the talent programme (Tim Ruttner) and the PDP track (Mayur)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999" y="2095499"/>
            <a:ext cx="3048000" cy="857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Libre Franklin"/>
              </a:rPr>
              <a:t>One product in market</a:t>
            </a:r>
          </a:p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Libre Franklin"/>
              </a:rPr>
              <a:t>by January 2027.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999" y="3048000"/>
            <a:ext cx="30480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C5CFDE"/>
                </a:solidFill>
                <a:latin typeface="Libre Franklin"/>
              </a:rPr>
              <a:t>Four sellable SKUs and a recurring</a:t>
            </a:r>
          </a:p>
          <a:p>
            <a:pPr algn="l">
              <a:lnSpc>
                <a:spcPct val="125000"/>
              </a:lnSpc>
            </a:pPr>
            <a:r>
              <a:rPr sz="975" b="0">
                <a:solidFill>
                  <a:srgbClr val="C5CFDE"/>
                </a:solidFill>
                <a:latin typeface="Libre Franklin"/>
              </a:rPr>
              <a:t>line by mid 2027.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76375"/>
            <a:ext cx="1219200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717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825" y="4448175"/>
            <a:ext cx="1118235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8625" y="1323975"/>
            <a:ext cx="762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2425" y="1400175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ckbase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55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5A6B80"/>
                </a:solidFill>
                <a:latin typeface="Libre Franklin"/>
              </a:rPr>
              <a:t>1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019174" y="201930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69FEFF"/>
                </a:solidFill>
                <a:latin typeface="Libre Franklin"/>
              </a:rPr>
              <a:t>01 ·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381250"/>
            <a:ext cx="9144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Libre Franklin"/>
              </a:rPr>
              <a:t>The frameworks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4" y="3333750"/>
            <a:ext cx="89535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25" b="0">
                <a:solidFill>
                  <a:srgbClr val="C5CFDE"/>
                </a:solidFill>
                <a:latin typeface="Libre Franklin"/>
              </a:rPr>
              <a:t>The thesis, the product filter, the economics, the lifecycle, and the pod that runs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FRAMEWORKS · THE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Every product earns a fee, harvests the bank’s reality, and installs the first component of Banking OS.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Filter rule: a candidate that fails any one of the three tests is consulting, and stays out of the product line. Aligned to the Banking OS canon (knowledge/product/banking-os.md).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114550"/>
            <a:ext cx="5334000" cy="10287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350" y="2190750"/>
            <a:ext cx="38100" cy="8763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22885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Test 1 · It earns a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495550"/>
            <a:ext cx="4991100" cy="552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Each install is paid work at €15-100K, priced as a product with a fixed scope and a delivery kit.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" y="3276600"/>
            <a:ext cx="5334000" cy="10287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350" y="3352800"/>
            <a:ext cx="38100" cy="8763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33909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Test 2 · It harvests proprietary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3657600"/>
            <a:ext cx="4991100" cy="552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The engagement captures the bank’s real processes, data structures and policies. Evidence only Backbase holds.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" y="4438650"/>
            <a:ext cx="5334000" cy="10287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350" y="4514850"/>
            <a:ext cx="38100" cy="8763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850" y="455295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Test 3 · It pre-binds a Banking OS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4819650"/>
            <a:ext cx="4991100" cy="552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The output is a working component: Nexus, Sentinel or a Mission candidate, already present in the account.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1250" y="2114550"/>
            <a:ext cx="5486400" cy="33147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7000" y="2362200"/>
            <a:ext cx="4914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9FEFF"/>
                </a:solidFill>
                <a:latin typeface="Libre Franklin"/>
              </a:rPr>
              <a:t>THE ONE-LINER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2667000"/>
            <a:ext cx="49149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575" b="1">
                <a:solidFill>
                  <a:srgbClr val="FFFFFF"/>
                </a:solidFill>
                <a:latin typeface="Libre Franklin"/>
              </a:rPr>
              <a:t>Paid discovery that leaves the platform installed.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4305300"/>
            <a:ext cx="4914900" cy="990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C5CFDE"/>
                </a:solidFill>
                <a:latin typeface="Libre Franklin"/>
              </a:rPr>
              <a:t>Each engagement ends with a live Banking OS component in the account, a quantified expansion case for the AE, and account intelligence competitors and SIs never see.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FRAMEWORKS · THE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Ten paid installs a year cover the full team cost; every install beyond is new revenue.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Package = Assess &amp; Solution €60K + Mission POC €60K. Team cost of ~€1.2M a year is the PDP working figure and is to be validated with finance. Year-two target of 14-16 installs is a planning range.</a:t>
            </a:r>
          </a:p>
        </p:txBody>
      </p:sp>
      <p:sp>
        <p:nvSpPr>
          <p:cNvPr id="14" name="Oval 13"/>
          <p:cNvSpPr/>
          <p:nvPr/>
        </p:nvSpPr>
        <p:spPr>
          <a:xfrm>
            <a:off x="9525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383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241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099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57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15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673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3100" y="27622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2500" y="34480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38300" y="3448050"/>
            <a:ext cx="400050" cy="4000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4100" y="3448050"/>
            <a:ext cx="400050" cy="400050"/>
          </a:xfrm>
          <a:prstGeom prst="ellipse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09900" y="3448050"/>
            <a:ext cx="400050" cy="400050"/>
          </a:xfrm>
          <a:prstGeom prst="ellipse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95700" y="3448050"/>
            <a:ext cx="400050" cy="400050"/>
          </a:xfrm>
          <a:prstGeom prst="ellipse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81500" y="3448050"/>
            <a:ext cx="400050" cy="400050"/>
          </a:xfrm>
          <a:prstGeom prst="ellipse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67300" y="3448050"/>
            <a:ext cx="400050" cy="400050"/>
          </a:xfrm>
          <a:prstGeom prst="ellipse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53100" y="3448050"/>
            <a:ext cx="400050" cy="400050"/>
          </a:xfrm>
          <a:prstGeom prst="ellipse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1550" y="4495800"/>
            <a:ext cx="152400" cy="15240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9200" y="44767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786"/>
                </a:solidFill>
                <a:latin typeface="Libre Franklin"/>
              </a:rPr>
              <a:t>Installs to cost neutrality (10)</a:t>
            </a:r>
          </a:p>
        </p:txBody>
      </p:sp>
      <p:sp>
        <p:nvSpPr>
          <p:cNvPr id="32" name="Oval 31"/>
          <p:cNvSpPr/>
          <p:nvPr/>
        </p:nvSpPr>
        <p:spPr>
          <a:xfrm>
            <a:off x="4400550" y="4495800"/>
            <a:ext cx="152400" cy="152400"/>
          </a:xfrm>
          <a:prstGeom prst="ellipse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8200" y="4476750"/>
            <a:ext cx="3048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786"/>
                </a:solidFill>
                <a:latin typeface="Libre Franklin"/>
              </a:rPr>
              <a:t>Year-two expansion range (14-16)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6150" y="2286000"/>
            <a:ext cx="4381500" cy="24765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77150" y="2552700"/>
            <a:ext cx="1714500" cy="857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3367FF"/>
                </a:solidFill>
                <a:latin typeface="Libre Franklin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77150" y="3524250"/>
            <a:ext cx="36195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87" b="0">
                <a:solidFill>
                  <a:srgbClr val="041326"/>
                </a:solidFill>
                <a:latin typeface="Libre Franklin"/>
              </a:rPr>
              <a:t>installs a year at an average package of €120K cover the ~€1.2M annual team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FRAMEWORKS · THE LADDER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The wedge stays free; depth and recurrence carry the price.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Recurring range is a target shape anchored on SAP and ServiceNow success-plan pricing of 10-30% of licence value, and on FinOps gain-share market practice (15-35% of realised savings).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438400"/>
            <a:ext cx="2286000" cy="12382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2552700"/>
            <a:ext cx="1943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Rung 0 · free 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2819400"/>
            <a:ext cx="19431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Ignite Inspire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~4 meetings, benchmark and use-case shortlist. Grows the funnel.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4650" y="2857500"/>
            <a:ext cx="2857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3750" y="2762250"/>
            <a:ext cx="2667000" cy="7239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5200" y="2876550"/>
            <a:ext cx="228600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75" b="1">
                <a:solidFill>
                  <a:srgbClr val="FFFFFF"/>
                </a:solidFill>
                <a:latin typeface="Libre Franklin"/>
              </a:rPr>
              <a:t>Assess &amp; Solution</a:t>
            </a:r>
          </a:p>
          <a:p>
            <a:pPr algn="l">
              <a:lnSpc>
                <a:spcPct val="110000"/>
              </a:lnSpc>
            </a:pPr>
            <a:r>
              <a:rPr sz="975" b="1">
                <a:solidFill>
                  <a:srgbClr val="FFFFFF"/>
                </a:solidFill>
                <a:latin typeface="Libre Franklin"/>
              </a:rPr>
              <a:t>€60K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0750" y="2762250"/>
            <a:ext cx="2667000" cy="723900"/>
          </a:xfrm>
          <a:prstGeom prst="rect">
            <a:avLst/>
          </a:prstGeom>
          <a:solidFill>
            <a:srgbClr val="264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876550"/>
            <a:ext cx="228600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75" b="1">
                <a:solidFill>
                  <a:srgbClr val="FFFFFF"/>
                </a:solidFill>
                <a:latin typeface="Libre Franklin"/>
              </a:rPr>
              <a:t>Mission POC</a:t>
            </a:r>
          </a:p>
          <a:p>
            <a:pPr algn="l">
              <a:lnSpc>
                <a:spcPct val="110000"/>
              </a:lnSpc>
            </a:pPr>
            <a:r>
              <a:rPr sz="975" b="1">
                <a:solidFill>
                  <a:srgbClr val="FFFFFF"/>
                </a:solidFill>
                <a:latin typeface="Libre Franklin"/>
              </a:rPr>
              <a:t>€60K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3750" y="245745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6B7786"/>
                </a:solidFill>
                <a:latin typeface="Libre Franklin"/>
              </a:rPr>
              <a:t>Rungs 1 + 2 · the €120K package (to scale)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2050" y="2857500"/>
            <a:ext cx="2857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2100" y="2438400"/>
            <a:ext cx="2495550" cy="123825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1650" y="2552700"/>
            <a:ext cx="209549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9FEFF"/>
                </a:solidFill>
                <a:latin typeface="Libre Franklin"/>
              </a:rPr>
              <a:t>Rung 3 · recurring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1650" y="2800350"/>
            <a:ext cx="2095499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75" b="1">
                <a:solidFill>
                  <a:srgbClr val="FFFFFF"/>
                </a:solidFill>
                <a:latin typeface="Libre Franklin"/>
              </a:rPr>
              <a:t>Value Assurance</a:t>
            </a:r>
          </a:p>
          <a:p>
            <a:pPr algn="l">
              <a:lnSpc>
                <a:spcPct val="115000"/>
              </a:lnSpc>
            </a:pPr>
            <a:r>
              <a:rPr sz="975" b="1">
                <a:solidFill>
                  <a:srgbClr val="FFFFFF"/>
                </a:solidFill>
                <a:latin typeface="Libre Franklin"/>
              </a:rPr>
              <a:t>€30-50K a year + gain share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4350" y="4381500"/>
            <a:ext cx="5448300" cy="8763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4350" y="4457700"/>
            <a:ext cx="38100" cy="7239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4495800"/>
            <a:ext cx="51054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The free wedge feeds the funnel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" y="4762500"/>
            <a:ext cx="510540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Four meetings surface the leakage evidence that qualifies the paid wedge. Zero friction to start.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9350" y="4381500"/>
            <a:ext cx="5448300" cy="8763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29350" y="4457700"/>
            <a:ext cx="38100" cy="7239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850" y="4495800"/>
            <a:ext cx="51054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Recurrence is the growth flywheel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850" y="4762500"/>
            <a:ext cx="510540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Telemetry converts every live deployment into quarterly revenue that compounds with AI consumption.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FRAMEWORKS · THE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One motion carries every product from concept to installed platform.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Durations are per-engagement figures once the product is built, with a ±30% planning tolerance. The first pass through stages 1-4 is the one-time product 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457450"/>
            <a:ext cx="1485900" cy="14287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7225" y="2619375"/>
            <a:ext cx="323850" cy="3238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25" y="2676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7" b="1">
                <a:solidFill>
                  <a:srgbClr val="FFFFFF"/>
                </a:solidFill>
                <a:latin typeface="Libre Franklin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048000"/>
            <a:ext cx="120015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333750"/>
            <a:ext cx="120015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VC · 1 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199" y="300990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24075" y="2457450"/>
            <a:ext cx="1485900" cy="14287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66950" y="2619375"/>
            <a:ext cx="323850" cy="3238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6950" y="2676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7" b="1">
                <a:solidFill>
                  <a:srgbClr val="FFFFFF"/>
                </a:solidFill>
                <a:latin typeface="Libre Franklin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475" y="3048000"/>
            <a:ext cx="120015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6475" y="3333750"/>
            <a:ext cx="120015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VC + SE · 1-2 wks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0925" y="300990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33799" y="2457450"/>
            <a:ext cx="1485900" cy="14287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76674" y="2619375"/>
            <a:ext cx="323850" cy="3238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76674" y="2676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7" b="1">
                <a:solidFill>
                  <a:srgbClr val="FFFFFF"/>
                </a:solidFill>
                <a:latin typeface="Libre Franklin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048000"/>
            <a:ext cx="120015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Prototype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333750"/>
            <a:ext cx="120015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SE · 2-3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0650" y="300990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3525" y="2457450"/>
            <a:ext cx="1485900" cy="14287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6400" y="2619375"/>
            <a:ext cx="323850" cy="3238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2676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7" b="1">
                <a:solidFill>
                  <a:srgbClr val="FFFFFF"/>
                </a:solidFill>
                <a:latin typeface="Libre Franklin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5925" y="3048000"/>
            <a:ext cx="120015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Proof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925" y="3333750"/>
            <a:ext cx="120015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VC · 2-4 wks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0375" y="300990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53250" y="2457450"/>
            <a:ext cx="1485900" cy="14287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96125" y="2619375"/>
            <a:ext cx="323850" cy="3238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96125" y="2676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7" b="1">
                <a:solidFill>
                  <a:srgbClr val="FFFFFF"/>
                </a:solidFill>
                <a:latin typeface="Libre Franklin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5650" y="3048000"/>
            <a:ext cx="120015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Proposal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5650" y="3333750"/>
            <a:ext cx="120015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VC + AE · 1 wk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0100" y="300990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62975" y="2457450"/>
            <a:ext cx="1485900" cy="14287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05850" y="2619375"/>
            <a:ext cx="323850" cy="3238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05850" y="2676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7" b="1">
                <a:solidFill>
                  <a:srgbClr val="FFFFFF"/>
                </a:solidFill>
                <a:latin typeface="Libre Franklin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15375" y="3048000"/>
            <a:ext cx="120015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Signature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5375" y="3333750"/>
            <a:ext cx="120015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AE + VC · 2-4 wks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29825" y="300990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72700" y="2457450"/>
            <a:ext cx="1485900" cy="14287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15575" y="2619375"/>
            <a:ext cx="323850" cy="323850"/>
          </a:xfrm>
          <a:prstGeom prst="ellipse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15575" y="2676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7" b="1">
                <a:solidFill>
                  <a:srgbClr val="FFFFFF"/>
                </a:solidFill>
                <a:latin typeface="Libre Franklin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25100" y="3048000"/>
            <a:ext cx="120015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Install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25100" y="3333750"/>
            <a:ext cx="120015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FDE + SE · 6-12 wks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4350" y="4381500"/>
            <a:ext cx="11163300" cy="800100"/>
          </a:xfrm>
          <a:prstGeom prst="roundRect">
            <a:avLst>
              <a:gd name="adj" fmla="val 8000"/>
            </a:avLst>
          </a:prstGeom>
          <a:solidFill>
            <a:srgbClr val="E5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2950" y="4533900"/>
            <a:ext cx="2857500" cy="4952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12" b="1">
                <a:solidFill>
                  <a:srgbClr val="264EC7"/>
                </a:solidFill>
                <a:latin typeface="Libre Franklin"/>
              </a:rPr>
              <a:t>The lifecycle runs twice over.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14750" y="4495800"/>
            <a:ext cx="77343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041326"/>
                </a:solidFill>
                <a:latin typeface="Libre Franklin"/>
              </a:rPr>
              <a:t>The first pass through stages 1-4 builds the product itself. From the second account onward, the same motion runs as a 4-8 week sales-and-delivery cycle per install.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FRAMEWORKS · RESOURCING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A pod of two and a half people runs the whole line; hiring follows revenue.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FTE figures are steady-state allocations during build and delivery phases; FDE capacity is drawn from standard Mission Sprint staffing at install, so it is charged to the delivery, and not to this pod.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0574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350" y="21336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1717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You · product owner · 1.0 FTE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438400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SKU design, value narrative, proof economics, proposal. Owns the P&amp;L of the 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" y="29337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350" y="30099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30480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Solution engineer · 0.5 FTE, named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3314700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Connectors, data extraction, Factory tooling at prototype and install. The technical spine.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" y="38100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350" y="38862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850" y="39243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FDE · on demand at install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4190999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Runs the Factory Mission Sprint once an install is signed. 6-12 weeks per Mission.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" y="46863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350" y="47625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48006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SME · on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" y="5067300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Risk and compliance review for Guardrail Studio; R&amp;D liaison for the Cartographer.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250" y="2057400"/>
            <a:ext cx="5486400" cy="33909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7000" y="2305050"/>
            <a:ext cx="4914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9FEFF"/>
                </a:solidFill>
                <a:latin typeface="Libre Franklin"/>
              </a:rPr>
              <a:t>WHY THE SOLUTION ENGINEER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2609850"/>
            <a:ext cx="49149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575" b="1">
                <a:solidFill>
                  <a:srgbClr val="FFFFFF"/>
                </a:solidFill>
                <a:latin typeface="Libre Franklin"/>
              </a:rPr>
              <a:t>One named SE across all four products, so skill compounds.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0" y="4324350"/>
            <a:ext cx="4914900" cy="990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C5CFDE"/>
                </a:solidFill>
                <a:latin typeface="Libre Franklin"/>
              </a:rPr>
              <a:t>Every product runs on the same Factory tools: Connector Studio, Semantic Modeler, Simulation &amp; Testing. Each install makes the next one cheaper and faster to deliver.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FRAMEWORKS · THE OBJECTIONS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The three obvious objections have concrete answers.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AIB reference: paid an estimated ~€80K for an external current/future-state assessment (ADS), PDP session record, 29 Jun 2026. Wedge pattern references: AWS OLA, SAP Outside-In, ServiceNow Inspire.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114550"/>
            <a:ext cx="4000500" cy="10287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2286000"/>
            <a:ext cx="35433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Libre Franklin"/>
              </a:rPr>
              <a:t>“Banks will not pay for discovery.”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5350" y="2114550"/>
            <a:ext cx="6972300" cy="10287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5350" y="2190750"/>
            <a:ext cx="38100" cy="8763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3950" y="2247900"/>
            <a:ext cx="6515100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937" b="0">
                <a:solidFill>
                  <a:srgbClr val="041326"/>
                </a:solidFill>
                <a:latin typeface="Libre Franklin"/>
              </a:rPr>
              <a:t>The market already does: AIB paid ~€80K for a weaker assessment. AWS, SAP and ServiceNow all run the diagnostic-wedge motion; ours goes further by installing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350" y="3276600"/>
            <a:ext cx="4000500" cy="10287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50" y="3448050"/>
            <a:ext cx="35433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Libre Franklin"/>
              </a:rPr>
              <a:t>“We have no capacity to build products.”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5350" y="3276600"/>
            <a:ext cx="6972300" cy="10287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5350" y="3352800"/>
            <a:ext cx="38100" cy="8763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3950" y="3409950"/>
            <a:ext cx="6515100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937" b="0">
                <a:solidFill>
                  <a:srgbClr val="041326"/>
                </a:solidFill>
                <a:latin typeface="Libre Franklin"/>
              </a:rPr>
              <a:t>Build effort is 6-12 person-weeks per product because the Factory tools, the APA V3 catalog and the cost model already exist. The sequence builds one product at a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350" y="4438650"/>
            <a:ext cx="4000500" cy="10287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950" y="4610100"/>
            <a:ext cx="35433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Libre Franklin"/>
              </a:rPr>
              <a:t>“This distracts from platform sales.”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5350" y="4438650"/>
            <a:ext cx="6972300" cy="10287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5350" y="4514850"/>
            <a:ext cx="38100" cy="8763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3950" y="4572000"/>
            <a:ext cx="6515100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937" b="0">
                <a:solidFill>
                  <a:srgbClr val="041326"/>
                </a:solidFill>
                <a:latin typeface="Libre Franklin"/>
              </a:rPr>
              <a:t>Every install pre-binds Nexus, Sentinel or a Mission and hands the AE a quantified expansion case. The wedge is the land motion of land-and-expand.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76375"/>
            <a:ext cx="1219200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717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825" y="4448175"/>
            <a:ext cx="1118235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8625" y="1323975"/>
            <a:ext cx="762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2425" y="1400175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ckbase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55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5A6B80"/>
                </a:solidFill>
                <a:latin typeface="Libre Franklin"/>
              </a:rPr>
              <a:t>1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019174" y="201930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69FEFF"/>
                </a:solidFill>
                <a:latin typeface="Libre Franklin"/>
              </a:rPr>
              <a:t>02 ·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381250"/>
            <a:ext cx="9144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Libre Franklin"/>
              </a:rPr>
              <a:t>Four execution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4" y="3333750"/>
            <a:ext cx="89535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25" b="0">
                <a:solidFill>
                  <a:srgbClr val="C5CFDE"/>
                </a:solidFill>
                <a:latin typeface="Libre Franklin"/>
              </a:rPr>
              <a:t>Product by product: milestones, effort, pod, ticket, and the gate that unlocks each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EXECUTION PLAN 1 OF 4 · PROCESS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Process X-Ray ships first: demo by October, paid proof by December, first revenue in January.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Effort carries a ±30% tolerance. Build is low-risk because the APA V3 catalog (65 processes, 283 steps), the journey builder and the value-leakage method already exist in the repo.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2762250"/>
            <a:ext cx="8572500" cy="22859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33550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Aug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Delivery kit, pricing one-pager, demo script. 3 pw, VC.</a:t>
            </a:r>
          </a:p>
        </p:txBody>
      </p:sp>
      <p:sp>
        <p:nvSpPr>
          <p:cNvPr id="19" name="Oval 18"/>
          <p:cNvSpPr/>
          <p:nvPr/>
        </p:nvSpPr>
        <p:spPr>
          <a:xfrm>
            <a:off x="3876674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0375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Sep-Oct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375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375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Demo on the APA V3 catalog (65 processes) plus one friendly dataset. 5 pw, SE-led.</a:t>
            </a:r>
          </a:p>
        </p:txBody>
      </p:sp>
      <p:sp>
        <p:nvSpPr>
          <p:cNvPr id="23" name="Diamond 22"/>
          <p:cNvSpPr/>
          <p:nvPr/>
        </p:nvSpPr>
        <p:spPr>
          <a:xfrm>
            <a:off x="5991225" y="2667000"/>
            <a:ext cx="209550" cy="209550"/>
          </a:xfrm>
          <a:prstGeom prst="diamond">
            <a:avLst/>
          </a:prstGeom>
          <a:solidFill>
            <a:srgbClr val="FF503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350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50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Pilot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Prospect pilot green-light with Mayur. AIB-profile account.</a:t>
            </a:r>
          </a:p>
        </p:txBody>
      </p:sp>
      <p:sp>
        <p:nvSpPr>
          <p:cNvPr id="27" name="Oval 26"/>
          <p:cNvSpPr/>
          <p:nvPr/>
        </p:nvSpPr>
        <p:spPr>
          <a:xfrm>
            <a:off x="8162925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6625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Oct-Dec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6625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625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Paid pilot: leakage heatmap, top-3 Mission candidates with ROI evidence. 6 pw.</a:t>
            </a:r>
          </a:p>
        </p:txBody>
      </p:sp>
      <p:sp>
        <p:nvSpPr>
          <p:cNvPr id="31" name="Diamond 30"/>
          <p:cNvSpPr/>
          <p:nvPr/>
        </p:nvSpPr>
        <p:spPr>
          <a:xfrm>
            <a:off x="10277475" y="2667000"/>
            <a:ext cx="209550" cy="209550"/>
          </a:xfrm>
          <a:prstGeom prst="diamond">
            <a:avLst/>
          </a:prstGeom>
          <a:solidFill>
            <a:srgbClr val="3367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97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Jan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First signature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Wedge sold at €50-75K; install starts as a Factory Mission Sprint.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4350" y="4400550"/>
            <a:ext cx="11163300" cy="9144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05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BUILD EFFORT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8-10 person-wks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7187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187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4-6 wks · 12-14 pw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270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POD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270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VC 1.0 + SE 0.5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352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PRE-BINDS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52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Mission candidate + 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EXECUTION PLAN 2 OF 4 · VALUE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Value Telemetry rides the keystone cost-per-outcome model and opens the recurring line.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Gain-share pricing of 15-35% of realised savings is market-validated (ProsperOps, nOps, Vantage), with a “10% or free” floor. Current cost-model sample is n=2 use cases; the keystone study raises it to ~5.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2762250"/>
            <a:ext cx="8572500" cy="22859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704975" y="2667000"/>
            <a:ext cx="209550" cy="209550"/>
          </a:xfrm>
          <a:prstGeom prst="diamond">
            <a:avLst/>
          </a:prstGeom>
          <a:solidFill>
            <a:srgbClr val="FF503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Sep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Keystone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Extend the cost model from cost-per-interaction to cost-per-outcome, with Deepak. ~5 use cases.</a:t>
            </a:r>
          </a:p>
        </p:txBody>
      </p:sp>
      <p:sp>
        <p:nvSpPr>
          <p:cNvPr id="19" name="Oval 18"/>
          <p:cNvSpPr/>
          <p:nvPr/>
        </p:nvSpPr>
        <p:spPr>
          <a:xfrm>
            <a:off x="3876674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0375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375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375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SKU spec: diagnostic scope, telemetry set, gain-share terms. 4 pw, VC.</a:t>
            </a:r>
          </a:p>
        </p:txBody>
      </p:sp>
      <p:sp>
        <p:nvSpPr>
          <p:cNvPr id="23" name="Oval 22"/>
          <p:cNvSpPr/>
          <p:nvPr/>
        </p:nvSpPr>
        <p:spPr>
          <a:xfrm>
            <a:off x="6019800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350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50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Cost-per-outcome dashboard on one live deployment’s data. 3 pw.</a:t>
            </a:r>
          </a:p>
        </p:txBody>
      </p:sp>
      <p:sp>
        <p:nvSpPr>
          <p:cNvPr id="27" name="Oval 26"/>
          <p:cNvSpPr/>
          <p:nvPr/>
        </p:nvSpPr>
        <p:spPr>
          <a:xfrm>
            <a:off x="8162925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6625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Nov-Dec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6625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625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2-3 week diagnostic at a live customer: waste quantified, ROI re-proved. 3 pw.</a:t>
            </a:r>
          </a:p>
        </p:txBody>
      </p:sp>
      <p:sp>
        <p:nvSpPr>
          <p:cNvPr id="31" name="Diamond 30"/>
          <p:cNvSpPr/>
          <p:nvPr/>
        </p:nvSpPr>
        <p:spPr>
          <a:xfrm>
            <a:off x="10277475" y="2667000"/>
            <a:ext cx="209550" cy="209550"/>
          </a:xfrm>
          <a:prstGeom prst="diamond">
            <a:avLst/>
          </a:prstGeom>
          <a:solidFill>
            <a:srgbClr val="3367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97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Jan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First signature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€15-50K diagnostic + 15-35% gain share; quarterly recurrence begins.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4350" y="4400550"/>
            <a:ext cx="11163300" cy="9144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05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BUILD EFFORT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6-8 person-wks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7187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187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2-3 wks · 3-4 pw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270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POD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270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VC 0.5 + SE 0.25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352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52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Recurring + gain share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EXECUTION PLAN 3 OF 4 · GUARDRAIL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Guardrail Studio attaches to every Conversational Banking deal in flight.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Timed to the Conversational Banking pipeline: Transact and Resolve capabilities require governed execution, which makes the Sentinel-readiness wedge a natural attach on active deals.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2762250"/>
            <a:ext cx="8572500" cy="22859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33550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Jan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Decision &amp; Policy tooling alignment; risk and compliance SME briefed. 3 pw.</a:t>
            </a:r>
          </a:p>
        </p:txBody>
      </p:sp>
      <p:sp>
        <p:nvSpPr>
          <p:cNvPr id="19" name="Oval 18"/>
          <p:cNvSpPr/>
          <p:nvPr/>
        </p:nvSpPr>
        <p:spPr>
          <a:xfrm>
            <a:off x="4591050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47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Feb-Mar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7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47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Authority-map demo: recommend, approve, execute per process. 5 pw.</a:t>
            </a:r>
          </a:p>
        </p:txBody>
      </p:sp>
      <p:sp>
        <p:nvSpPr>
          <p:cNvPr id="23" name="Oval 22"/>
          <p:cNvSpPr/>
          <p:nvPr/>
        </p:nvSpPr>
        <p:spPr>
          <a:xfrm>
            <a:off x="7448550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22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Apr-May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Paid pilot: guardrail backlog, entitlements map, Sentinel install blueprint. 6 pw.</a:t>
            </a:r>
          </a:p>
        </p:txBody>
      </p:sp>
      <p:sp>
        <p:nvSpPr>
          <p:cNvPr id="27" name="Diamond 26"/>
          <p:cNvSpPr/>
          <p:nvPr/>
        </p:nvSpPr>
        <p:spPr>
          <a:xfrm>
            <a:off x="10277475" y="2667000"/>
            <a:ext cx="209550" cy="209550"/>
          </a:xfrm>
          <a:prstGeom prst="diamond">
            <a:avLst/>
          </a:prstGeom>
          <a:solidFill>
            <a:srgbClr val="3367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97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Jun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First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7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Sold at €50-100K, riding Transact and Resolve deals in flight.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4350" y="4400550"/>
            <a:ext cx="11163300" cy="9144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05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BUILD 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8-10 person-wks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187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187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5-6 wks · 8-10 pw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270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POD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270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VC 1.0 + SE 0.5 + SME 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52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PRE-BINDS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52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Sentinel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EXECUTION PLAN 4 OF 4 · ONTOLOGY CARTOGRAPHER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Ontology Cartographer is the deepest build and lands where X-Ray has created demand.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Sequenced last deliberately: it has the highest technical depth, needs R&amp;D alignment, and sells best into accounts where an X-Ray install has already evidenced the cost of fragmented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2762250"/>
            <a:ext cx="8572500" cy="22859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704975" y="2667000"/>
            <a:ext cx="209550" cy="209550"/>
          </a:xfrm>
          <a:prstGeom prst="diamond">
            <a:avLst/>
          </a:prstGeom>
          <a:solidFill>
            <a:srgbClr val="FF503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Feb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R&amp;D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Alignment with the Semantic Modeler and Nexus teams on tooling reuse.</a:t>
            </a:r>
          </a:p>
        </p:txBody>
      </p:sp>
      <p:sp>
        <p:nvSpPr>
          <p:cNvPr id="19" name="Oval 18"/>
          <p:cNvSpPr/>
          <p:nvPr/>
        </p:nvSpPr>
        <p:spPr>
          <a:xfrm>
            <a:off x="4591050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47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Mar-Apr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7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47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Ontology mapping demo on two sample cores (core, CRM, LMS, credit). 6 pw, SE-led.</a:t>
            </a:r>
          </a:p>
        </p:txBody>
      </p:sp>
      <p:sp>
        <p:nvSpPr>
          <p:cNvPr id="23" name="Oval 22"/>
          <p:cNvSpPr/>
          <p:nvPr/>
        </p:nvSpPr>
        <p:spPr>
          <a:xfrm>
            <a:off x="7448550" y="2695575"/>
            <a:ext cx="152400" cy="152400"/>
          </a:xfrm>
          <a:prstGeom prst="ellipse">
            <a:avLst/>
          </a:prstGeom>
          <a:solidFill>
            <a:srgbClr val="336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22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May-Jul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Paid pilot: ontology coverage map, data-to-truth gap report, Nexus blueprint. 8 pw.</a:t>
            </a:r>
          </a:p>
        </p:txBody>
      </p:sp>
      <p:sp>
        <p:nvSpPr>
          <p:cNvPr id="27" name="Diamond 26"/>
          <p:cNvSpPr/>
          <p:nvPr/>
        </p:nvSpPr>
        <p:spPr>
          <a:xfrm>
            <a:off x="10277475" y="2667000"/>
            <a:ext cx="209550" cy="209550"/>
          </a:xfrm>
          <a:prstGeom prst="diamond">
            <a:avLst/>
          </a:prstGeom>
          <a:solidFill>
            <a:srgbClr val="3367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9750" y="23812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3367FF"/>
                </a:solidFill>
                <a:latin typeface="Libre Franklin"/>
              </a:rPr>
              <a:t>Aug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0" y="3009900"/>
            <a:ext cx="19050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First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750" y="3276600"/>
            <a:ext cx="1905000" cy="952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787" b="0">
                <a:solidFill>
                  <a:srgbClr val="6B7786"/>
                </a:solidFill>
                <a:latin typeface="Libre Franklin"/>
              </a:rPr>
              <a:t>Sold at €75-100K, attached to Relationship Intelligence opportunities.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4350" y="4400550"/>
            <a:ext cx="11163300" cy="9144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05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BUILD 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10-12 person-wks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187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187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6-8 wks · 12-16 pw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2700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POD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2700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SE 1.0 + VC 0.5 (SE-led)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525" y="4552950"/>
            <a:ext cx="2409825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69FEFF"/>
                </a:solidFill>
                <a:latin typeface="Libre Franklin"/>
              </a:rPr>
              <a:t>PRE-BINDS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525" y="4800600"/>
            <a:ext cx="2409825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87" b="1">
                <a:solidFill>
                  <a:srgbClr val="FFFFFF"/>
                </a:solidFill>
                <a:latin typeface="Libre Franklin"/>
              </a:rPr>
              <a:t>Nexus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EXECUTION PLANS · THE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Twelve months of product build fits inside the existing pod.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pw = person-weeks. Build = one-time productization effort. Delivery = elapsed and effort figures per client install once productized. All efforts carry a ±30% planning tolerance.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2190750"/>
            <a:ext cx="31813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99" y="2190750"/>
            <a:ext cx="16573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ONE-TIME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7850" y="2190750"/>
            <a:ext cx="203834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90750"/>
            <a:ext cx="22288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9850" y="2190750"/>
            <a:ext cx="12763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FIRST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" y="2476500"/>
            <a:ext cx="11144250" cy="20955"/>
          </a:xfrm>
          <a:prstGeom prst="rect">
            <a:avLst/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350" y="2724150"/>
            <a:ext cx="3181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Process X-Ray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8099" y="2724150"/>
            <a:ext cx="1657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8-10 pw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7850" y="2724150"/>
            <a:ext cx="203834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4-6 wks · 12-14 pw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600" y="2724150"/>
            <a:ext cx="22288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VC 1.0 + SE 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9850" y="2724150"/>
            <a:ext cx="1276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Jan 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350" y="3181350"/>
            <a:ext cx="1114425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350" y="3352800"/>
            <a:ext cx="3181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Value 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8099" y="3352800"/>
            <a:ext cx="1657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6-8 pw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7850" y="3352800"/>
            <a:ext cx="203834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2-3 wks · 3-4 pw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0" y="3352800"/>
            <a:ext cx="22288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VC 0.5 + SE 0.25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9850" y="3352800"/>
            <a:ext cx="1276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Jan 2027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350" y="3810000"/>
            <a:ext cx="1114425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350" y="3981450"/>
            <a:ext cx="3181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Guardrail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8099" y="3981450"/>
            <a:ext cx="1657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8-10 pw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7850" y="3981450"/>
            <a:ext cx="203834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5-6 wks · 8-10 pw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8600" y="3981450"/>
            <a:ext cx="22288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VC 1.0 + SE 0.5 + SME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9850" y="3981450"/>
            <a:ext cx="1276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Jun 2027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4350" y="4438650"/>
            <a:ext cx="1114425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4350" y="4610100"/>
            <a:ext cx="3181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041326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8099" y="4610100"/>
            <a:ext cx="1657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10-12 pw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7850" y="4610100"/>
            <a:ext cx="203834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6-8 wks · 12-16 pw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8600" y="4610100"/>
            <a:ext cx="22288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SE 1.0 + VC 0.5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9850" y="4610100"/>
            <a:ext cx="12763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12" b="0">
                <a:solidFill>
                  <a:srgbClr val="2A384A"/>
                </a:solidFill>
                <a:latin typeface="Libre Franklin"/>
              </a:rPr>
              <a:t>Aug 2027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350" y="5067300"/>
            <a:ext cx="1114425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76375"/>
            <a:ext cx="1219200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717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825" y="4448175"/>
            <a:ext cx="1118235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8625" y="1323975"/>
            <a:ext cx="762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2425" y="1400175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ckbase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55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5A6B80"/>
                </a:solidFill>
                <a:latin typeface="Libre Franklin"/>
              </a:rPr>
              <a:t>1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019174" y="201930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69FEFF"/>
                </a:solidFill>
                <a:latin typeface="Libre Franklin"/>
              </a:rPr>
              <a:t>03 ·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381250"/>
            <a:ext cx="9144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Libre Franklin"/>
              </a:rPr>
              <a:t>Mobilization and the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4" y="3333750"/>
            <a:ext cx="89535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25" b="0">
                <a:solidFill>
                  <a:srgbClr val="C5CFDE"/>
                </a:solidFill>
                <a:latin typeface="Libre Franklin"/>
              </a:rPr>
              <a:t>The twelve-month sequence, how the Delivery Factory carries it, and the four decisions that unlock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MOBILIZATION · THE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One product at a time reaches four sellable SKUs and recurring revenue inside twelve months.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Red diamonds are decision gates (SE named · pilot green-light · R&amp;D alignment). Blue diamonds mark first revenue per product. Bars show elapsed calendar time, and effort within them is per the register.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Aug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6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8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Sep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Oct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2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Nov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2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4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Dec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24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6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Jan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6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Feb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8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0499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Mar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0499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2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Apr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2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34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May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34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6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Jun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96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58500" y="2019300"/>
            <a:ext cx="762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6B7786"/>
                </a:solidFill>
                <a:latin typeface="Libre Franklin"/>
              </a:rPr>
              <a:t>Jul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58500" y="2247900"/>
            <a:ext cx="9525" cy="2952750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76500" y="180975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6B7786"/>
                </a:solidFill>
                <a:latin typeface="Libre Franklin"/>
              </a:rPr>
              <a:t>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180975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6B7786"/>
                </a:solidFill>
                <a:latin typeface="Libre Franklin"/>
              </a:rPr>
              <a:t>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350" y="2400300"/>
            <a:ext cx="1809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41326"/>
                </a:solidFill>
                <a:latin typeface="Libre Franklin"/>
              </a:rPr>
              <a:t>Keystone study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57550" y="238125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264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2800" y="240982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With Deepak</a:t>
            </a:r>
          </a:p>
        </p:txBody>
      </p:sp>
      <p:sp>
        <p:nvSpPr>
          <p:cNvPr id="43" name="Diamond 42"/>
          <p:cNvSpPr/>
          <p:nvPr/>
        </p:nvSpPr>
        <p:spPr>
          <a:xfrm>
            <a:off x="3162300" y="2428875"/>
            <a:ext cx="152400" cy="152400"/>
          </a:xfrm>
          <a:prstGeom prst="diamond">
            <a:avLst/>
          </a:prstGeom>
          <a:solidFill>
            <a:srgbClr val="FF503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4350" y="2990850"/>
            <a:ext cx="1809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41326"/>
                </a:solidFill>
                <a:latin typeface="Libre Franklin"/>
              </a:rPr>
              <a:t>Process X-Ray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5550" y="2971800"/>
            <a:ext cx="723900" cy="247649"/>
          </a:xfrm>
          <a:prstGeom prst="roundRect">
            <a:avLst>
              <a:gd name="adj" fmla="val 8000"/>
            </a:avLst>
          </a:prstGeom>
          <a:solidFill>
            <a:srgbClr val="99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57550" y="297180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52800" y="300037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81550" y="297180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264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76800" y="300037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5550" y="2971800"/>
            <a:ext cx="5295900" cy="247649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000375"/>
            <a:ext cx="514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Sell + install</a:t>
            </a:r>
          </a:p>
        </p:txBody>
      </p:sp>
      <p:sp>
        <p:nvSpPr>
          <p:cNvPr id="52" name="Diamond 51"/>
          <p:cNvSpPr/>
          <p:nvPr/>
        </p:nvSpPr>
        <p:spPr>
          <a:xfrm>
            <a:off x="3924300" y="3019425"/>
            <a:ext cx="152400" cy="152400"/>
          </a:xfrm>
          <a:prstGeom prst="diamond">
            <a:avLst/>
          </a:prstGeom>
          <a:solidFill>
            <a:srgbClr val="FF503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iamond 52"/>
          <p:cNvSpPr/>
          <p:nvPr/>
        </p:nvSpPr>
        <p:spPr>
          <a:xfrm>
            <a:off x="6210300" y="3019425"/>
            <a:ext cx="152400" cy="152400"/>
          </a:xfrm>
          <a:prstGeom prst="diamond">
            <a:avLst/>
          </a:prstGeom>
          <a:solidFill>
            <a:srgbClr val="3367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4350" y="3581400"/>
            <a:ext cx="1809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41326"/>
                </a:solidFill>
                <a:latin typeface="Libre Franklin"/>
              </a:rPr>
              <a:t>Value Telemetry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57550" y="3562350"/>
            <a:ext cx="723900" cy="247649"/>
          </a:xfrm>
          <a:prstGeom prst="roundRect">
            <a:avLst>
              <a:gd name="adj" fmla="val 8000"/>
            </a:avLst>
          </a:prstGeom>
          <a:solidFill>
            <a:srgbClr val="99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19549" y="3562350"/>
            <a:ext cx="723900" cy="247649"/>
          </a:xfrm>
          <a:prstGeom prst="roundRect">
            <a:avLst>
              <a:gd name="adj" fmla="val 8000"/>
            </a:avLst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781550" y="356235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264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6800" y="359092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5550" y="3562350"/>
            <a:ext cx="5295900" cy="247649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3590925"/>
            <a:ext cx="514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Recurring</a:t>
            </a:r>
          </a:p>
        </p:txBody>
      </p:sp>
      <p:sp>
        <p:nvSpPr>
          <p:cNvPr id="61" name="Diamond 60"/>
          <p:cNvSpPr/>
          <p:nvPr/>
        </p:nvSpPr>
        <p:spPr>
          <a:xfrm>
            <a:off x="6210300" y="3609975"/>
            <a:ext cx="152400" cy="152400"/>
          </a:xfrm>
          <a:prstGeom prst="diamond">
            <a:avLst/>
          </a:prstGeom>
          <a:solidFill>
            <a:srgbClr val="3367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4350" y="4171950"/>
            <a:ext cx="1809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41326"/>
                </a:solidFill>
                <a:latin typeface="Libre Franklin"/>
              </a:rPr>
              <a:t>Guardrail Studio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5550" y="4152900"/>
            <a:ext cx="723900" cy="247649"/>
          </a:xfrm>
          <a:prstGeom prst="roundRect">
            <a:avLst>
              <a:gd name="adj" fmla="val 8000"/>
            </a:avLst>
          </a:prstGeom>
          <a:solidFill>
            <a:srgbClr val="99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067550" y="415290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62800" y="418147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91550" y="415290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264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0" y="418147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15550" y="415290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10800" y="418147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Sell</a:t>
            </a:r>
          </a:p>
        </p:txBody>
      </p:sp>
      <p:sp>
        <p:nvSpPr>
          <p:cNvPr id="70" name="Diamond 69"/>
          <p:cNvSpPr/>
          <p:nvPr/>
        </p:nvSpPr>
        <p:spPr>
          <a:xfrm>
            <a:off x="10020300" y="4200525"/>
            <a:ext cx="152400" cy="152400"/>
          </a:xfrm>
          <a:prstGeom prst="diamond">
            <a:avLst/>
          </a:prstGeom>
          <a:solidFill>
            <a:srgbClr val="3367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4350" y="4762500"/>
            <a:ext cx="1809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41326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067550" y="4743450"/>
            <a:ext cx="723900" cy="247649"/>
          </a:xfrm>
          <a:prstGeom prst="roundRect">
            <a:avLst>
              <a:gd name="adj" fmla="val 8000"/>
            </a:avLst>
          </a:prstGeom>
          <a:solidFill>
            <a:srgbClr val="99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829550" y="4743450"/>
            <a:ext cx="1485900" cy="247649"/>
          </a:xfrm>
          <a:prstGeom prst="roundRect">
            <a:avLst>
              <a:gd name="adj" fmla="val 8000"/>
            </a:avLst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24799" y="4772025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53550" y="4743450"/>
            <a:ext cx="2247900" cy="247649"/>
          </a:xfrm>
          <a:prstGeom prst="roundRect">
            <a:avLst>
              <a:gd name="adj" fmla="val 8000"/>
            </a:avLst>
          </a:prstGeom>
          <a:solidFill>
            <a:srgbClr val="264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48800" y="4772025"/>
            <a:ext cx="2095499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12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77" name="Diamond 76"/>
          <p:cNvSpPr/>
          <p:nvPr/>
        </p:nvSpPr>
        <p:spPr>
          <a:xfrm>
            <a:off x="6972300" y="4791075"/>
            <a:ext cx="152400" cy="152400"/>
          </a:xfrm>
          <a:prstGeom prst="diamond">
            <a:avLst/>
          </a:prstGeom>
          <a:solidFill>
            <a:srgbClr val="FF503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MOBILIZATION · THE DELIVERY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The Delivery Factory carries every stage from prototype to installed layer.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Factory toolchain per the Banking OS canon: Process &amp; Workspace Designer · Semantic Modeler · Agent Builder · Decision &amp; Policy · Connector Studio · Simulation &amp; Testing · Deployment &amp; Ops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190750"/>
            <a:ext cx="2619375" cy="2667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2400300"/>
            <a:ext cx="223837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3367FF"/>
                </a:solidFill>
                <a:latin typeface="Libre Franklin"/>
              </a:rPr>
              <a:t>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2686050"/>
            <a:ext cx="2238375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Semantic Modeler +</a:t>
            </a:r>
          </a:p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Connector Studio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" y="3505200"/>
            <a:ext cx="2200275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" y="3638550"/>
            <a:ext cx="2238375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A working demo on the bank’s own data, in weeks.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2775" y="333375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25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2325" y="2190750"/>
            <a:ext cx="2619375" cy="2667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1875" y="2400300"/>
            <a:ext cx="223837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3367FF"/>
                </a:solidFill>
                <a:latin typeface="Libre Franklin"/>
              </a:rPr>
              <a:t>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1875" y="2686050"/>
            <a:ext cx="2238375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Simulation &amp; Testing +</a:t>
            </a:r>
          </a:p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Ops Control telemetry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71875" y="3505200"/>
            <a:ext cx="2200275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1875" y="3638550"/>
            <a:ext cx="2238375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CFO-grade evidence runs with zero production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0" y="333375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25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300" y="2190750"/>
            <a:ext cx="2619375" cy="2667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850" y="2400300"/>
            <a:ext cx="223837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3367FF"/>
                </a:solidFill>
                <a:latin typeface="Libre Franklin"/>
              </a:rPr>
              <a:t>INSTALL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2686050"/>
            <a:ext cx="2238375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Mission Contract with</a:t>
            </a:r>
          </a:p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Nexus + Sentinel binding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850" y="3505200"/>
            <a:ext cx="2200275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850" y="3638550"/>
            <a:ext cx="2238375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The Banking OS layer live in 6-12 weeks, via the agentic SDLC.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8725" y="3333750"/>
            <a:ext cx="1905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25" b="0">
                <a:solidFill>
                  <a:srgbClr val="6B7786"/>
                </a:solidFill>
                <a:latin typeface="Libre Franklin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8275" y="2190750"/>
            <a:ext cx="2619375" cy="2667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825" y="2400300"/>
            <a:ext cx="223837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3367FF"/>
                </a:solidFill>
                <a:latin typeface="Libre Franklin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825" y="2686050"/>
            <a:ext cx="2238375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Deployment &amp;</a:t>
            </a:r>
          </a:p>
          <a:p>
            <a:pPr algn="l">
              <a:lnSpc>
                <a:spcPct val="112000"/>
              </a:lnSpc>
            </a:pPr>
            <a:r>
              <a:rPr sz="1087" b="1">
                <a:solidFill>
                  <a:srgbClr val="041326"/>
                </a:solidFill>
                <a:latin typeface="Libre Franklin"/>
              </a:rPr>
              <a:t>Ops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67825" y="3505200"/>
            <a:ext cx="2200275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7825" y="3638550"/>
            <a:ext cx="2238375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Live telemetry that feeds Value Telemetry and the expansion case.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MOBILIZATION · 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Four decisions unlock execution; the €5,000 talent budget seeds product number one.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Quota figure of ~€200K recognition and pilot-account choice are open PDP items (1.3, 1.4) for the next 1:1 with Mayur. Keystone study scope sits with Deepak (backlog item 2.2).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0574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350" y="21336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1717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1 · Name the solution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438400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0.5 FTE from the regional pool, committed by September. The single critical-path resource.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" y="29337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350" y="30099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30480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2 · Green-light one prospect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3314700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AIB-profile account for the X-Ray proof, by October. A prospect, keeping existing customers out of scope.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" y="38100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350" y="38862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850" y="39243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3 · Back the keystone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4190999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Cost-per-outcome model with Deepak in September. Value Telemetry and the FinOps line depend on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" y="46863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CE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350" y="4762500"/>
            <a:ext cx="38100" cy="6096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4800600"/>
            <a:ext cx="49911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1326"/>
                </a:solidFill>
                <a:latin typeface="Libre Franklin"/>
              </a:rPr>
              <a:t>4 · Agree the commercial treatment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" y="5067300"/>
            <a:ext cx="49911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A384A"/>
                </a:solidFill>
                <a:latin typeface="Libre Franklin"/>
              </a:rPr>
              <a:t>Quota recognition of ~€200K so the line carries a real target from day one.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250" y="2057400"/>
            <a:ext cx="5486400" cy="3390900"/>
          </a:xfrm>
          <a:prstGeom prst="roundRect">
            <a:avLst>
              <a:gd name="adj" fmla="val 8000"/>
            </a:avLst>
          </a:prstGeom>
          <a:solidFill>
            <a:srgbClr val="04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7000" y="2305050"/>
            <a:ext cx="4914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9FEFF"/>
                </a:solidFill>
                <a:latin typeface="Libre Franklin"/>
              </a:rPr>
              <a:t>THE €5,000 SEED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2609850"/>
            <a:ext cx="49149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575" b="1">
                <a:solidFill>
                  <a:srgbClr val="FFFFFF"/>
                </a:solidFill>
                <a:latin typeface="Libre Franklin"/>
              </a:rPr>
              <a:t>The talent budget launches product number one.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0" y="4324350"/>
            <a:ext cx="4914900" cy="990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C5CFDE"/>
                </a:solidFill>
                <a:latin typeface="Libre Franklin"/>
              </a:rPr>
              <a:t>Packaging and delivery kit for Process X-Ray, a demo built on the APA V3 catalog, launch collateral produced with marketing, and pricing pressure-tests with three friendly accounts.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2425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42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39575" y="0"/>
            <a:ext cx="13334" cy="6515100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225" y="200025"/>
            <a:ext cx="76200" cy="1524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25" y="276225"/>
            <a:ext cx="76200" cy="76200"/>
          </a:xfrm>
          <a:prstGeom prst="rect">
            <a:avLst/>
          </a:prstGeom>
          <a:solidFill>
            <a:srgbClr val="336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350" y="5143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3367FF"/>
                </a:solidFill>
                <a:latin typeface="Libre Franklin"/>
              </a:rPr>
              <a:t>MOBILIZATION · PLANNING 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781050"/>
            <a:ext cx="9906000" cy="10477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75" b="1">
                <a:solidFill>
                  <a:srgbClr val="041326"/>
                </a:solidFill>
                <a:latin typeface="Libre Franklin"/>
              </a:rPr>
              <a:t>The plan stands on five explicit assumptions, each with an owner to validate.</a:t>
            </a:r>
          </a:p>
        </p:txBody>
      </p:sp>
      <p:pic>
        <p:nvPicPr>
          <p:cNvPr id="10" name="Picture 9" descr="backbase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2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6B7786"/>
                </a:solidFill>
                <a:latin typeface="Libre Frankl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514350" y="6172200"/>
            <a:ext cx="11163300" cy="13334"/>
          </a:xfrm>
          <a:prstGeom prst="rect">
            <a:avLst/>
          </a:prstGeom>
          <a:solidFill>
            <a:srgbClr val="CE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238875"/>
            <a:ext cx="11163300" cy="247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62" b="0">
                <a:solidFill>
                  <a:srgbClr val="6B7786"/>
                </a:solidFill>
                <a:latin typeface="Libre Franklin"/>
              </a:rPr>
              <a:t>Confidence ratings follow the repo standard: every assumption is documented, conservative, and sensitivity-tested before any figure becomes client-facing or budget-committed.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2114550"/>
            <a:ext cx="11163300" cy="5905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220980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75" b="1">
                <a:solidFill>
                  <a:srgbClr val="041326"/>
                </a:solidFill>
                <a:latin typeface="Libre Franklin"/>
              </a:rPr>
              <a:t>Team cost ~€1.2M a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5350" y="2209800"/>
            <a:ext cx="4095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62" b="0">
                <a:solidFill>
                  <a:srgbClr val="2A384A"/>
                </a:solidFill>
                <a:latin typeface="Libre Franklin"/>
              </a:rPr>
              <a:t>PDP working figure</a:t>
            </a:r>
          </a:p>
        </p:txBody>
      </p:sp>
      <p:sp>
        <p:nvSpPr>
          <p:cNvPr id="17" name="Oval 16"/>
          <p:cNvSpPr/>
          <p:nvPr/>
        </p:nvSpPr>
        <p:spPr>
          <a:xfrm>
            <a:off x="9467850" y="2352675"/>
            <a:ext cx="114300" cy="114300"/>
          </a:xfrm>
          <a:prstGeom prst="ellipse">
            <a:avLst/>
          </a:prstGeom>
          <a:solidFill>
            <a:srgbClr val="FF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2305050"/>
            <a:ext cx="723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1300" y="2247900"/>
            <a:ext cx="12192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7" b="1">
                <a:solidFill>
                  <a:srgbClr val="3367FF"/>
                </a:solidFill>
                <a:latin typeface="Libre Franklin"/>
              </a:rPr>
              <a:t>Validate: Mayur + finance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" y="2800350"/>
            <a:ext cx="11163300" cy="5905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950" y="289560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75" b="1">
                <a:solidFill>
                  <a:srgbClr val="041326"/>
                </a:solidFill>
                <a:latin typeface="Libre Franklin"/>
              </a:rPr>
              <a:t>Effort estimates within ±30%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5350" y="2895600"/>
            <a:ext cx="4095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62" b="0">
                <a:solidFill>
                  <a:srgbClr val="2A384A"/>
                </a:solidFill>
                <a:latin typeface="Libre Franklin"/>
              </a:rPr>
              <a:t>Analogous VC engagements; first product build actuals will recalibrate</a:t>
            </a:r>
          </a:p>
        </p:txBody>
      </p:sp>
      <p:sp>
        <p:nvSpPr>
          <p:cNvPr id="23" name="Oval 22"/>
          <p:cNvSpPr/>
          <p:nvPr/>
        </p:nvSpPr>
        <p:spPr>
          <a:xfrm>
            <a:off x="9467850" y="3038475"/>
            <a:ext cx="114300" cy="11430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8350" y="2990850"/>
            <a:ext cx="723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1300" y="2933700"/>
            <a:ext cx="12192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7" b="1">
                <a:solidFill>
                  <a:srgbClr val="3367FF"/>
                </a:solidFill>
                <a:latin typeface="Libre Franklin"/>
              </a:rPr>
              <a:t>Validate: First build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" y="3486150"/>
            <a:ext cx="11163300" cy="5905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950" y="358140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75" b="1">
                <a:solidFill>
                  <a:srgbClr val="041326"/>
                </a:solidFill>
                <a:latin typeface="Libre Franklin"/>
              </a:rPr>
              <a:t>SE at 0.5 FTE is 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350" y="3581400"/>
            <a:ext cx="4095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62" b="0">
                <a:solidFill>
                  <a:srgbClr val="2A384A"/>
                </a:solidFill>
                <a:latin typeface="Libre Franklin"/>
              </a:rPr>
              <a:t>Regional pool capacity, unconfirmed</a:t>
            </a:r>
          </a:p>
        </p:txBody>
      </p:sp>
      <p:sp>
        <p:nvSpPr>
          <p:cNvPr id="29" name="Oval 28"/>
          <p:cNvSpPr/>
          <p:nvPr/>
        </p:nvSpPr>
        <p:spPr>
          <a:xfrm>
            <a:off x="9467850" y="3724275"/>
            <a:ext cx="114300" cy="114300"/>
          </a:xfrm>
          <a:prstGeom prst="ellipse">
            <a:avLst/>
          </a:prstGeom>
          <a:solidFill>
            <a:srgbClr val="FF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8350" y="3676649"/>
            <a:ext cx="723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1300" y="3619500"/>
            <a:ext cx="12192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7" b="1">
                <a:solidFill>
                  <a:srgbClr val="3367FF"/>
                </a:solidFill>
                <a:latin typeface="Libre Franklin"/>
              </a:rPr>
              <a:t>Validate: SE leadership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4350" y="4171950"/>
            <a:ext cx="11163300" cy="5905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950" y="426720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75" b="1">
                <a:solidFill>
                  <a:srgbClr val="041326"/>
                </a:solidFill>
                <a:latin typeface="Libre Franklin"/>
              </a:rPr>
              <a:t>Tickets of €15-100K clear the market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350" y="4267200"/>
            <a:ext cx="4095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62" b="0">
                <a:solidFill>
                  <a:srgbClr val="2A384A"/>
                </a:solidFill>
                <a:latin typeface="Libre Franklin"/>
              </a:rPr>
              <a:t>AIB paid ~€80K for a weaker ADS; SAP and AWS wedge benchmarks</a:t>
            </a:r>
          </a:p>
        </p:txBody>
      </p:sp>
      <p:sp>
        <p:nvSpPr>
          <p:cNvPr id="35" name="Oval 34"/>
          <p:cNvSpPr/>
          <p:nvPr/>
        </p:nvSpPr>
        <p:spPr>
          <a:xfrm>
            <a:off x="9467850" y="4410075"/>
            <a:ext cx="114300" cy="11430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58350" y="4362450"/>
            <a:ext cx="723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1300" y="4305300"/>
            <a:ext cx="12192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7" b="1">
                <a:solidFill>
                  <a:srgbClr val="3367FF"/>
                </a:solidFill>
                <a:latin typeface="Libre Franklin"/>
              </a:rPr>
              <a:t>Validate: First 3 deals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4350" y="4857750"/>
            <a:ext cx="11163300" cy="59055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950" y="4953000"/>
            <a:ext cx="3810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75" b="1">
                <a:solidFill>
                  <a:srgbClr val="041326"/>
                </a:solidFill>
                <a:latin typeface="Libre Franklin"/>
              </a:rPr>
              <a:t>Wedge-to-Mission attach of 50%+ in 6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5350" y="4953000"/>
            <a:ext cx="409575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62" b="0">
                <a:solidFill>
                  <a:srgbClr val="2A384A"/>
                </a:solidFill>
                <a:latin typeface="Libre Franklin"/>
              </a:rPr>
              <a:t>SAP and ServiceNow expansion patterns</a:t>
            </a:r>
          </a:p>
        </p:txBody>
      </p:sp>
      <p:sp>
        <p:nvSpPr>
          <p:cNvPr id="41" name="Oval 40"/>
          <p:cNvSpPr/>
          <p:nvPr/>
        </p:nvSpPr>
        <p:spPr>
          <a:xfrm>
            <a:off x="9467850" y="5095875"/>
            <a:ext cx="114300" cy="114300"/>
          </a:xfrm>
          <a:prstGeom prst="ellipse">
            <a:avLst/>
          </a:prstGeom>
          <a:solidFill>
            <a:srgbClr val="FF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8350" y="5048250"/>
            <a:ext cx="723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62" b="1">
                <a:solidFill>
                  <a:srgbClr val="6B7786"/>
                </a:solidFill>
                <a:latin typeface="Libre Franklin"/>
              </a:rP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1300" y="4991100"/>
            <a:ext cx="12192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7" b="1">
                <a:solidFill>
                  <a:srgbClr val="3367FF"/>
                </a:solidFill>
                <a:latin typeface="Libre Franklin"/>
              </a:rPr>
              <a:t>Validate: Pilot cohort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7175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1476375"/>
            <a:ext cx="1118235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96224" y="0"/>
            <a:ext cx="13334" cy="6858000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825" y="4752975"/>
            <a:ext cx="7391400" cy="13334"/>
          </a:xfrm>
          <a:prstGeom prst="rect">
            <a:avLst/>
          </a:prstGeom>
          <a:solidFill>
            <a:srgbClr val="2E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20025" y="1476375"/>
            <a:ext cx="762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43825" y="1476375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125" y="2095499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69FEFF"/>
                </a:solidFill>
                <a:latin typeface="Libre Franklin"/>
              </a:rPr>
              <a:t>THE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495550"/>
            <a:ext cx="6858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150" b="1">
                <a:solidFill>
                  <a:srgbClr val="FFFFFF"/>
                </a:solidFill>
                <a:latin typeface="Libre Franklin"/>
              </a:rPr>
              <a:t>Land fast. Prove value.</a:t>
            </a:r>
          </a:p>
          <a:p>
            <a:pPr algn="l">
              <a:lnSpc>
                <a:spcPct val="105000"/>
              </a:lnSpc>
            </a:pPr>
            <a:r>
              <a:rPr sz="3150" b="1">
                <a:solidFill>
                  <a:srgbClr val="FFFFFF"/>
                </a:solidFill>
                <a:latin typeface="Libre Franklin"/>
              </a:rPr>
              <a:t>Expand.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5029200"/>
            <a:ext cx="66675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87" b="0">
                <a:solidFill>
                  <a:srgbClr val="C5CFDE"/>
                </a:solidFill>
                <a:latin typeface="Libre Franklin"/>
              </a:rPr>
              <a:t>One product in market by January. Cost neutral inside year one.</a:t>
            </a:r>
          </a:p>
          <a:p>
            <a:pPr algn="l">
              <a:lnSpc>
                <a:spcPct val="130000"/>
              </a:lnSpc>
            </a:pPr>
            <a:r>
              <a:rPr sz="1087" b="0">
                <a:solidFill>
                  <a:srgbClr val="C5CFDE"/>
                </a:solidFill>
                <a:latin typeface="Libre Franklin"/>
              </a:rPr>
              <a:t>Four installed-platform wedges and a recurring line by mid 2027.</a:t>
            </a:r>
          </a:p>
        </p:txBody>
      </p:sp>
      <p:sp>
        <p:nvSpPr>
          <p:cNvPr id="12" name="Oval 11"/>
          <p:cNvSpPr/>
          <p:nvPr/>
        </p:nvSpPr>
        <p:spPr>
          <a:xfrm>
            <a:off x="8429625" y="2162175"/>
            <a:ext cx="95250" cy="95250"/>
          </a:xfrm>
          <a:prstGeom prst="ellipse">
            <a:avLst/>
          </a:prstGeom>
          <a:solidFill>
            <a:srgbClr val="69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095499"/>
            <a:ext cx="2952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FFFFFF"/>
                </a:solidFill>
                <a:latin typeface="Libre Franklin"/>
              </a:rPr>
              <a:t>This week · book the Mayur 1:1: quota treatment, pilot green-light, SE allocation.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429625" y="2771775"/>
            <a:ext cx="95250" cy="95250"/>
          </a:xfrm>
          <a:prstGeom prst="ellipse">
            <a:avLst/>
          </a:prstGeom>
          <a:solidFill>
            <a:srgbClr val="69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705100"/>
            <a:ext cx="2952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FFFFFF"/>
                </a:solidFill>
                <a:latin typeface="Libre Franklin"/>
              </a:rPr>
              <a:t>This week · follow up with Tim: category story, launch collateral, talent-budget plan.</a:t>
            </a:r>
          </a:p>
        </p:txBody>
      </p:sp>
      <p:sp>
        <p:nvSpPr>
          <p:cNvPr id="16" name="Oval 15"/>
          <p:cNvSpPr/>
          <p:nvPr/>
        </p:nvSpPr>
        <p:spPr>
          <a:xfrm>
            <a:off x="8429625" y="3381375"/>
            <a:ext cx="95250" cy="95250"/>
          </a:xfrm>
          <a:prstGeom prst="ellipse">
            <a:avLst/>
          </a:prstGeom>
          <a:solidFill>
            <a:srgbClr val="69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314700"/>
            <a:ext cx="295275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2" b="0">
                <a:solidFill>
                  <a:srgbClr val="FFFFFF"/>
                </a:solidFill>
                <a:latin typeface="Libre Franklin"/>
              </a:rPr>
              <a:t>September · scope the keystone cost-per-outcome study with Deepak.</a:t>
            </a:r>
          </a:p>
        </p:txBody>
      </p:sp>
      <p:pic>
        <p:nvPicPr>
          <p:cNvPr id="18" name="Picture 17" descr="backbase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572250"/>
            <a:ext cx="685800" cy="1655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82400" y="6591300"/>
            <a:ext cx="457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F4E2DE4-8ADA-4D4E-9951-90A1D26586E7}" type="slidenum">
              <a:rPr sz="900">
                <a:solidFill>
                  <a:srgbClr val="5A6B80"/>
                </a:solidFill>
                <a:latin typeface="Libre Franklin"/>
              </a:rPr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