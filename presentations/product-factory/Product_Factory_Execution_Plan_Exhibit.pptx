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three-part design filter from the 29 Jun PDP session. Product-proximate = moat; customer-proximate = competitive space we lose. Every SKU must pass all three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Cost-neutrality is the floor, revenue generation is the objective. 10 × €120K ≈ €1.2M. Year two adds recurring Value Telemetry revenue on top of installs.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Rung 0 free = funnel. Rungs 1+2 = the €120K SKVC package = cost neutrality. Rung 3 = the growth flywheel (Value Telemetry + gain-share).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exit gates: Concept = qualified sponsor + pain. Design = signed SoW, agreed metrics, data access. Prototype = working demo on the client’s own data. Proof = CFO-grade evidence pack. Proposal = commercial offer + named Mission candidate. Signature = signed order form. Install = layer live + expansion roadmap handed to the AE.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an allocation ask, and specifically NOT a hiring ask. The SE is the critical unlock: same person across all four products so tooling skill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in the Tim and Mayur conversations. Each answer is evidence-backed, from the PDP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X-Ray productizes the Process &amp; Workspace Designer. It observes real flows across the 6-12 systems per journey and quantifies leakage in the messy middle, where ~60% of bank work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backlog item 2.2 (keystone, do first) + 2.3 (the SKU). Partner with Aayushi on the value-assurance line. Only Backbase sees cost-per-resolved-outcome; external FinOps tools see the cloud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Guardrail Studio productizes Decision &amp; Policy. It codifies authority, policies, entitlements and audit needs into executable guardrails, and the output is the Sentinel deployment blueprint.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Cartographer productizes the Semantic Modeler. Relationship Intelligence (Grow plays, share of wallet) requires shared truth, so every RI opportunity is a Cartographer prospect.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Total build load Aug 2026 - Jul 2027: 32-40 person-weeks across four products, sequenced so the pod never carries two builds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Sequencing logic: X-Ray first (lowest build risk, front-door product), Telemetry parallel (shares the keystone cost model work), Guardrail rides the Conversational pipeline, Cartographer lands on X-Ray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insight from the PDP session: the Factory already contains the discovery-end tools. The products ARE those tools, productized as standalone paid wedges. Delivery cost stays at person-weeks because nothing is built from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for Tim: the talent budget becomes seed capital for a product launch, and specifically not a training spend. Framing for Mayur: these four asks are the same asks already on the PDP backlog.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 CLAUDE.md governance: no hidden assumptions. These five carry the plan; validating the first three in September de-risks the whole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09600"/>
            <a:ext cx="1143000" cy="27589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2381250"/>
            <a:ext cx="533400" cy="47625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28900"/>
            <a:ext cx="7620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69FEFF"/>
                </a:solidFill>
                <a:latin typeface="Libre Franklin"/>
              </a:rPr>
              <a:t>VALUE CONSULTING · PDP ·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" y="2971800"/>
            <a:ext cx="10001250" cy="1619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</a:pPr>
            <a:r>
              <a:rPr sz="3900" b="1">
                <a:solidFill>
                  <a:srgbClr val="FFFFFF"/>
                </a:solidFill>
                <a:latin typeface="Libre Franklin"/>
              </a:rPr>
              <a:t>Product Factory:</a:t>
            </a:r>
          </a:p>
          <a:p>
            <a:pPr algn="l">
              <a:lnSpc>
                <a:spcPct val="102000"/>
              </a:lnSpc>
            </a:pPr>
            <a:r>
              <a:rPr sz="3900" b="1">
                <a:solidFill>
                  <a:srgbClr val="FFFFFF"/>
                </a:solidFill>
                <a:latin typeface="Libre Franklin"/>
              </a:rPr>
              <a:t>from concept to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62500"/>
            <a:ext cx="9334500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C5CFDE"/>
                </a:solidFill>
                <a:latin typeface="Libre Franklin"/>
              </a:rPr>
              <a:t>The execution plan for four paid product wedges that pre-install Banking OS,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C5CFDE"/>
                </a:solidFill>
                <a:latin typeface="Libre Franklin"/>
              </a:rPr>
              <a:t>make the function cost neutral inside a year, and open a recurring revenue 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96000"/>
            <a:ext cx="952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Shyam · July 2026 · prepared for the talent programme (Tim Ruttner) and the PDP track (Mayur)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19250"/>
            <a:ext cx="3810000" cy="1619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0" b="0">
                <a:solidFill>
                  <a:srgbClr val="99B3FF"/>
                </a:solidFill>
                <a:latin typeface="Libre Franklin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14700"/>
            <a:ext cx="8572500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Libre Franklin"/>
              </a:rPr>
              <a:t>The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95750"/>
            <a:ext cx="81915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5CFDE"/>
                </a:solidFill>
                <a:latin typeface="Libre Franklin"/>
              </a:rPr>
              <a:t>The thesis, the product filter, the economics, the lifecycle, and the pod that runs it.</a:t>
            </a:r>
          </a:p>
        </p:txBody>
      </p:sp>
      <p:pic>
        <p:nvPicPr>
          <p:cNvPr id="5" name="Picture 4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55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B80"/>
                </a:solidFill>
                <a:latin typeface="Libre Frankli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FRAMEWORKS · THE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Every product earns a fee, harvests the bank’s reality, and installs the first component of Banking 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3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Filter rule: a candidate that fails any one of the three tests is consulting, and stays out of the product line. Aligned to the Banking OS canon (knowledge/product/banking-os.md).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209800"/>
            <a:ext cx="53340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228600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900" y="23241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Test 1 · It earns a fee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900" y="2590800"/>
            <a:ext cx="4991100" cy="552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Each install is paid work at €15-100K, priced as a product with a fixed scope and a delivery kit.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371850"/>
            <a:ext cx="53340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44805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348615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Test 2 · It harvests proprietary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752850"/>
            <a:ext cx="4991100" cy="552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The engagement captures the bank’s real processes, data structures and policies. Evidence only Backbase holds.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533900"/>
            <a:ext cx="53340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61010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4900" y="46482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Test 3 · It pre-binds a Banking OS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900" y="4914900"/>
            <a:ext cx="4991100" cy="552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The output is a working component: Nexus, Sentinel or a Mission candidate, already present in the account.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91300" y="2209800"/>
            <a:ext cx="5029200" cy="33147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77050" y="2457450"/>
            <a:ext cx="44577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69FEFF"/>
                </a:solidFill>
                <a:latin typeface="Libre Franklin"/>
              </a:rPr>
              <a:t>THE ONE-LINER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7050" y="2762250"/>
            <a:ext cx="44577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Libre Franklin"/>
              </a:rPr>
              <a:t>Paid discovery that leaves the platform installed.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7050" y="4400550"/>
            <a:ext cx="4457700" cy="9905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C5CFDE"/>
                </a:solidFill>
                <a:latin typeface="Libre Franklin"/>
              </a:rPr>
              <a:t>Each engagement ends with a live Banking OS component in the account, a quantified expansion case for the AE, and account intelligence competitors and SIs never see.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FRAMEWORKS · THE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Ten paid installs a year cover the full team cost; every install beyond is new revenue.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4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Package = Assess &amp; Solution €60K + Mission POC €60K. Team cost of ~€1.2M a year is the PDP working figure and is to be validated with finance. Year-two target of 14-16 installs is a planning range.</a:t>
            </a:r>
          </a:p>
        </p:txBody>
      </p:sp>
      <p:sp>
        <p:nvSpPr>
          <p:cNvPr id="11" name="Oval 10"/>
          <p:cNvSpPr/>
          <p:nvPr/>
        </p:nvSpPr>
        <p:spPr>
          <a:xfrm>
            <a:off x="1333500" y="285750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19300" y="285750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05100" y="285750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90900" y="285750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076699" y="285750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62500" y="285750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48300" y="285750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34100" y="285750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33500" y="354330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19300" y="354330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05100" y="354330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90900" y="354330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076699" y="354330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62500" y="354330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48300" y="354330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134100" y="354330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352550" y="4591050"/>
            <a:ext cx="152400" cy="15240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00200" y="457200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Installs to cost neutrality (10)</a:t>
            </a:r>
          </a:p>
        </p:txBody>
      </p:sp>
      <p:sp>
        <p:nvSpPr>
          <p:cNvPr id="29" name="Oval 28"/>
          <p:cNvSpPr/>
          <p:nvPr/>
        </p:nvSpPr>
        <p:spPr>
          <a:xfrm>
            <a:off x="4781550" y="4591050"/>
            <a:ext cx="152400" cy="15240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45720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Year-two expansion range (14-16)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39000" y="2381250"/>
            <a:ext cx="4381500" cy="24765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2647950"/>
            <a:ext cx="1714500" cy="857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3367FF"/>
                </a:solidFill>
                <a:latin typeface="Libre Franklin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0" y="3619500"/>
            <a:ext cx="36195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087" b="0">
                <a:solidFill>
                  <a:srgbClr val="041326"/>
                </a:solidFill>
                <a:latin typeface="Libre Franklin"/>
              </a:rPr>
              <a:t>installs a year at an average package of €120K cover the ~€1.2M annual team cost.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FRAMEWORKS · THE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wedge stays free; depth and recurrence carry the price.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5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Recurring range is a target shape anchored on SAP and ServiceNow success-plan pricing of 10-30% of licence value, and on FinOps gain-share market practice (15-35% of realised savings).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33650"/>
            <a:ext cx="2286000" cy="12382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900" y="2647950"/>
            <a:ext cx="1943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Rung 0 · free wedge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4900" y="2914650"/>
            <a:ext cx="194310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Ignite Inspire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~4 meetings, benchmark and use-case shortlist. Grows the funnel.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4700" y="2952750"/>
            <a:ext cx="2857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3799" y="2857500"/>
            <a:ext cx="2667000" cy="7239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5249" y="2971800"/>
            <a:ext cx="22860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Assess &amp; Solution</a:t>
            </a:r>
          </a:p>
          <a:p>
            <a:pPr algn="l">
              <a:lnSpc>
                <a:spcPct val="110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€60K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857500"/>
            <a:ext cx="2667000" cy="723900"/>
          </a:xfrm>
          <a:prstGeom prst="rect">
            <a:avLst/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2250" y="2971800"/>
            <a:ext cx="22860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Mission POC</a:t>
            </a:r>
          </a:p>
          <a:p>
            <a:pPr algn="l">
              <a:lnSpc>
                <a:spcPct val="110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€60K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33799" y="255270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6B7786"/>
                </a:solidFill>
                <a:latin typeface="Libre Franklin"/>
              </a:rPr>
              <a:t>Rungs 1 + 2 · the €120K package (to scale)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2100" y="2952750"/>
            <a:ext cx="2857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82150" y="2533650"/>
            <a:ext cx="2038349" cy="123825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72650" y="2647950"/>
            <a:ext cx="1714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69FEFF"/>
                </a:solidFill>
                <a:latin typeface="Libre Franklin"/>
              </a:rPr>
              <a:t>Rung 3 · recurring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95600"/>
            <a:ext cx="1714500" cy="800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Value Assurance</a:t>
            </a:r>
          </a:p>
          <a:p>
            <a:pPr algn="l">
              <a:lnSpc>
                <a:spcPct val="115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€30-50K a year</a:t>
            </a:r>
          </a:p>
          <a:p>
            <a:pPr algn="l">
              <a:lnSpc>
                <a:spcPct val="115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+ gain share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476750"/>
            <a:ext cx="5219700" cy="8763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552950"/>
            <a:ext cx="38100" cy="7239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4900" y="4591050"/>
            <a:ext cx="48768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The free wedge feeds the funnel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4900" y="4857750"/>
            <a:ext cx="4876800" cy="4000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Four meetings surface the leakage evidence that qualifies the paid wedge. Zero friction to start.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4476750"/>
            <a:ext cx="5219700" cy="8763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4552950"/>
            <a:ext cx="38100" cy="7239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91300" y="4591050"/>
            <a:ext cx="48768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Recurrence is the growth flywheel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91300" y="4857750"/>
            <a:ext cx="4876800" cy="4000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Telemetry converts every live deployment into quarterly revenue that compounds with AI consumption.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FRAMEWORKS · THE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One motion carries every product from concept to installed platform.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6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Durations are per-engagement figures once the product is built, with a ±30% planning tolerance. The first pass through stages 1-4 is the one-time product build.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52700"/>
            <a:ext cx="14097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7275" y="271462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7275" y="277177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" y="3143250"/>
            <a:ext cx="11239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Concept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800" y="3429000"/>
            <a:ext cx="11239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VC · 1 wk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5525" y="310515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38400" y="2552700"/>
            <a:ext cx="14097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581275" y="271462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81275" y="277177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90800" y="3143250"/>
            <a:ext cx="11239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0800" y="3429000"/>
            <a:ext cx="11239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VC + SE · 1-2 wks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9524" y="310515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62399" y="2552700"/>
            <a:ext cx="14097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105274" y="271462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05274" y="277177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143250"/>
            <a:ext cx="11239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3429000"/>
            <a:ext cx="11239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SE · 2-3 wks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3525" y="310515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0" y="2552700"/>
            <a:ext cx="14097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629275" y="271462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29275" y="277177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38800" y="3143250"/>
            <a:ext cx="11239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38800" y="3429000"/>
            <a:ext cx="11239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VC · 2-4 wks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67525" y="310515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010400" y="2552700"/>
            <a:ext cx="14097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153275" y="271462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53275" y="277177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62800" y="3143250"/>
            <a:ext cx="11239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Proposal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62800" y="3429000"/>
            <a:ext cx="11239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VC + AE · 1 wk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1525" y="310515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34400" y="2552700"/>
            <a:ext cx="14097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677275" y="271462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77275" y="277177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3143250"/>
            <a:ext cx="11239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Signature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3429000"/>
            <a:ext cx="11239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AE + VC · 2-4 wks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15525" y="310515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58400" y="2552700"/>
            <a:ext cx="14097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201275" y="271462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01275" y="277177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10800" y="3143250"/>
            <a:ext cx="11239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Install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10800" y="3429000"/>
            <a:ext cx="11239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FDE + SE · 6-12 wks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0" y="4476750"/>
            <a:ext cx="10706100" cy="80010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4629150"/>
            <a:ext cx="2857500" cy="4952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12" b="1">
                <a:solidFill>
                  <a:srgbClr val="264EC7"/>
                </a:solidFill>
                <a:latin typeface="Libre Franklin"/>
              </a:rPr>
              <a:t>The lifecycle runs twice over.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95750" y="4591050"/>
            <a:ext cx="7296150" cy="60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041326"/>
                </a:solidFill>
                <a:latin typeface="Libre Franklin"/>
              </a:rPr>
              <a:t>The first pass through stages 1-4 builds the product itself. From the second account onward, the same motion runs as a 4-8 week sales-and-delivery cycle per install.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FRAMEWORKS · RESOURCING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A pod of two and a half people runs the whole line; hiring follows revenue.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7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FTE figures are steady-state allocations during build and delivery phases; FDE capacity is drawn from standard Mission Sprint staffing at install, so it is charged to the delivery, and not to this pod.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15265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222885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900" y="226695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You · product owner · 1.0 FTE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900" y="253365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SKU design, value narrative, proof economics, proposal. Owns the P&amp;L of the 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02895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0515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314325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Solution engineer · 0.5 FTE, named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40995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Connectors, data extraction, Factory tooling at prototype and install. The technical spine.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905249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398145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4900" y="4019549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FDE · on demand at install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900" y="428625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Runs the Factory Mission Sprint once an install is signed. 6-12 weeks per Mission.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78155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485775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900" y="489585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SME · on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900" y="516255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Risk and compliance review for Guardrail Studio; R&amp;D liaison for the Cartographer.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91300" y="2152650"/>
            <a:ext cx="5029200" cy="33909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77050" y="2400300"/>
            <a:ext cx="44577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69FEFF"/>
                </a:solidFill>
                <a:latin typeface="Libre Franklin"/>
              </a:rPr>
              <a:t>WHY THE SOLUTION ENGINEER MATTERS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7050" y="2705100"/>
            <a:ext cx="44577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Libre Franklin"/>
              </a:rPr>
              <a:t>One named SE across all four products, so skill compounds.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7050" y="4419600"/>
            <a:ext cx="4457700" cy="9905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C5CFDE"/>
                </a:solidFill>
                <a:latin typeface="Libre Franklin"/>
              </a:rPr>
              <a:t>Every product runs on the same Factory tools: Connector Studio, Semantic Modeler, Simulation &amp; Testing. Each install makes the next one cheaper and faster to deliver.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FRAMEWORKS · THE OBJECTIONS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three obvious objections have concrete answers.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8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AIB reference: paid an estimated ~€80K for an external current/future-state assessment (ADS), PDP session record, 29 Jun 2026. Wedge pattern references: AWS OLA, SAP Outside-In, ServiceNow Inspire.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209800"/>
            <a:ext cx="4000500" cy="10287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381250"/>
            <a:ext cx="3543300" cy="723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Libre Franklin"/>
              </a:rPr>
              <a:t>“Banks will not pay for discovery.”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05400" y="2209800"/>
            <a:ext cx="65151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05400" y="228600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0" y="2343150"/>
            <a:ext cx="6057900" cy="800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37" b="0">
                <a:solidFill>
                  <a:srgbClr val="041326"/>
                </a:solidFill>
                <a:latin typeface="Libre Franklin"/>
              </a:rPr>
              <a:t>The market already does: AIB paid ~€80K for a weaker assessment. AWS, SAP and ServiceNow all run the diagnostic-wedge motion; ours goes further by installing product.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371850"/>
            <a:ext cx="4000500" cy="10287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543300"/>
            <a:ext cx="3543300" cy="723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Libre Franklin"/>
              </a:rPr>
              <a:t>“We have no capacity to build products.”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05400" y="3371850"/>
            <a:ext cx="65151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05400" y="344805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4000" y="3505200"/>
            <a:ext cx="6057900" cy="800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37" b="0">
                <a:solidFill>
                  <a:srgbClr val="041326"/>
                </a:solidFill>
                <a:latin typeface="Libre Franklin"/>
              </a:rPr>
              <a:t>Build effort is 6-12 person-weeks per product because the Factory tools, the APA V3 catalog and the cost model already exist. The sequence builds one product at a time.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533900"/>
            <a:ext cx="4000500" cy="10287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705350"/>
            <a:ext cx="3543300" cy="723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Libre Franklin"/>
              </a:rPr>
              <a:t>“This distracts from platform sales.”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05400" y="4533900"/>
            <a:ext cx="65151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05400" y="461010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0" y="4667250"/>
            <a:ext cx="6057900" cy="800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37" b="0">
                <a:solidFill>
                  <a:srgbClr val="041326"/>
                </a:solidFill>
                <a:latin typeface="Libre Franklin"/>
              </a:rPr>
              <a:t>Every install pre-binds Nexus, Sentinel or a Mission and hands the AE a quantified expansion case. The wedge is the land motion of land-and-expand.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19250"/>
            <a:ext cx="3810000" cy="1619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0" b="0">
                <a:solidFill>
                  <a:srgbClr val="99B3FF"/>
                </a:solidFill>
                <a:latin typeface="Libre Franklin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14700"/>
            <a:ext cx="8572500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Libre Franklin"/>
              </a:rPr>
              <a:t>Four execution plans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95750"/>
            <a:ext cx="85725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5CFDE"/>
                </a:solidFill>
                <a:latin typeface="Libre Franklin"/>
              </a:rPr>
              <a:t>Product by product: milestones, effort, pod, ticket, and the gate that unlocks each one.</a:t>
            </a:r>
          </a:p>
        </p:txBody>
      </p:sp>
      <p:pic>
        <p:nvPicPr>
          <p:cNvPr id="5" name="Picture 4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55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B80"/>
                </a:solidFill>
                <a:latin typeface="Libre Franklin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EXECUTION PLAN 1 OF 4 · PROCESS X-RAY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Process X-Ray ships first: demo by October, paid proof by December, first revenue in January.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10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Effort carries a ±30% tolerance. Build is low-risk because the APA V3 catalog (65 processes, 283 steps), the journey builder and the value-leakage method already exist in the repo.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0750" y="2857500"/>
            <a:ext cx="8191500" cy="22859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14550" y="279082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Aug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8250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8250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Delivery kit, pricing one-pager, demo script. 3 pw, VC.</a:t>
            </a:r>
          </a:p>
        </p:txBody>
      </p:sp>
      <p:sp>
        <p:nvSpPr>
          <p:cNvPr id="16" name="Oval 15"/>
          <p:cNvSpPr/>
          <p:nvPr/>
        </p:nvSpPr>
        <p:spPr>
          <a:xfrm>
            <a:off x="4162424" y="279082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6125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Sep-Oct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86125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86125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Demo on the APA V3 catalog (65 processes) plus one friendly dataset. 5 pw, SE-led.</a:t>
            </a:r>
          </a:p>
        </p:txBody>
      </p:sp>
      <p:sp>
        <p:nvSpPr>
          <p:cNvPr id="20" name="Diamond 19"/>
          <p:cNvSpPr/>
          <p:nvPr/>
        </p:nvSpPr>
        <p:spPr>
          <a:xfrm>
            <a:off x="6181725" y="2762250"/>
            <a:ext cx="209550" cy="20955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34000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Oct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Pilot 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Prospect pilot green-light with Mayur. AIB-profile account.</a:t>
            </a:r>
          </a:p>
        </p:txBody>
      </p:sp>
      <p:sp>
        <p:nvSpPr>
          <p:cNvPr id="24" name="Oval 23"/>
          <p:cNvSpPr/>
          <p:nvPr/>
        </p:nvSpPr>
        <p:spPr>
          <a:xfrm>
            <a:off x="8258175" y="279082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81874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Oct-Dec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1874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81874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Paid pilot: leakage heatmap, top-3 Mission candidates with ROI evidence. 6 pw.</a:t>
            </a:r>
          </a:p>
        </p:txBody>
      </p:sp>
      <p:sp>
        <p:nvSpPr>
          <p:cNvPr id="28" name="Diamond 27"/>
          <p:cNvSpPr/>
          <p:nvPr/>
        </p:nvSpPr>
        <p:spPr>
          <a:xfrm>
            <a:off x="10277475" y="2762250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29750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Jan 2027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First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29750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Wedge sold at €50-75K; install starts as a Factory Mission Sprint.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4476750"/>
            <a:ext cx="10706100" cy="9144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1100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BUILD EFFORT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1100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8-10 person-wks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57625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7625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4-6 wks · 12-14 pw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4150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4150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VC 1.0 + SE 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0675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PRE-BINDS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0675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Mission candidate + ROI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EXECUTION PLAN 2 OF 4 · VALUE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Value Telemetry rides the keystone cost-per-outcome model and opens the recurring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11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Gain-share pricing of 15-35% of realised savings is market-validated (ProsperOps, nOps, Vantage), with a “10% or free” floor. Current cost-model sample is n=2 use cases; the keystone study raises it to ~5.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0750" y="2857500"/>
            <a:ext cx="8191500" cy="22859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2085975" y="2762250"/>
            <a:ext cx="209550" cy="20955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8250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Keystone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8250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Extend the cost model from cost-per-interaction to cost-per-outcome, with Deepak. ~5 use cases.</a:t>
            </a:r>
          </a:p>
        </p:txBody>
      </p:sp>
      <p:sp>
        <p:nvSpPr>
          <p:cNvPr id="16" name="Oval 15"/>
          <p:cNvSpPr/>
          <p:nvPr/>
        </p:nvSpPr>
        <p:spPr>
          <a:xfrm>
            <a:off x="4162424" y="279082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6125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86125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86125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SKU spec: diagnostic scope, telemetry set, gain-share terms. 4 pw, VC.</a:t>
            </a:r>
          </a:p>
        </p:txBody>
      </p:sp>
      <p:sp>
        <p:nvSpPr>
          <p:cNvPr id="20" name="Oval 19"/>
          <p:cNvSpPr/>
          <p:nvPr/>
        </p:nvSpPr>
        <p:spPr>
          <a:xfrm>
            <a:off x="6210300" y="279082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34000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Oct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Cost-per-outcome dashboard on one live deployment’s data. 3 pw.</a:t>
            </a:r>
          </a:p>
        </p:txBody>
      </p:sp>
      <p:sp>
        <p:nvSpPr>
          <p:cNvPr id="24" name="Oval 23"/>
          <p:cNvSpPr/>
          <p:nvPr/>
        </p:nvSpPr>
        <p:spPr>
          <a:xfrm>
            <a:off x="8258175" y="279082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81874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Nov-Dec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1874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81874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2-3 week diagnostic at a live customer: waste quantified, ROI re-proved. 3 pw.</a:t>
            </a:r>
          </a:p>
        </p:txBody>
      </p:sp>
      <p:sp>
        <p:nvSpPr>
          <p:cNvPr id="28" name="Diamond 27"/>
          <p:cNvSpPr/>
          <p:nvPr/>
        </p:nvSpPr>
        <p:spPr>
          <a:xfrm>
            <a:off x="10277475" y="2762250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29750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Jan 2027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First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29750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€15-50K diagnostic + 15-35% gain share; quarterly recurrence begins.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4476750"/>
            <a:ext cx="10706100" cy="9144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1100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BUILD EFFORT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1100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6-8 person-wks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57625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7625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2-3 wks · 3-4 pw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4150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4150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VC 0.5 + SE 0.25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0675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MODEL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0675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Recurring + gain share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EXECUTION PLAN 3 OF 4 · GUARDRAIL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Guardrail Studio attaches to every Conversational Banking deal in flight.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12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Timed to the Conversational Banking pipeline: Transact and Resolve capabilities require governed execution, which makes the Sentinel-readiness wedge a natural attach on active deals.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0750" y="2857500"/>
            <a:ext cx="8191500" cy="22859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14550" y="279082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Jan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8250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8250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Decision &amp; Policy tooling alignment; risk and compliance SME briefed. 3 pw.</a:t>
            </a:r>
          </a:p>
        </p:txBody>
      </p:sp>
      <p:sp>
        <p:nvSpPr>
          <p:cNvPr id="16" name="Oval 15"/>
          <p:cNvSpPr/>
          <p:nvPr/>
        </p:nvSpPr>
        <p:spPr>
          <a:xfrm>
            <a:off x="4845050" y="279082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750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Feb-Mar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8750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8750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Authority-map demo: recommend, approve, execute per process. 5 pw.</a:t>
            </a:r>
          </a:p>
        </p:txBody>
      </p:sp>
      <p:sp>
        <p:nvSpPr>
          <p:cNvPr id="20" name="Oval 19"/>
          <p:cNvSpPr/>
          <p:nvPr/>
        </p:nvSpPr>
        <p:spPr>
          <a:xfrm>
            <a:off x="7575550" y="279082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9250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Apr-May 2027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9250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9250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Paid pilot: guardrail backlog, entitlements map, Sentinel install blueprint. 6 pw.</a:t>
            </a:r>
          </a:p>
        </p:txBody>
      </p:sp>
      <p:sp>
        <p:nvSpPr>
          <p:cNvPr id="24" name="Diamond 23"/>
          <p:cNvSpPr/>
          <p:nvPr/>
        </p:nvSpPr>
        <p:spPr>
          <a:xfrm>
            <a:off x="10277475" y="2762250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29750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Jun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9750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First signature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Sold at €50-100K, riding Transact and Resolve deals in flight.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4476750"/>
            <a:ext cx="10706100" cy="9144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1100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BUILD EFFORT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1100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8-10 person-wks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57625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57625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5-6 wks · 8-10 pw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4150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4150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VC 1.0 + SE 0.5 + SME 0.2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10675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PRE-BINDS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0675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Sentinel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EXECUTION PLAN 4 OF 4 · ONTOLOGY CARTOGRAPHER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Ontology Cartographer is the deepest build and lands where X-Ray has created demand.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13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Sequenced last deliberately: it has the highest technical depth, needs R&amp;D alignment, and sells best into accounts where an X-Ray install has already evidenced the cost of fragmented data.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0750" y="2857500"/>
            <a:ext cx="8191500" cy="22859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2085975" y="2762250"/>
            <a:ext cx="209550" cy="20955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Feb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8250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R&amp;D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8250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Alignment with the Semantic Modeler and Nexus teams on tooling reuse.</a:t>
            </a:r>
          </a:p>
        </p:txBody>
      </p:sp>
      <p:sp>
        <p:nvSpPr>
          <p:cNvPr id="16" name="Oval 15"/>
          <p:cNvSpPr/>
          <p:nvPr/>
        </p:nvSpPr>
        <p:spPr>
          <a:xfrm>
            <a:off x="4845050" y="279082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750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Mar-Apr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8750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8750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Ontology mapping demo on two sample cores (core, CRM, LMS, credit). 6 pw, SE-led.</a:t>
            </a:r>
          </a:p>
        </p:txBody>
      </p:sp>
      <p:sp>
        <p:nvSpPr>
          <p:cNvPr id="20" name="Oval 19"/>
          <p:cNvSpPr/>
          <p:nvPr/>
        </p:nvSpPr>
        <p:spPr>
          <a:xfrm>
            <a:off x="7575550" y="279082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9250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May-Jul 2027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9250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9250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Paid pilot: ontology coverage map, data-to-truth gap report, Nexus blueprint. 8 pw.</a:t>
            </a:r>
          </a:p>
        </p:txBody>
      </p:sp>
      <p:sp>
        <p:nvSpPr>
          <p:cNvPr id="24" name="Diamond 23"/>
          <p:cNvSpPr/>
          <p:nvPr/>
        </p:nvSpPr>
        <p:spPr>
          <a:xfrm>
            <a:off x="10277475" y="2762250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29750" y="247650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Aug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9750" y="310515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First signature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37185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Sold at €75-100K, attached to Relationship Intelligence opportunities.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4476750"/>
            <a:ext cx="10706100" cy="9144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1100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BUILD EFFORT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1100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10-12 person-wks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57625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57625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6-8 wks · 12-16 pw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4150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4150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SE 1.0 + VC 0.5 (SE-led)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10675" y="4629150"/>
            <a:ext cx="22955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PRE-BINDS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0675" y="4876800"/>
            <a:ext cx="22955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Nexus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EXECUTION PLANS · THE REGISTER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Twelve months of product build fits inside the existing pod.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14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pw = person-weeks. Build = one-time productization effort. Delivery = elapsed and effort figures per client install once productized. All efforts carry a ±30% planning tolerance.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86000"/>
            <a:ext cx="27051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PRODUCT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1900" y="2286000"/>
            <a:ext cx="16573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ONE-TIME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1650" y="2286000"/>
            <a:ext cx="2038349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286000"/>
            <a:ext cx="2228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POD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53650" y="2286000"/>
            <a:ext cx="12763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FIRST REVENUE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571750"/>
            <a:ext cx="10668000" cy="20955"/>
          </a:xfrm>
          <a:prstGeom prst="rect">
            <a:avLst/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819400"/>
            <a:ext cx="27051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Process X-Ray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1900" y="2819400"/>
            <a:ext cx="1657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8-10 pw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81650" y="2819400"/>
            <a:ext cx="2038349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4-6 wks · 12-14 pw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819400"/>
            <a:ext cx="22288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VC 1.0 + SE 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53650" y="2819400"/>
            <a:ext cx="1276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Jan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276600"/>
            <a:ext cx="106680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448050"/>
            <a:ext cx="27051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Value Telemetry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900" y="3448050"/>
            <a:ext cx="1657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6-8 pw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81650" y="3448050"/>
            <a:ext cx="2038349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2-3 wks · 3-4 pw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448050"/>
            <a:ext cx="22288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VC 0.5 + SE 0.25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53650" y="3448050"/>
            <a:ext cx="1276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Jan 2027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3905249"/>
            <a:ext cx="106680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076699"/>
            <a:ext cx="27051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Guardrail Studio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1900" y="4076699"/>
            <a:ext cx="1657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8-10 pw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81650" y="4076699"/>
            <a:ext cx="2038349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5-6 wks · 8-10 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076699"/>
            <a:ext cx="22288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VC 1.0 + SE 0.5 + SME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53650" y="4076699"/>
            <a:ext cx="1276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Jun 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4533900"/>
            <a:ext cx="106680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705350"/>
            <a:ext cx="27051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Ontology Cartographer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71900" y="4705350"/>
            <a:ext cx="1657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10-12 pw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81650" y="4705350"/>
            <a:ext cx="2038349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6-8 wks · 12-16 pw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705350"/>
            <a:ext cx="22288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SE 1.0 + VC 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53650" y="4705350"/>
            <a:ext cx="1276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Aug 2027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5162550"/>
            <a:ext cx="106680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19250"/>
            <a:ext cx="3810000" cy="1619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250" b="0">
                <a:solidFill>
                  <a:srgbClr val="99B3FF"/>
                </a:solidFill>
                <a:latin typeface="Libre Franklin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14700"/>
            <a:ext cx="8572500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Libre Franklin"/>
              </a:rPr>
              <a:t>Mobilization and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95750"/>
            <a:ext cx="89535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5CFDE"/>
                </a:solidFill>
                <a:latin typeface="Libre Franklin"/>
              </a:rPr>
              <a:t>The twelve-month sequence, how the Delivery Factory carries it, and the four decisions that unlock it.</a:t>
            </a:r>
          </a:p>
        </p:txBody>
      </p:sp>
      <p:pic>
        <p:nvPicPr>
          <p:cNvPr id="5" name="Picture 4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55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B80"/>
                </a:solidFill>
                <a:latin typeface="Libre Franklin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MOBILIZATION · THE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One product at a time reaches four sellable SKUs and recurring revenue inside twelve months.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16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Red diamonds are decision gates (SE named · pilot green-light · R&amp;D alignment). Blue diamonds mark first revenue per product. Bars show elapsed calendar time, and effort within them is per the register.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0" y="2114550"/>
            <a:ext cx="723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Aug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7500" y="234315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1400" y="2114550"/>
            <a:ext cx="723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Sep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1400" y="234315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05300" y="2114550"/>
            <a:ext cx="723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Oct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5300" y="234315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2114550"/>
            <a:ext cx="723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Nov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234315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53100" y="2114550"/>
            <a:ext cx="723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Dec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53100" y="234315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0" y="2114550"/>
            <a:ext cx="723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Jan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7000" y="234315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00900" y="2114550"/>
            <a:ext cx="723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Feb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00900" y="234315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4799" y="2114550"/>
            <a:ext cx="723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Mar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4799" y="234315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48700" y="2114550"/>
            <a:ext cx="723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Apr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48700" y="234315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600" y="2114550"/>
            <a:ext cx="723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May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72600" y="234315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96500" y="2114550"/>
            <a:ext cx="723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Jun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96500" y="234315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20400" y="2114550"/>
            <a:ext cx="7239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Jul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20400" y="234315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1905000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6B7786"/>
                </a:solidFill>
                <a:latin typeface="Libre Franklin"/>
              </a:rPr>
              <a:t>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0" y="1905000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6B7786"/>
                </a:solidFill>
                <a:latin typeface="Libre Franklin"/>
              </a:rPr>
              <a:t>2027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2495550"/>
            <a:ext cx="1866899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Keystone study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00450" y="2476500"/>
            <a:ext cx="14097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95700" y="2505075"/>
            <a:ext cx="12573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With Deepak</a:t>
            </a:r>
          </a:p>
        </p:txBody>
      </p:sp>
      <p:sp>
        <p:nvSpPr>
          <p:cNvPr id="40" name="Diamond 39"/>
          <p:cNvSpPr/>
          <p:nvPr/>
        </p:nvSpPr>
        <p:spPr>
          <a:xfrm>
            <a:off x="3505200" y="2524125"/>
            <a:ext cx="152400" cy="15240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3086100"/>
            <a:ext cx="1866899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Process X-Ray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76550" y="3067050"/>
            <a:ext cx="685800" cy="247649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00450" y="3067050"/>
            <a:ext cx="1409700" cy="247649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5700" y="3095625"/>
            <a:ext cx="12573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48250" y="3067050"/>
            <a:ext cx="14097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43500" y="3095625"/>
            <a:ext cx="12573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96050" y="3067050"/>
            <a:ext cx="5029200" cy="247649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91300" y="3095625"/>
            <a:ext cx="48768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Sell + install</a:t>
            </a:r>
          </a:p>
        </p:txBody>
      </p:sp>
      <p:sp>
        <p:nvSpPr>
          <p:cNvPr id="49" name="Diamond 48"/>
          <p:cNvSpPr/>
          <p:nvPr/>
        </p:nvSpPr>
        <p:spPr>
          <a:xfrm>
            <a:off x="4229100" y="3114675"/>
            <a:ext cx="152400" cy="15240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iamond 49"/>
          <p:cNvSpPr/>
          <p:nvPr/>
        </p:nvSpPr>
        <p:spPr>
          <a:xfrm>
            <a:off x="6400800" y="3114675"/>
            <a:ext cx="152400" cy="15240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400" y="3676649"/>
            <a:ext cx="1866899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Value Telemetry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00450" y="3657600"/>
            <a:ext cx="685800" cy="247649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324350" y="3657600"/>
            <a:ext cx="685800" cy="247649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48250" y="3657600"/>
            <a:ext cx="14097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43500" y="3686175"/>
            <a:ext cx="12573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96050" y="3657600"/>
            <a:ext cx="5029200" cy="247649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91300" y="3686175"/>
            <a:ext cx="48768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Recurring</a:t>
            </a:r>
          </a:p>
        </p:txBody>
      </p:sp>
      <p:sp>
        <p:nvSpPr>
          <p:cNvPr id="58" name="Diamond 57"/>
          <p:cNvSpPr/>
          <p:nvPr/>
        </p:nvSpPr>
        <p:spPr>
          <a:xfrm>
            <a:off x="6400800" y="3705224"/>
            <a:ext cx="152400" cy="15240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4400" y="4267200"/>
            <a:ext cx="1866899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Guardrail Studio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96050" y="4248150"/>
            <a:ext cx="685800" cy="247649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219950" y="4248150"/>
            <a:ext cx="1409700" cy="247649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0" y="4276725"/>
            <a:ext cx="12573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67750" y="4248150"/>
            <a:ext cx="14097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63000" y="4276725"/>
            <a:ext cx="12573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115550" y="4248150"/>
            <a:ext cx="1409700" cy="247649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210800" y="4276725"/>
            <a:ext cx="12573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Sell</a:t>
            </a:r>
          </a:p>
        </p:txBody>
      </p:sp>
      <p:sp>
        <p:nvSpPr>
          <p:cNvPr id="67" name="Diamond 66"/>
          <p:cNvSpPr/>
          <p:nvPr/>
        </p:nvSpPr>
        <p:spPr>
          <a:xfrm>
            <a:off x="10020300" y="4295775"/>
            <a:ext cx="152400" cy="15240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4857750"/>
            <a:ext cx="1866899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Ontology Cartographer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219950" y="4838700"/>
            <a:ext cx="685800" cy="247649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43850" y="4838700"/>
            <a:ext cx="1409700" cy="247649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39099" y="4867275"/>
            <a:ext cx="12573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391650" y="4838700"/>
            <a:ext cx="21336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86900" y="4867275"/>
            <a:ext cx="1981199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74" name="Diamond 73"/>
          <p:cNvSpPr/>
          <p:nvPr/>
        </p:nvSpPr>
        <p:spPr>
          <a:xfrm>
            <a:off x="7124700" y="4886325"/>
            <a:ext cx="152400" cy="15240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MOBILIZATION · THE DELIVERY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Delivery Factory carries every stage from prototype to installed layer.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17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Factory toolchain per the Banking OS canon: Process &amp; Workspace Designer · Semantic Modeler · Agent Builder · Decision &amp; Policy · Connector Studio · Simulation &amp; Testing · Deployment &amp; Ops Control.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286000"/>
            <a:ext cx="2495550" cy="2667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3950" y="2495550"/>
            <a:ext cx="21145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PROTOTYPE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950" y="2781300"/>
            <a:ext cx="2114550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Semantic Modeler +</a:t>
            </a:r>
          </a:p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Connector Studio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23950" y="3600450"/>
            <a:ext cx="207645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3950" y="3733799"/>
            <a:ext cx="211455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A working demo on the bank’s own data, in weeks.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9475" y="3429000"/>
            <a:ext cx="20955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25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38550" y="2286000"/>
            <a:ext cx="2495550" cy="2667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8099" y="2495550"/>
            <a:ext cx="21145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8099" y="2781300"/>
            <a:ext cx="2114550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Simulation &amp; Testing +</a:t>
            </a:r>
          </a:p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Ops Control telemetry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8099" y="3600450"/>
            <a:ext cx="207645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8099" y="3733799"/>
            <a:ext cx="211455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CFO-grade evidence runs with zero production risk.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3625" y="3429000"/>
            <a:ext cx="20955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25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62700" y="2286000"/>
            <a:ext cx="2495550" cy="2667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2250" y="2495550"/>
            <a:ext cx="21145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INSTALL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2250" y="2781300"/>
            <a:ext cx="2114550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Mission Contract with</a:t>
            </a:r>
          </a:p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Nexus + Sentinel binding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72250" y="3600450"/>
            <a:ext cx="207645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72250" y="3733799"/>
            <a:ext cx="211455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The Banking OS layer live in 6-12 weeks, via the agentic SDLC.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7775" y="3429000"/>
            <a:ext cx="20955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25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86850" y="2286000"/>
            <a:ext cx="2495550" cy="2667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96400" y="2495550"/>
            <a:ext cx="21145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RUN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6400" y="2781300"/>
            <a:ext cx="2114550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Deployment &amp;</a:t>
            </a:r>
          </a:p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Ops Control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96400" y="3600450"/>
            <a:ext cx="207645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96400" y="3733799"/>
            <a:ext cx="211455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Live telemetry that feeds Value Telemetry and the expansion case.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MOBILIZATION ·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Four decisions unlock execution; the €5,000 talent budget seeds product number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18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Quota figure of ~€200K recognition and pilot-account choice are open PDP items (1.3, 1.4) for the next 1:1 with Mayur. Keystone study scope sits with Deepak (backlog item 2.2).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15265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222885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900" y="226695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1 · Name the solution engineer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900" y="253365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0.5 FTE from the regional pool, committed by September. The single critical-path resource.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02895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0515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314325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2 · Green-light one prospect 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40995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AIB-profile account for the X-Ray proof, by October. A prospect, keeping existing customers out of scope.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905249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398145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4900" y="4019549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3 · Back the keystone study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900" y="428625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Cost-per-outcome model with Deepak in September. Value Telemetry and the FinOps line depend on 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78155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485775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900" y="489585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4 · Agree the commercial treatment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900" y="516255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Quota recognition of ~€200K so the line carries a real target from day one.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91300" y="2152650"/>
            <a:ext cx="5029200" cy="33909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77050" y="2400300"/>
            <a:ext cx="44577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69FEFF"/>
                </a:solidFill>
                <a:latin typeface="Libre Franklin"/>
              </a:rPr>
              <a:t>THE €5,000 SEED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7050" y="2705100"/>
            <a:ext cx="44577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Libre Franklin"/>
              </a:rPr>
              <a:t>The talent budget launches product number one.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7050" y="4419600"/>
            <a:ext cx="4457700" cy="9905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C5CFDE"/>
                </a:solidFill>
                <a:latin typeface="Libre Franklin"/>
              </a:rPr>
              <a:t>Packaging and delivery kit for Process X-Ray, a demo built on the APA V3 catalog, launch collateral produced with marketing, and pricing pressure-tests with three friendly accounts.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3874" y="523874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874" y="523874"/>
            <a:ext cx="15240" cy="5724525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8572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3367FF"/>
                </a:solidFill>
                <a:latin typeface="Libre Franklin"/>
              </a:rPr>
              <a:t>MOBILIZATION · PLANNING BASIS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5350"/>
            <a:ext cx="93345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plan stands on five explicit assumptions, each with an owner to validate.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874" y="6438900"/>
            <a:ext cx="11096625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19</a:t>
            </a:r>
          </a:p>
        </p:txBody>
      </p:sp>
      <p:pic>
        <p:nvPicPr>
          <p:cNvPr id="8" name="Picture 7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2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6115050"/>
            <a:ext cx="10706100" cy="1524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181725"/>
            <a:ext cx="10706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Confidence ratings follow the repo standard: every assumption is documented, conservative, and sensitivity-tested before any figure becomes client-facing or budget-committed.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209800"/>
            <a:ext cx="10706100" cy="5905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305050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75" b="1">
                <a:solidFill>
                  <a:srgbClr val="041326"/>
                </a:solidFill>
                <a:latin typeface="Libre Franklin"/>
              </a:rPr>
              <a:t>Team cost ~€1.2M a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2305050"/>
            <a:ext cx="40005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PDP working figure</a:t>
            </a:r>
          </a:p>
        </p:txBody>
      </p:sp>
      <p:sp>
        <p:nvSpPr>
          <p:cNvPr id="14" name="Oval 13"/>
          <p:cNvSpPr/>
          <p:nvPr/>
        </p:nvSpPr>
        <p:spPr>
          <a:xfrm>
            <a:off x="9334500" y="2447925"/>
            <a:ext cx="114300" cy="1143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5000" y="2400300"/>
            <a:ext cx="762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7950" y="2400300"/>
            <a:ext cx="13335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Validate: Mayur + finance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2895600"/>
            <a:ext cx="10706100" cy="5905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2990850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75" b="1">
                <a:solidFill>
                  <a:srgbClr val="041326"/>
                </a:solidFill>
                <a:latin typeface="Libre Franklin"/>
              </a:rPr>
              <a:t>Effort estimates within ±30%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5400" y="2990850"/>
            <a:ext cx="40005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Analogous VC engagements; first product build actuals will recalibrate</a:t>
            </a:r>
          </a:p>
        </p:txBody>
      </p:sp>
      <p:sp>
        <p:nvSpPr>
          <p:cNvPr id="20" name="Oval 19"/>
          <p:cNvSpPr/>
          <p:nvPr/>
        </p:nvSpPr>
        <p:spPr>
          <a:xfrm>
            <a:off x="9334500" y="3133725"/>
            <a:ext cx="114300" cy="11430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5000" y="3086100"/>
            <a:ext cx="762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Medium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7950" y="3086100"/>
            <a:ext cx="13335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Validate: First build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3581400"/>
            <a:ext cx="10706100" cy="5905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3676649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75" b="1">
                <a:solidFill>
                  <a:srgbClr val="041326"/>
                </a:solidFill>
                <a:latin typeface="Libre Franklin"/>
              </a:rPr>
              <a:t>SE at 0.5 FTE is available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5400" y="3676649"/>
            <a:ext cx="40005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Regional pool capacity, unconfirmed</a:t>
            </a:r>
          </a:p>
        </p:txBody>
      </p:sp>
      <p:sp>
        <p:nvSpPr>
          <p:cNvPr id="26" name="Oval 25"/>
          <p:cNvSpPr/>
          <p:nvPr/>
        </p:nvSpPr>
        <p:spPr>
          <a:xfrm>
            <a:off x="9334500" y="3819524"/>
            <a:ext cx="114300" cy="1143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25000" y="3771900"/>
            <a:ext cx="762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7950" y="3771900"/>
            <a:ext cx="13335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Validate: SE leadership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4267200"/>
            <a:ext cx="10706100" cy="5905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4362450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75" b="1">
                <a:solidFill>
                  <a:srgbClr val="041326"/>
                </a:solidFill>
                <a:latin typeface="Libre Franklin"/>
              </a:rPr>
              <a:t>Tickets of €15-100K clear the market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05400" y="4362450"/>
            <a:ext cx="40005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AIB paid ~€80K for a weaker ADS; SAP and AWS wedge benchmarks</a:t>
            </a:r>
          </a:p>
        </p:txBody>
      </p:sp>
      <p:sp>
        <p:nvSpPr>
          <p:cNvPr id="32" name="Oval 31"/>
          <p:cNvSpPr/>
          <p:nvPr/>
        </p:nvSpPr>
        <p:spPr>
          <a:xfrm>
            <a:off x="9334500" y="4505325"/>
            <a:ext cx="114300" cy="11430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5000" y="4457700"/>
            <a:ext cx="762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Medium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67950" y="4457700"/>
            <a:ext cx="13335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Validate: First 3 deals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4953000"/>
            <a:ext cx="10706100" cy="5905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5048250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75" b="1">
                <a:solidFill>
                  <a:srgbClr val="041326"/>
                </a:solidFill>
                <a:latin typeface="Libre Franklin"/>
              </a:rPr>
              <a:t>Wedge-to-Mission attach of 50%+ in 6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05400" y="5048250"/>
            <a:ext cx="40005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SAP and ServiceNow expansion patterns</a:t>
            </a:r>
          </a:p>
        </p:txBody>
      </p:sp>
      <p:sp>
        <p:nvSpPr>
          <p:cNvPr id="38" name="Oval 37"/>
          <p:cNvSpPr/>
          <p:nvPr/>
        </p:nvSpPr>
        <p:spPr>
          <a:xfrm>
            <a:off x="9334500" y="5191125"/>
            <a:ext cx="114300" cy="1143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25000" y="5143500"/>
            <a:ext cx="762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67950" y="5143500"/>
            <a:ext cx="133350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Validate: Pilot cohort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619250"/>
            <a:ext cx="533400" cy="47625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05000"/>
            <a:ext cx="952500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Libre Franklin"/>
              </a:rPr>
              <a:t>Land fast. Prove value. Expand.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57500"/>
            <a:ext cx="933450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275" b="0">
                <a:solidFill>
                  <a:srgbClr val="C5CFDE"/>
                </a:solidFill>
                <a:latin typeface="Libre Franklin"/>
              </a:rPr>
              <a:t>One product in market by January. Cost neutral inside year one.</a:t>
            </a:r>
          </a:p>
          <a:p>
            <a:pPr algn="l">
              <a:lnSpc>
                <a:spcPct val="135000"/>
              </a:lnSpc>
            </a:pPr>
            <a:r>
              <a:rPr sz="1275" b="0">
                <a:solidFill>
                  <a:srgbClr val="C5CFDE"/>
                </a:solidFill>
                <a:latin typeface="Libre Franklin"/>
              </a:rPr>
              <a:t>Four installed-platform wedges and a recurring line by mid 2027.</a:t>
            </a:r>
          </a:p>
        </p:txBody>
      </p:sp>
      <p:sp>
        <p:nvSpPr>
          <p:cNvPr id="5" name="Oval 4"/>
          <p:cNvSpPr/>
          <p:nvPr/>
        </p:nvSpPr>
        <p:spPr>
          <a:xfrm>
            <a:off x="962024" y="4105274"/>
            <a:ext cx="95250" cy="95250"/>
          </a:xfrm>
          <a:prstGeom prst="ellipse">
            <a:avLst/>
          </a:prstGeom>
          <a:solidFill>
            <a:srgbClr val="69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8250" y="4038600"/>
            <a:ext cx="9525000" cy="342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Libre Franklin"/>
              </a:rPr>
              <a:t>This week · book the Mayur 1:1: quota treatment, pilot green-light, SE allocation.</a:t>
            </a:r>
          </a:p>
        </p:txBody>
      </p:sp>
      <p:sp>
        <p:nvSpPr>
          <p:cNvPr id="7" name="Oval 6"/>
          <p:cNvSpPr/>
          <p:nvPr/>
        </p:nvSpPr>
        <p:spPr>
          <a:xfrm>
            <a:off x="962024" y="4600575"/>
            <a:ext cx="95250" cy="95250"/>
          </a:xfrm>
          <a:prstGeom prst="ellipse">
            <a:avLst/>
          </a:prstGeom>
          <a:solidFill>
            <a:srgbClr val="69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8250" y="4533900"/>
            <a:ext cx="9525000" cy="342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Libre Franklin"/>
              </a:rPr>
              <a:t>This week · follow up with Tim: category story, launch collateral, talent-budget plan.</a:t>
            </a:r>
          </a:p>
        </p:txBody>
      </p:sp>
      <p:sp>
        <p:nvSpPr>
          <p:cNvPr id="9" name="Oval 8"/>
          <p:cNvSpPr/>
          <p:nvPr/>
        </p:nvSpPr>
        <p:spPr>
          <a:xfrm>
            <a:off x="962024" y="5095875"/>
            <a:ext cx="95250" cy="95250"/>
          </a:xfrm>
          <a:prstGeom prst="ellipse">
            <a:avLst/>
          </a:prstGeom>
          <a:solidFill>
            <a:srgbClr val="69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8250" y="5029200"/>
            <a:ext cx="9525000" cy="342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Libre Franklin"/>
              </a:rPr>
              <a:t>September · scope the keystone cost-per-outcome study with Deepak.</a:t>
            </a:r>
          </a:p>
        </p:txBody>
      </p:sp>
      <p:pic>
        <p:nvPicPr>
          <p:cNvPr id="11" name="Picture 10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15100"/>
            <a:ext cx="685800" cy="1655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6515100"/>
            <a:ext cx="5715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B80"/>
                </a:solidFill>
                <a:latin typeface="Libre Franklin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