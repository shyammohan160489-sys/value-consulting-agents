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Libre Franklin"/>
              </a:rPr>
              <a:t>SLIDE 1 · COVER
WHY: Sets format (Chatham House) and frames the deck's central question.
SAY:
"Two ground rules. Chatham House — names won't be attributed, so be more candid than you'd be on a panel. And this room outnumbers me ten to one in talking time. Fourteen slides. We move fast."
PAUSE / DO:
• Hold the title on screen ~3 seconds before speaking.
• Don't introduce yourself or Backbase at length. The badge does that.
NEXT: "Let's start with the trap."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Libre Franklin"/>
              </a:rPr>
              <a:t>SLIDE 2 · THE TRAP
WHY: Beat 1 / DISTURB (1 of 2). Make the room feel uncomfortable about their AI strategy. Three sourced stats.
SAY:
"Three signals the AI feature race is already over. Under 5% performance gap between frontier models on banking-relevant tasks — Stanford AI Index. The model is not the moat. Roughly 100% of global top-50 banks have shipped a GenAI assistant since 2024 — Evident AI Index. The feature is saturated. About 18 months until feature parity — your copilot will look like your competitor's. That's the roadmap horizon every analyst is publishing."
PAUSE / DO:
• After the third stat, look up. Ask: "If you've shipped GenAI in the last 12 months, what differentiation are you actually buying?"
• Don't wait for an answer. The question seeds the discussion later.
NEXT: "Before anyone says 'this is different' — it isn't. We've watched it happen twice."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Libre Franklin"/>
              </a:rPr>
              <a:t>SLIDE 3 · THE PATTERN
WHY: Beat 1 / DISTURB (2 of 2). Prove the trap isn't theoretical. AWS and Spotify are two parallels every banker has lived through.
SAY:
"AWS, 2008 onwards. EC2 reached parity with Azure and GCP within 24 months. The silicon became a line item; AWS pulled ahead on primitives, developer experience, and a trust layer regulators could verify. The orchestration layer became the largest infrastructure business in history. Same pattern, Spotify. Every catalogue became identical. Spotify won on intent orchestration — Discover Weekly, Release Radar. 675 million users. The pattern is consistent: the intelligence layer commoditises. The orchestration layer wins."
PAUSE / DO:
• 60–90 second slide. Don't rush.
• If anyone has lived through AWS migrations, they'll nod. That's your signal to move on.
NEXT: "So if AI is the trap — what's the way out?"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Libre Franklin"/>
              </a:rPr>
              <a:t>SLIDE 4 · THE ARCHITECTURE IS SHIFTING (the team-favourite slide)
WHY: Beat 2 / OBSERVE. Positive pivot — after two slides of "you're in a trap," validate the room: you've built strong products. The slide pairs a bank-architecture top line (telegraphs Backbase's Banking OS: identity, consent, risk, compliance) with a customer-experience bottom line (Barry's accessibility ask). Pause here.
SAY:
"Here's our observation. The architecture of banking is shifting. You've built strong products — onboarding here, lending there, wealth elsewhere. Each product works. But the customer doesn't see your silos. They see one bank, and they're about to start asking it for advice.
Three layers.
PRODUCTS — strong, but isolated. Vertically built, in silos. The products work; the connections between them are manual. From where the customer sits: one bank, three apps, advice that's only ever a slice.
TRUST — the connective tissue. Identity, consent, risk, compliance — not as checkboxes, but as shared infrastructure that connects everything. Reusable across products, markets and channels. And here's the test: when the AI advises a customer, the bank that can explain HOW — provenance, peers, history — earns trust. The one that can't, doesn't.
INTENT — the emerging frontier. AI that doesn't just report or respond — it acts, within governed boundaries. Approves a top-up the moment the facility allows. Books a wealth review when a life event triggers. Trust converts to the next product sale.
Value is migrating from product to trust to intent. The banks that connect trust to real-time decisioning at scale earn the customer's next move."
PAUSE / DO:
• Walk the three cards left-to-right. Point at each label.
• Top line of each card = what the bank builds. Italic line at the bottom = what the customer feels.
• After "earn the customer's next move" — pause. This is the slide that earns the room.
NEXT: "And here's where the next decade is won."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Libre Franklin"/>
              </a:rPr>
              <a:t>SLIDE 5 · THE CHAIN
WHY: Beat 3 / REFRAME. The thesis in 90 seconds. The bottom-up/top-down sentence is the most important line in the deck.
SAY:
"Banks competed bottom-up. You started at the floor — Share of Wallet. The mobile wave gave you Share of Mind. That's the layering most of you built. AI flips it. From now on, you build top-down — and the chain compounds back to a bigger wallet.
Link one — TRUST. Stops being a brand claim, becomes plumbing. Here's the key: trust is how you digitise what the RM did one-on-one. When AI advises, you have to be able to explain HOW it reached that. That's what gave the RM their authority — now you instrument it at scale.
Link two — INTENT. Customers, and increasingly customers' agents, hand banks a mandate to act. Trust-backed intent converts higher than trust-free intent.
Link three — ORCHESTRATION. Hand-offs across customer, employee and agent without dropped context. The moat lives in the seams.
Link four — SHARE OF WALLET. Better trust → better intent → better orchestration → bigger wallet → more data to improve trust. The loop closes."
PAUSE / DO:
• Walk the four cards left-to-right.
• End on "the loop closes" — let it sit.
NEXT: "Three questions to test each link. The room is yours."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Libre Franklin"/>
              </a:rPr>
              <a:t>SLIDE 6 · Q1 · TRUST
WHY: Beat 4 / VALIDATE (cycle 1 of 3). Opens the TRUST link. The slide is mostly silence — that's the point.
SAY:
"Link one — trust. When the model is the same as your competitor's, what makes you the trusted counterparty?"
PAUSE / DO:
• Mode A: full stop. Wait. ~6 minutes of discussion. Push for specificity: "name the capability, not the value."
• Mode B: 5-second pause, advance.
• Capture quotes verbatim — these become the Helsinki Principles.
DROP-INS (use if discussion deflates — each one telegraphs a column of slide 7):
• "Can you measure trust today — or are you only complying with GDPR?" (→ THE GAP: 1 in 3)
• "What gave your RM their authority one-on-one? Can your AI carry the same?" (→ THE SHIFT: digitising the RM)
• "BankID and Swish made trust into infrastructure. What's the next iteration?" (→ THE EDGE: Nordic flatterer)
NEXT: "Let me share what we hear in rooms like this."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Libre Franklin"/>
              </a:rPr>
              <a:t>SLIDE 7 · I1 · TRUST IS THE NEW INFRASTRUCTURE
WHY: Beat 4 / VALIDATE — resolution of cycle 1. The SHIFT column (digitising the RM) is the line that travels in coffee breaks. The EDGE column is the Nordic flatterer.
SAY:
"Trust is moving from claim to KPI.
THE GAP — one in three firms is at L3+ on AI governance. Two-thirds cannot prove how their AI decides.
THE SHIFT — here's the framing that lands. Explainability, provenance, oversight — these are what gave the relationship manager their authority. Now they become product features that scale. You're digitising what the RM did one-on-one. Apple priced privacy as a product. Mastercard sells AI-graded trust as infrastructure.
THE EDGE — and this is for the room. The Nordics built BankID and Swish. Over 85% adult reach on shared identity and shared payment rails. You cooperated on the plumbing and competed on the experience. Trust-as-infrastructure here is an export, not a cost."
PAUSE / DO:
• End on EDGE — let the Nordic line land.
• Optional show-of-hands: "How many of your banks actively measure trust as a KPI — not just comply with GDPR?"
NEXT: "Link three — the hand-off."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Libre Franklin"/>
              </a:rPr>
              <a:t>SLIDE 8 · Q2 · HAND-OFF
WHY: Beat 4 / VALIDATE (cycle 2 of 3). The most concrete question — banks will have lived examples.
SAY:
"Link three — orchestration. Where in your bank would the customer × employee × agent hand-off break — today?"
PAUSE / DO:
• Mode A: push for concrete frictions. "Be specific. Which system, which moment, which seam?"
• Mode B: 5s pause, advance.
• Capture quotes verbatim.
DROP-INS (each tees up a column of slide 9):
• "Where in the customer journey does context get lost between channels — bot, RM, underwriter?" (→ WHERE IT BREAKS)
• "What would 'context travels with the customer' actually look like in your bank?" (→ WHAT GOOD LOOKS LIKE)
• "Which seam — where the next product or renewal is won — is your weakest, and what does it cost?" (→ WHERE TO ATTACK)
NEXT: "Let me share what we see in this seam."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Libre Franklin"/>
              </a:rPr>
              <a:t>SLIDE 9 · I2 · THE MOAT IS IN THE SEAMS
WHY: Beat 4 / VALIDATE — resolution of cycle 2. Frame as future-state vision.
SAY:
"Banks digitised channels in the 2010s. What they didn't digitise was the context BETWEEN channels.
WHERE IT BREAKS — context dies between systems. Customers re-explain themselves to bots, call-centre agents, RMs, underwriters. Faster cars on the same broken roads.
WHAT GOOD LOOKS LIKE — context travels with the customer. Every party — bot, banker, underwriter, the customer's own agent — opens the same view. The call becomes confirmation, not discovery.
WHERE TO ATTACK — start at the seam where the next product or renewal is decided. Make context travel across THAT seam first. Compound from there."
PAUSE / DO:
• If anyone said something useful in the discussion, attribute back (seat number, not name).
• Land the seam frame — "the moat lives where channels meet, not within any single one."
NEXT: "Link four — share of wallet, through the agent's eyes."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Libre Franklin"/>
              </a:rPr>
              <a:t>SLIDE 10 · Q3 · AGENT'S CHOICE
WHY: Beat 4 / VALIDATE (cycle 3 of 3). Most uncomfortable question. Let it run.
SAY:
"Link four — share of wallet, through the agent's eyes. If an agent shopped this mortgage for your customer, would it pick you?"
PAUSE / DO:
• Mode A: the question that makes the room twitch. Let the silence stretch.
• Probe both sides: "Or would your bank refuse to transact with an agent at all?"
• Mode B: 5s pause, advance.
DROP-INS (each tees up a column of slide 11):
• "Is there already a Klarna circling your checkout — owning the moment of intent?" (→ KLARNA)
• "Has a Plaid-like API quietly become the layer your customer interacts with?" (→ PLAID)
• "What happens if a telco, a wallet, or a regulator captures trust before you do?" (→ M-PESA)
NEXT: "Three cases where someone else owned the intent."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Libre Franklin"/>
              </a:rPr>
              <a:t>SLIDE 11 · I3 · WHEN SOMEONE ELSE OWNS THE INTENT
WHY: Beat 4 / VALIDATE — resolution of cycle 3. Three geographies, same lesson. Don't soften it.
SAY:
"When the bank doesn't own the intent layer, someone else does.
KLARNA — owned the checkout moment. The bank extending credit became invisible; Klarna became the brand on the screen. 150 million consumers.
PLAID — the API between customers and their banks. One in four US adults has connected an account through it. Every fintech app routes through Plaid; banks became the backend.
M-PESA — Safaricom captured trust and intent before Kenyan banks modernised. It moves around 60% of Kenya's GDP. Banks remain — but they're no longer the layer customers interact with.
Look at your customer relationship today. Is there already a Klarna, a Plaid, a Tink, an M-Pesa circling it?"
PAUSE / DO:
• Don't take answers — let the discomfort sit.
• The pattern is the point, not the example.
NEXT: "So this is the choice."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Libre Franklin"/>
              </a:rPr>
              <a:t>SLIDE 12 · THE CHOICE (the single most important slide)
WHY: Beat 5 / LAND. The call to action. Bolt-on loses; re-platforms win. If you only nail ONE slide, this is it.
SAY:
"Across the banks we've seen — and we've watched this play out at thirty-plus institutions — this is binary.
The banks that bolted AI onto product silos lost. Faster cars on the same broken roads. Channel-by-channel agents. Five copies of the customer. AI fluent at the front, broken at the back. NPS plateaus. Cost-to-serve doesn't move.
The banks that won re-platformed around the customer life. One identity, one consent, one customer record. An orchestration layer any AI agent — yours or someone else's — can plug into. Consistent CX from app to branch to advisor. Lift compounds — NPS, NTB, cost, ROE move together.
This isn't a digital programme. It's an identity shift.
The decision is not whether to use AI. It is what AI plugs into."
PAUSE / DO:
• After "what AI plugs into" — full stop. 5-second pause.
• Don't elaborate.
NEXT: "One line to leave you with."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Libre Franklin"/>
              </a:rPr>
              <a:t>SLIDE 13 · CLOSE
WHY: The thesis condensed. Don't add anything after the line.
SAY:
"The bank that orchestrates trust and intent wins the agent's choice — and the customer's wallet."
PAUSE / DO:
• Mode A: read 3–5 quotes from your notepad — their words, not yours — as the Helsinki Principles.
• Mode B: read the line cleanly, stop.
•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41326"/>
        </a:solidFill>
        <a:effectLst/>
      </p:bgPr>
    </p:bg>
    <p:spTree>
      <p:nvGrpSpPr>
        <p:cNvPr id="1" name=""/>
        <p:cNvGrpSpPr/>
        <p:nvPr/>
      </p:nvGrpSpPr>
      <p:grpSpPr/>
      <p:sp>
        <p:nvSpPr>
          <p:cNvPr id="2" name="Rectangle 1"/>
          <p:cNvSpPr/>
          <p:nvPr/>
        </p:nvSpPr>
        <p:spPr>
          <a:xfrm>
            <a:off x="585216" y="457200"/>
            <a:ext cx="82296"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39496"/>
            <a:ext cx="164592"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411480"/>
            <a:ext cx="3657600" cy="548640"/>
          </a:xfrm>
          <a:prstGeom prst="rect">
            <a:avLst/>
          </a:prstGeom>
          <a:noFill/>
        </p:spPr>
        <p:txBody>
          <a:bodyPr wrap="square" lIns="0" rIns="0" tIns="0" bIns="0" anchor="t"/>
          <a:lstStyle/>
          <a:p>
            <a:pPr algn="l">
              <a:lnSpc>
                <a:spcPct val="120000"/>
              </a:lnSpc>
            </a:pPr>
            <a:r>
              <a:rPr sz="2400" b="1" i="0">
                <a:solidFill>
                  <a:srgbClr val="FFFFFF"/>
                </a:solidFill>
                <a:latin typeface="Libre Franklin"/>
              </a:rPr>
              <a:t>Backbase</a:t>
            </a:r>
          </a:p>
        </p:txBody>
      </p:sp>
      <p:sp>
        <p:nvSpPr>
          <p:cNvPr id="5" name="TextBox 4"/>
          <p:cNvSpPr txBox="1"/>
          <p:nvPr/>
        </p:nvSpPr>
        <p:spPr>
          <a:xfrm>
            <a:off x="1280160" y="2743200"/>
            <a:ext cx="13716000" cy="457200"/>
          </a:xfrm>
          <a:prstGeom prst="rect">
            <a:avLst/>
          </a:prstGeom>
          <a:noFill/>
        </p:spPr>
        <p:txBody>
          <a:bodyPr wrap="square" lIns="0" rIns="0" tIns="0" bIns="0" anchor="t"/>
          <a:lstStyle/>
          <a:p>
            <a:pPr algn="l">
              <a:lnSpc>
                <a:spcPct val="120000"/>
              </a:lnSpc>
            </a:pPr>
            <a:r>
              <a:rPr sz="1400" b="0" i="0">
                <a:solidFill>
                  <a:srgbClr val="CCCCCC"/>
                </a:solidFill>
                <a:latin typeface="Libre Franklin"/>
              </a:rPr>
              <a:t>AI ROUNDTABLE · NORDIC FINTECH FORUM</a:t>
            </a:r>
          </a:p>
        </p:txBody>
      </p:sp>
      <p:sp>
        <p:nvSpPr>
          <p:cNvPr id="6" name="TextBox 5"/>
          <p:cNvSpPr txBox="1"/>
          <p:nvPr/>
        </p:nvSpPr>
        <p:spPr>
          <a:xfrm>
            <a:off x="1280160" y="3383280"/>
            <a:ext cx="13716000" cy="3200400"/>
          </a:xfrm>
          <a:prstGeom prst="rect">
            <a:avLst/>
          </a:prstGeom>
          <a:noFill/>
        </p:spPr>
        <p:txBody>
          <a:bodyPr wrap="square" lIns="0" rIns="0" tIns="0" bIns="0" anchor="t"/>
          <a:lstStyle/>
          <a:p>
            <a:pPr algn="l">
              <a:lnSpc>
                <a:spcPct val="115000"/>
              </a:lnSpc>
            </a:pPr>
            <a:r>
              <a:rPr sz="6400" b="0" i="0">
                <a:solidFill>
                  <a:srgbClr val="FFFFFF"/>
                </a:solidFill>
                <a:latin typeface="Libre Franklin"/>
              </a:rPr>
              <a:t>When every bank ships AI,</a:t>
            </a:r>
          </a:p>
          <a:p>
            <a:pPr algn="l">
              <a:lnSpc>
                <a:spcPct val="115000"/>
              </a:lnSpc>
            </a:pPr>
            <a:r>
              <a:rPr sz="6400" b="0" i="0">
                <a:solidFill>
                  <a:srgbClr val="FFFFFF"/>
                </a:solidFill>
                <a:latin typeface="Libre Franklin"/>
              </a:rPr>
              <a:t>where does difference live?</a:t>
            </a:r>
          </a:p>
        </p:txBody>
      </p:sp>
      <p:sp>
        <p:nvSpPr>
          <p:cNvPr id="7" name="TextBox 6"/>
          <p:cNvSpPr txBox="1"/>
          <p:nvPr/>
        </p:nvSpPr>
        <p:spPr>
          <a:xfrm>
            <a:off x="1280160" y="6858000"/>
            <a:ext cx="13716000" cy="457200"/>
          </a:xfrm>
          <a:prstGeom prst="rect">
            <a:avLst/>
          </a:prstGeom>
          <a:noFill/>
        </p:spPr>
        <p:txBody>
          <a:bodyPr wrap="square" lIns="0" rIns="0" tIns="0" bIns="0" anchor="t"/>
          <a:lstStyle/>
          <a:p>
            <a:pPr algn="l">
              <a:lnSpc>
                <a:spcPct val="120000"/>
              </a:lnSpc>
            </a:pPr>
            <a:r>
              <a:rPr sz="1800" b="0" i="0">
                <a:solidFill>
                  <a:srgbClr val="CCCCCC"/>
                </a:solidFill>
                <a:latin typeface="Libre Franklin"/>
              </a:rPr>
              <a:t>Helsinki · May 2026 · Chatham House</a:t>
            </a:r>
          </a:p>
        </p:txBody>
      </p:sp>
      <p:sp>
        <p:nvSpPr>
          <p:cNvPr id="8" name="TextBox 7"/>
          <p:cNvSpPr txBox="1"/>
          <p:nvPr/>
        </p:nvSpPr>
        <p:spPr>
          <a:xfrm>
            <a:off x="17556480" y="9738360"/>
            <a:ext cx="457200" cy="365760"/>
          </a:xfrm>
          <a:prstGeom prst="rect">
            <a:avLst/>
          </a:prstGeom>
          <a:noFill/>
        </p:spPr>
        <p:txBody>
          <a:bodyPr wrap="square" lIns="0" rIns="0" tIns="0" bIns="0" anchor="t"/>
          <a:lstStyle/>
          <a:p>
            <a:pPr algn="r">
              <a:lnSpc>
                <a:spcPct val="120000"/>
              </a:lnSpc>
            </a:pPr>
            <a:r>
              <a:rPr sz="1000" b="0" i="0">
                <a:solidFill>
                  <a:srgbClr val="99A8B9"/>
                </a:solidFill>
                <a:latin typeface="Libre Franklin"/>
              </a:rPr>
              <a:t>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85216" y="457200"/>
            <a:ext cx="82296"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39496"/>
            <a:ext cx="164592"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0352"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7757648"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86868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0" y="960120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6002000" y="9738360"/>
            <a:ext cx="1463040" cy="365760"/>
          </a:xfrm>
          <a:prstGeom prst="rect">
            <a:avLst/>
          </a:prstGeom>
          <a:noFill/>
        </p:spPr>
        <p:txBody>
          <a:bodyPr wrap="square" lIns="0" rIns="0" tIns="0" bIns="0" anchor="t"/>
          <a:lstStyle/>
          <a:p>
            <a:pPr algn="r">
              <a:lnSpc>
                <a:spcPct val="120000"/>
              </a:lnSpc>
            </a:pPr>
            <a:r>
              <a:rPr sz="1400" b="1" i="0">
                <a:solidFill>
                  <a:srgbClr val="041326"/>
                </a:solidFill>
                <a:latin typeface="Libre Franklin"/>
              </a:rPr>
              <a:t>Backbase</a:t>
            </a:r>
          </a:p>
        </p:txBody>
      </p:sp>
      <p:sp>
        <p:nvSpPr>
          <p:cNvPr id="9" name="TextBox 8"/>
          <p:cNvSpPr txBox="1"/>
          <p:nvPr/>
        </p:nvSpPr>
        <p:spPr>
          <a:xfrm>
            <a:off x="17556480" y="9738360"/>
            <a:ext cx="457200" cy="365760"/>
          </a:xfrm>
          <a:prstGeom prst="rect">
            <a:avLst/>
          </a:prstGeom>
          <a:noFill/>
        </p:spPr>
        <p:txBody>
          <a:bodyPr wrap="square" lIns="0" rIns="0" tIns="0" bIns="0" anchor="t"/>
          <a:lstStyle/>
          <a:p>
            <a:pPr algn="r">
              <a:lnSpc>
                <a:spcPct val="120000"/>
              </a:lnSpc>
            </a:pPr>
            <a:r>
              <a:rPr sz="1000" b="0" i="0">
                <a:solidFill>
                  <a:srgbClr val="041326"/>
                </a:solidFill>
                <a:latin typeface="Libre Franklin"/>
              </a:rPr>
              <a:t>2 / 13</a:t>
            </a:r>
          </a:p>
        </p:txBody>
      </p:sp>
      <p:sp>
        <p:nvSpPr>
          <p:cNvPr id="10" name="TextBox 9"/>
          <p:cNvSpPr txBox="1"/>
          <p:nvPr/>
        </p:nvSpPr>
        <p:spPr>
          <a:xfrm>
            <a:off x="1280160" y="1280160"/>
            <a:ext cx="15544800" cy="365760"/>
          </a:xfrm>
          <a:prstGeom prst="rect">
            <a:avLst/>
          </a:prstGeom>
          <a:noFill/>
        </p:spPr>
        <p:txBody>
          <a:bodyPr wrap="square" lIns="0" rIns="0" tIns="0" bIns="0" anchor="t"/>
          <a:lstStyle/>
          <a:p>
            <a:pPr algn="l">
              <a:lnSpc>
                <a:spcPct val="120000"/>
              </a:lnSpc>
            </a:pPr>
            <a:r>
              <a:rPr sz="1400" b="0" i="0">
                <a:solidFill>
                  <a:srgbClr val="5C6E84"/>
                </a:solidFill>
                <a:latin typeface="Libre Franklin"/>
              </a:rPr>
              <a:t>THE TRAP</a:t>
            </a:r>
          </a:p>
        </p:txBody>
      </p:sp>
      <p:sp>
        <p:nvSpPr>
          <p:cNvPr id="11" name="TextBox 10"/>
          <p:cNvSpPr txBox="1"/>
          <p:nvPr/>
        </p:nvSpPr>
        <p:spPr>
          <a:xfrm>
            <a:off x="1280160" y="1737360"/>
            <a:ext cx="15544800" cy="1005840"/>
          </a:xfrm>
          <a:prstGeom prst="rect">
            <a:avLst/>
          </a:prstGeom>
          <a:noFill/>
        </p:spPr>
        <p:txBody>
          <a:bodyPr wrap="square" lIns="0" rIns="0" tIns="0" bIns="0" anchor="t"/>
          <a:lstStyle/>
          <a:p>
            <a:pPr algn="l">
              <a:lnSpc>
                <a:spcPct val="115000"/>
              </a:lnSpc>
            </a:pPr>
            <a:r>
              <a:rPr sz="4400" b="0" i="0">
                <a:solidFill>
                  <a:srgbClr val="041326"/>
                </a:solidFill>
                <a:latin typeface="Libre Franklin"/>
              </a:rPr>
              <a:t>Intelligence is commoditising</a:t>
            </a:r>
          </a:p>
        </p:txBody>
      </p:sp>
      <p:cxnSp>
        <p:nvCxnSpPr>
          <p:cNvPr id="12" name="Connector 11"/>
          <p:cNvCxnSpPr/>
          <p:nvPr/>
        </p:nvCxnSpPr>
        <p:spPr>
          <a:xfrm>
            <a:off x="6278879" y="4023360"/>
            <a:ext cx="0" cy="484632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280160" y="4023360"/>
            <a:ext cx="4998719" cy="1280160"/>
          </a:xfrm>
          <a:prstGeom prst="rect">
            <a:avLst/>
          </a:prstGeom>
          <a:noFill/>
        </p:spPr>
        <p:txBody>
          <a:bodyPr wrap="square" lIns="0" rIns="0" tIns="0" bIns="0" anchor="t"/>
          <a:lstStyle/>
          <a:p>
            <a:pPr algn="l">
              <a:lnSpc>
                <a:spcPct val="100000"/>
              </a:lnSpc>
            </a:pPr>
            <a:r>
              <a:rPr sz="5800" b="1" i="0">
                <a:solidFill>
                  <a:srgbClr val="3366FF"/>
                </a:solidFill>
                <a:latin typeface="Libre Franklin"/>
              </a:rPr>
              <a:t>&lt;5%</a:t>
            </a:r>
          </a:p>
        </p:txBody>
      </p:sp>
      <p:sp>
        <p:nvSpPr>
          <p:cNvPr id="14" name="TextBox 13"/>
          <p:cNvSpPr txBox="1"/>
          <p:nvPr/>
        </p:nvSpPr>
        <p:spPr>
          <a:xfrm>
            <a:off x="1280160" y="5486400"/>
            <a:ext cx="4998719" cy="2651760"/>
          </a:xfrm>
          <a:prstGeom prst="rect">
            <a:avLst/>
          </a:prstGeom>
          <a:noFill/>
        </p:spPr>
        <p:txBody>
          <a:bodyPr wrap="square" lIns="0" rIns="0" tIns="0" bIns="0" anchor="t"/>
          <a:lstStyle/>
          <a:p>
            <a:pPr algn="l">
              <a:lnSpc>
                <a:spcPct val="150000"/>
              </a:lnSpc>
            </a:pPr>
            <a:r>
              <a:rPr sz="1500" b="0" i="0">
                <a:solidFill>
                  <a:srgbClr val="041326"/>
                </a:solidFill>
                <a:latin typeface="Libre Franklin"/>
              </a:rPr>
              <a:t>Performance gap between frontier models on banking-relevant tasks.</a:t>
            </a:r>
          </a:p>
          <a:p>
            <a:pPr algn="l">
              <a:lnSpc>
                <a:spcPct val="150000"/>
              </a:lnSpc>
            </a:pPr>
            <a:r>
              <a:rPr sz="1500" b="0" i="0">
                <a:solidFill>
                  <a:srgbClr val="041326"/>
                </a:solidFill>
                <a:latin typeface="Libre Franklin"/>
              </a:rPr>
              <a:t>Closing fast. The model is not the moat.</a:t>
            </a:r>
          </a:p>
        </p:txBody>
      </p:sp>
      <p:sp>
        <p:nvSpPr>
          <p:cNvPr id="15" name="TextBox 14"/>
          <p:cNvSpPr txBox="1"/>
          <p:nvPr/>
        </p:nvSpPr>
        <p:spPr>
          <a:xfrm>
            <a:off x="1280160" y="8229600"/>
            <a:ext cx="4998719" cy="548640"/>
          </a:xfrm>
          <a:prstGeom prst="rect">
            <a:avLst/>
          </a:prstGeom>
          <a:noFill/>
        </p:spPr>
        <p:txBody>
          <a:bodyPr wrap="square" lIns="0" rIns="0" tIns="0" bIns="0" anchor="t"/>
          <a:lstStyle/>
          <a:p>
            <a:pPr algn="l">
              <a:lnSpc>
                <a:spcPct val="145000"/>
              </a:lnSpc>
            </a:pPr>
            <a:r>
              <a:rPr sz="1000" b="0" i="1">
                <a:solidFill>
                  <a:srgbClr val="5C6E84"/>
                </a:solidFill>
                <a:latin typeface="Libre Franklin"/>
              </a:rPr>
              <a:t>Stanford AI Index 2025; HELM benchmarks</a:t>
            </a:r>
          </a:p>
        </p:txBody>
      </p:sp>
      <p:cxnSp>
        <p:nvCxnSpPr>
          <p:cNvPr id="16" name="Connector 15"/>
          <p:cNvCxnSpPr/>
          <p:nvPr/>
        </p:nvCxnSpPr>
        <p:spPr>
          <a:xfrm>
            <a:off x="11551918" y="4023360"/>
            <a:ext cx="0" cy="484632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53199" y="4023360"/>
            <a:ext cx="4998719" cy="1280160"/>
          </a:xfrm>
          <a:prstGeom prst="rect">
            <a:avLst/>
          </a:prstGeom>
          <a:noFill/>
        </p:spPr>
        <p:txBody>
          <a:bodyPr wrap="square" lIns="0" rIns="0" tIns="0" bIns="0" anchor="t"/>
          <a:lstStyle/>
          <a:p>
            <a:pPr algn="l">
              <a:lnSpc>
                <a:spcPct val="100000"/>
              </a:lnSpc>
            </a:pPr>
            <a:r>
              <a:rPr sz="5800" b="1" i="0">
                <a:solidFill>
                  <a:srgbClr val="3366FF"/>
                </a:solidFill>
                <a:latin typeface="Libre Franklin"/>
              </a:rPr>
              <a:t>~100%</a:t>
            </a:r>
          </a:p>
        </p:txBody>
      </p:sp>
      <p:sp>
        <p:nvSpPr>
          <p:cNvPr id="18" name="TextBox 17"/>
          <p:cNvSpPr txBox="1"/>
          <p:nvPr/>
        </p:nvSpPr>
        <p:spPr>
          <a:xfrm>
            <a:off x="6553199" y="5486400"/>
            <a:ext cx="4998719" cy="2651760"/>
          </a:xfrm>
          <a:prstGeom prst="rect">
            <a:avLst/>
          </a:prstGeom>
          <a:noFill/>
        </p:spPr>
        <p:txBody>
          <a:bodyPr wrap="square" lIns="0" rIns="0" tIns="0" bIns="0" anchor="t"/>
          <a:lstStyle/>
          <a:p>
            <a:pPr algn="l">
              <a:lnSpc>
                <a:spcPct val="150000"/>
              </a:lnSpc>
            </a:pPr>
            <a:r>
              <a:rPr sz="1500" b="0" i="0">
                <a:solidFill>
                  <a:srgbClr val="041326"/>
                </a:solidFill>
                <a:latin typeface="Libre Franklin"/>
              </a:rPr>
              <a:t>Of global top-50 banks have shipped a GenAI assistant since 2024.</a:t>
            </a:r>
          </a:p>
          <a:p>
            <a:pPr algn="l">
              <a:lnSpc>
                <a:spcPct val="150000"/>
              </a:lnSpc>
            </a:pPr>
            <a:r>
              <a:rPr sz="1500" b="0" i="0">
                <a:solidFill>
                  <a:srgbClr val="041326"/>
                </a:solidFill>
                <a:latin typeface="Libre Franklin"/>
              </a:rPr>
              <a:t>The feature is saturated. Yours looks like theirs.</a:t>
            </a:r>
          </a:p>
        </p:txBody>
      </p:sp>
      <p:sp>
        <p:nvSpPr>
          <p:cNvPr id="19" name="TextBox 18"/>
          <p:cNvSpPr txBox="1"/>
          <p:nvPr/>
        </p:nvSpPr>
        <p:spPr>
          <a:xfrm>
            <a:off x="6553199" y="8229600"/>
            <a:ext cx="4998719" cy="548640"/>
          </a:xfrm>
          <a:prstGeom prst="rect">
            <a:avLst/>
          </a:prstGeom>
          <a:noFill/>
        </p:spPr>
        <p:txBody>
          <a:bodyPr wrap="square" lIns="0" rIns="0" tIns="0" bIns="0" anchor="t"/>
          <a:lstStyle/>
          <a:p>
            <a:pPr algn="l">
              <a:lnSpc>
                <a:spcPct val="145000"/>
              </a:lnSpc>
            </a:pPr>
            <a:r>
              <a:rPr sz="1000" b="0" i="1">
                <a:solidFill>
                  <a:srgbClr val="5C6E84"/>
                </a:solidFill>
                <a:latin typeface="Libre Franklin"/>
              </a:rPr>
              <a:t>Evident AI Index, 2024</a:t>
            </a:r>
          </a:p>
        </p:txBody>
      </p:sp>
      <p:sp>
        <p:nvSpPr>
          <p:cNvPr id="20" name="TextBox 19"/>
          <p:cNvSpPr txBox="1"/>
          <p:nvPr/>
        </p:nvSpPr>
        <p:spPr>
          <a:xfrm>
            <a:off x="11826238" y="4023360"/>
            <a:ext cx="4998719" cy="1280160"/>
          </a:xfrm>
          <a:prstGeom prst="rect">
            <a:avLst/>
          </a:prstGeom>
          <a:noFill/>
        </p:spPr>
        <p:txBody>
          <a:bodyPr wrap="square" lIns="0" rIns="0" tIns="0" bIns="0" anchor="t"/>
          <a:lstStyle/>
          <a:p>
            <a:pPr algn="l">
              <a:lnSpc>
                <a:spcPct val="100000"/>
              </a:lnSpc>
            </a:pPr>
            <a:r>
              <a:rPr sz="5800" b="1" i="0">
                <a:solidFill>
                  <a:srgbClr val="3366FF"/>
                </a:solidFill>
                <a:latin typeface="Libre Franklin"/>
              </a:rPr>
              <a:t>~18 mo</a:t>
            </a:r>
          </a:p>
        </p:txBody>
      </p:sp>
      <p:sp>
        <p:nvSpPr>
          <p:cNvPr id="21" name="TextBox 20"/>
          <p:cNvSpPr txBox="1"/>
          <p:nvPr/>
        </p:nvSpPr>
        <p:spPr>
          <a:xfrm>
            <a:off x="11826238" y="5486400"/>
            <a:ext cx="4998719" cy="2651760"/>
          </a:xfrm>
          <a:prstGeom prst="rect">
            <a:avLst/>
          </a:prstGeom>
          <a:noFill/>
        </p:spPr>
        <p:txBody>
          <a:bodyPr wrap="square" lIns="0" rIns="0" tIns="0" bIns="0" anchor="t"/>
          <a:lstStyle/>
          <a:p>
            <a:pPr algn="l">
              <a:lnSpc>
                <a:spcPct val="150000"/>
              </a:lnSpc>
            </a:pPr>
            <a:r>
              <a:rPr sz="1500" b="0" i="0">
                <a:solidFill>
                  <a:srgbClr val="041326"/>
                </a:solidFill>
                <a:latin typeface="Libre Franklin"/>
              </a:rPr>
              <a:t>Until feature parity — your copilot will look like your competitor's.</a:t>
            </a:r>
          </a:p>
          <a:p>
            <a:pPr algn="l">
              <a:lnSpc>
                <a:spcPct val="150000"/>
              </a:lnSpc>
            </a:pPr>
            <a:r>
              <a:rPr sz="1500" b="0" i="0">
                <a:solidFill>
                  <a:srgbClr val="041326"/>
                </a:solidFill>
                <a:latin typeface="Libre Franklin"/>
              </a:rPr>
              <a:t>Differentiation has a clock.</a:t>
            </a:r>
          </a:p>
        </p:txBody>
      </p:sp>
      <p:sp>
        <p:nvSpPr>
          <p:cNvPr id="22" name="TextBox 21"/>
          <p:cNvSpPr txBox="1"/>
          <p:nvPr/>
        </p:nvSpPr>
        <p:spPr>
          <a:xfrm>
            <a:off x="11826238" y="8229600"/>
            <a:ext cx="4998719" cy="548640"/>
          </a:xfrm>
          <a:prstGeom prst="rect">
            <a:avLst/>
          </a:prstGeom>
          <a:noFill/>
        </p:spPr>
        <p:txBody>
          <a:bodyPr wrap="square" lIns="0" rIns="0" tIns="0" bIns="0" anchor="t"/>
          <a:lstStyle/>
          <a:p>
            <a:pPr algn="l">
              <a:lnSpc>
                <a:spcPct val="145000"/>
              </a:lnSpc>
            </a:pPr>
            <a:r>
              <a:rPr sz="1000" b="0" i="1">
                <a:solidFill>
                  <a:srgbClr val="5C6E84"/>
                </a:solidFill>
                <a:latin typeface="Libre Franklin"/>
              </a:rPr>
              <a:t>Gartner AI Hype Cycle 2024; BCG GenAI Banking Pulse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85216" y="457200"/>
            <a:ext cx="82296"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39496"/>
            <a:ext cx="164592"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0352"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7757648"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86868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0" y="960120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6002000" y="9738360"/>
            <a:ext cx="1463040" cy="365760"/>
          </a:xfrm>
          <a:prstGeom prst="rect">
            <a:avLst/>
          </a:prstGeom>
          <a:noFill/>
        </p:spPr>
        <p:txBody>
          <a:bodyPr wrap="square" lIns="0" rIns="0" tIns="0" bIns="0" anchor="t"/>
          <a:lstStyle/>
          <a:p>
            <a:pPr algn="r">
              <a:lnSpc>
                <a:spcPct val="120000"/>
              </a:lnSpc>
            </a:pPr>
            <a:r>
              <a:rPr sz="1400" b="1" i="0">
                <a:solidFill>
                  <a:srgbClr val="041326"/>
                </a:solidFill>
                <a:latin typeface="Libre Franklin"/>
              </a:rPr>
              <a:t>Backbase</a:t>
            </a:r>
          </a:p>
        </p:txBody>
      </p:sp>
      <p:sp>
        <p:nvSpPr>
          <p:cNvPr id="9" name="TextBox 8"/>
          <p:cNvSpPr txBox="1"/>
          <p:nvPr/>
        </p:nvSpPr>
        <p:spPr>
          <a:xfrm>
            <a:off x="17556480" y="9738360"/>
            <a:ext cx="457200" cy="365760"/>
          </a:xfrm>
          <a:prstGeom prst="rect">
            <a:avLst/>
          </a:prstGeom>
          <a:noFill/>
        </p:spPr>
        <p:txBody>
          <a:bodyPr wrap="square" lIns="0" rIns="0" tIns="0" bIns="0" anchor="t"/>
          <a:lstStyle/>
          <a:p>
            <a:pPr algn="r">
              <a:lnSpc>
                <a:spcPct val="120000"/>
              </a:lnSpc>
            </a:pPr>
            <a:r>
              <a:rPr sz="1000" b="0" i="0">
                <a:solidFill>
                  <a:srgbClr val="041326"/>
                </a:solidFill>
                <a:latin typeface="Libre Franklin"/>
              </a:rPr>
              <a:t>3 / 13</a:t>
            </a:r>
          </a:p>
        </p:txBody>
      </p:sp>
      <p:sp>
        <p:nvSpPr>
          <p:cNvPr id="10" name="TextBox 9"/>
          <p:cNvSpPr txBox="1"/>
          <p:nvPr/>
        </p:nvSpPr>
        <p:spPr>
          <a:xfrm>
            <a:off x="1280160" y="1280160"/>
            <a:ext cx="15544800" cy="365760"/>
          </a:xfrm>
          <a:prstGeom prst="rect">
            <a:avLst/>
          </a:prstGeom>
          <a:noFill/>
        </p:spPr>
        <p:txBody>
          <a:bodyPr wrap="square" lIns="0" rIns="0" tIns="0" bIns="0" anchor="t"/>
          <a:lstStyle/>
          <a:p>
            <a:pPr algn="l">
              <a:lnSpc>
                <a:spcPct val="120000"/>
              </a:lnSpc>
            </a:pPr>
            <a:r>
              <a:rPr sz="1400" b="0" i="0">
                <a:solidFill>
                  <a:srgbClr val="5C6E84"/>
                </a:solidFill>
                <a:latin typeface="Libre Franklin"/>
              </a:rPr>
              <a:t>THE PATTERN · IT HAS HAPPENED BEFORE</a:t>
            </a:r>
          </a:p>
        </p:txBody>
      </p:sp>
      <p:sp>
        <p:nvSpPr>
          <p:cNvPr id="11" name="TextBox 10"/>
          <p:cNvSpPr txBox="1"/>
          <p:nvPr/>
        </p:nvSpPr>
        <p:spPr>
          <a:xfrm>
            <a:off x="1280160" y="1737360"/>
            <a:ext cx="15544800" cy="1005840"/>
          </a:xfrm>
          <a:prstGeom prst="rect">
            <a:avLst/>
          </a:prstGeom>
          <a:noFill/>
        </p:spPr>
        <p:txBody>
          <a:bodyPr wrap="square" lIns="0" rIns="0" tIns="0" bIns="0" anchor="t"/>
          <a:lstStyle/>
          <a:p>
            <a:pPr algn="l">
              <a:lnSpc>
                <a:spcPct val="115000"/>
              </a:lnSpc>
            </a:pPr>
            <a:r>
              <a:rPr sz="4400" b="0" i="0">
                <a:solidFill>
                  <a:srgbClr val="041326"/>
                </a:solidFill>
                <a:latin typeface="Libre Franklin"/>
              </a:rPr>
              <a:t>The winners own what sits above the commodity.</a:t>
            </a:r>
          </a:p>
        </p:txBody>
      </p:sp>
      <p:sp>
        <p:nvSpPr>
          <p:cNvPr id="12" name="TextBox 11"/>
          <p:cNvSpPr txBox="1"/>
          <p:nvPr/>
        </p:nvSpPr>
        <p:spPr>
          <a:xfrm>
            <a:off x="1280160" y="4023360"/>
            <a:ext cx="7589520" cy="365760"/>
          </a:xfrm>
          <a:prstGeom prst="rect">
            <a:avLst/>
          </a:prstGeom>
          <a:noFill/>
        </p:spPr>
        <p:txBody>
          <a:bodyPr wrap="square" lIns="0" rIns="0" tIns="0" bIns="0" anchor="t"/>
          <a:lstStyle/>
          <a:p>
            <a:pPr algn="l">
              <a:lnSpc>
                <a:spcPct val="120000"/>
              </a:lnSpc>
            </a:pPr>
            <a:r>
              <a:rPr sz="1200" b="1" i="0">
                <a:solidFill>
                  <a:srgbClr val="3366FF"/>
                </a:solidFill>
                <a:latin typeface="Libre Franklin"/>
              </a:rPr>
              <a:t>AWS · 2008 → 2020</a:t>
            </a:r>
          </a:p>
        </p:txBody>
      </p:sp>
      <p:sp>
        <p:nvSpPr>
          <p:cNvPr id="13" name="TextBox 12"/>
          <p:cNvSpPr txBox="1"/>
          <p:nvPr/>
        </p:nvSpPr>
        <p:spPr>
          <a:xfrm>
            <a:off x="1280160" y="4480560"/>
            <a:ext cx="7589520" cy="1097280"/>
          </a:xfrm>
          <a:prstGeom prst="rect">
            <a:avLst/>
          </a:prstGeom>
          <a:noFill/>
        </p:spPr>
        <p:txBody>
          <a:bodyPr wrap="square" lIns="0" rIns="0" tIns="0" bIns="0" anchor="t"/>
          <a:lstStyle/>
          <a:p>
            <a:pPr algn="l">
              <a:lnSpc>
                <a:spcPct val="100000"/>
              </a:lnSpc>
            </a:pPr>
            <a:r>
              <a:rPr sz="5200" b="1" i="0">
                <a:solidFill>
                  <a:srgbClr val="3366FF"/>
                </a:solidFill>
                <a:latin typeface="Libre Franklin"/>
              </a:rPr>
              <a:t>$100B+</a:t>
            </a:r>
          </a:p>
        </p:txBody>
      </p:sp>
      <p:sp>
        <p:nvSpPr>
          <p:cNvPr id="14" name="TextBox 13"/>
          <p:cNvSpPr txBox="1"/>
          <p:nvPr/>
        </p:nvSpPr>
        <p:spPr>
          <a:xfrm>
            <a:off x="1280160" y="5760720"/>
            <a:ext cx="7589520" cy="640080"/>
          </a:xfrm>
          <a:prstGeom prst="rect">
            <a:avLst/>
          </a:prstGeom>
          <a:noFill/>
        </p:spPr>
        <p:txBody>
          <a:bodyPr wrap="square" lIns="0" rIns="0" tIns="0" bIns="0" anchor="t"/>
          <a:lstStyle/>
          <a:p>
            <a:pPr algn="l">
              <a:lnSpc>
                <a:spcPct val="135000"/>
              </a:lnSpc>
            </a:pPr>
            <a:r>
              <a:rPr sz="1700" b="1" i="0">
                <a:solidFill>
                  <a:srgbClr val="041326"/>
                </a:solidFill>
                <a:latin typeface="Libre Franklin"/>
              </a:rPr>
              <a:t>Compute commoditised. Orchestration became the moat.</a:t>
            </a:r>
          </a:p>
        </p:txBody>
      </p:sp>
      <p:sp>
        <p:nvSpPr>
          <p:cNvPr id="15" name="TextBox 14"/>
          <p:cNvSpPr txBox="1"/>
          <p:nvPr/>
        </p:nvSpPr>
        <p:spPr>
          <a:xfrm>
            <a:off x="1280160" y="6537960"/>
            <a:ext cx="7589520" cy="2194560"/>
          </a:xfrm>
          <a:prstGeom prst="rect">
            <a:avLst/>
          </a:prstGeom>
          <a:noFill/>
        </p:spPr>
        <p:txBody>
          <a:bodyPr wrap="square" lIns="0" rIns="0" tIns="0" bIns="0" anchor="t"/>
          <a:lstStyle/>
          <a:p>
            <a:pPr algn="l">
              <a:lnSpc>
                <a:spcPct val="155000"/>
              </a:lnSpc>
            </a:pPr>
            <a:r>
              <a:rPr sz="1400" b="0" i="0">
                <a:solidFill>
                  <a:srgbClr val="041326"/>
                </a:solidFill>
                <a:latin typeface="Libre Franklin"/>
              </a:rPr>
              <a:t>EC2 reached parity with Azure and GCP within ~24 months. AWS pulled ahead on primitives, developer experience, and a trust layer regulators could verify. The silicon became a line item; the orchestration layer became the largest infrastructure business in history.</a:t>
            </a:r>
          </a:p>
        </p:txBody>
      </p:sp>
      <p:sp>
        <p:nvSpPr>
          <p:cNvPr id="16" name="TextBox 15"/>
          <p:cNvSpPr txBox="1"/>
          <p:nvPr/>
        </p:nvSpPr>
        <p:spPr>
          <a:xfrm>
            <a:off x="1280160" y="8412480"/>
            <a:ext cx="7589520" cy="457200"/>
          </a:xfrm>
          <a:prstGeom prst="rect">
            <a:avLst/>
          </a:prstGeom>
          <a:noFill/>
        </p:spPr>
        <p:txBody>
          <a:bodyPr wrap="square" lIns="0" rIns="0" tIns="0" bIns="0" anchor="t"/>
          <a:lstStyle/>
          <a:p>
            <a:pPr algn="l">
              <a:lnSpc>
                <a:spcPct val="145000"/>
              </a:lnSpc>
            </a:pPr>
            <a:r>
              <a:rPr sz="1000" b="0" i="1">
                <a:solidFill>
                  <a:srgbClr val="5C6E84"/>
                </a:solidFill>
                <a:latin typeface="Libre Franklin"/>
              </a:rPr>
              <a:t>Synergy Research Cloud Market Share 2024; AWS segment results</a:t>
            </a:r>
          </a:p>
        </p:txBody>
      </p:sp>
      <p:cxnSp>
        <p:nvCxnSpPr>
          <p:cNvPr id="17" name="Connector 16"/>
          <p:cNvCxnSpPr/>
          <p:nvPr/>
        </p:nvCxnSpPr>
        <p:spPr>
          <a:xfrm>
            <a:off x="8869680" y="4023360"/>
            <a:ext cx="0" cy="484632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235440" y="4023360"/>
            <a:ext cx="7589520" cy="365760"/>
          </a:xfrm>
          <a:prstGeom prst="rect">
            <a:avLst/>
          </a:prstGeom>
          <a:noFill/>
        </p:spPr>
        <p:txBody>
          <a:bodyPr wrap="square" lIns="0" rIns="0" tIns="0" bIns="0" anchor="t"/>
          <a:lstStyle/>
          <a:p>
            <a:pPr algn="l">
              <a:lnSpc>
                <a:spcPct val="120000"/>
              </a:lnSpc>
            </a:pPr>
            <a:r>
              <a:rPr sz="1200" b="1" i="0">
                <a:solidFill>
                  <a:srgbClr val="3366FF"/>
                </a:solidFill>
                <a:latin typeface="Libre Franklin"/>
              </a:rPr>
              <a:t>Spotify · 2008 → 2024</a:t>
            </a:r>
          </a:p>
        </p:txBody>
      </p:sp>
      <p:sp>
        <p:nvSpPr>
          <p:cNvPr id="19" name="TextBox 18"/>
          <p:cNvSpPr txBox="1"/>
          <p:nvPr/>
        </p:nvSpPr>
        <p:spPr>
          <a:xfrm>
            <a:off x="9235440" y="4480560"/>
            <a:ext cx="7589520" cy="1097280"/>
          </a:xfrm>
          <a:prstGeom prst="rect">
            <a:avLst/>
          </a:prstGeom>
          <a:noFill/>
        </p:spPr>
        <p:txBody>
          <a:bodyPr wrap="square" lIns="0" rIns="0" tIns="0" bIns="0" anchor="t"/>
          <a:lstStyle/>
          <a:p>
            <a:pPr algn="l">
              <a:lnSpc>
                <a:spcPct val="100000"/>
              </a:lnSpc>
            </a:pPr>
            <a:r>
              <a:rPr sz="5200" b="1" i="0">
                <a:solidFill>
                  <a:srgbClr val="3366FF"/>
                </a:solidFill>
                <a:latin typeface="Libre Franklin"/>
              </a:rPr>
              <a:t>675M</a:t>
            </a:r>
          </a:p>
        </p:txBody>
      </p:sp>
      <p:sp>
        <p:nvSpPr>
          <p:cNvPr id="20" name="TextBox 19"/>
          <p:cNvSpPr txBox="1"/>
          <p:nvPr/>
        </p:nvSpPr>
        <p:spPr>
          <a:xfrm>
            <a:off x="9235440" y="5760720"/>
            <a:ext cx="7589520" cy="640080"/>
          </a:xfrm>
          <a:prstGeom prst="rect">
            <a:avLst/>
          </a:prstGeom>
          <a:noFill/>
        </p:spPr>
        <p:txBody>
          <a:bodyPr wrap="square" lIns="0" rIns="0" tIns="0" bIns="0" anchor="t"/>
          <a:lstStyle/>
          <a:p>
            <a:pPr algn="l">
              <a:lnSpc>
                <a:spcPct val="135000"/>
              </a:lnSpc>
            </a:pPr>
            <a:r>
              <a:rPr sz="1700" b="1" i="0">
                <a:solidFill>
                  <a:srgbClr val="041326"/>
                </a:solidFill>
                <a:latin typeface="Libre Franklin"/>
              </a:rPr>
              <a:t>Every catalogue became identical. Discovery became the product.</a:t>
            </a:r>
          </a:p>
        </p:txBody>
      </p:sp>
      <p:sp>
        <p:nvSpPr>
          <p:cNvPr id="21" name="TextBox 20"/>
          <p:cNvSpPr txBox="1"/>
          <p:nvPr/>
        </p:nvSpPr>
        <p:spPr>
          <a:xfrm>
            <a:off x="9235440" y="6537960"/>
            <a:ext cx="7589520" cy="2194560"/>
          </a:xfrm>
          <a:prstGeom prst="rect">
            <a:avLst/>
          </a:prstGeom>
          <a:noFill/>
        </p:spPr>
        <p:txBody>
          <a:bodyPr wrap="square" lIns="0" rIns="0" tIns="0" bIns="0" anchor="t"/>
          <a:lstStyle/>
          <a:p>
            <a:pPr algn="l">
              <a:lnSpc>
                <a:spcPct val="155000"/>
              </a:lnSpc>
            </a:pPr>
            <a:r>
              <a:rPr sz="1400" b="0" i="0">
                <a:solidFill>
                  <a:srgbClr val="041326"/>
                </a:solidFill>
                <a:latin typeface="Libre Franklin"/>
              </a:rPr>
              <a:t>Rivals streamed the same songs. Spotify won on intent orchestration — Discover Weekly, Release Radar — and turned a commoditised catalogue into a 675M-user moat no competitor has closed.</a:t>
            </a:r>
          </a:p>
        </p:txBody>
      </p:sp>
      <p:sp>
        <p:nvSpPr>
          <p:cNvPr id="22" name="TextBox 21"/>
          <p:cNvSpPr txBox="1"/>
          <p:nvPr/>
        </p:nvSpPr>
        <p:spPr>
          <a:xfrm>
            <a:off x="9235440" y="8412480"/>
            <a:ext cx="7589520" cy="457200"/>
          </a:xfrm>
          <a:prstGeom prst="rect">
            <a:avLst/>
          </a:prstGeom>
          <a:noFill/>
        </p:spPr>
        <p:txBody>
          <a:bodyPr wrap="square" lIns="0" rIns="0" tIns="0" bIns="0" anchor="t"/>
          <a:lstStyle/>
          <a:p>
            <a:pPr algn="l">
              <a:lnSpc>
                <a:spcPct val="145000"/>
              </a:lnSpc>
            </a:pPr>
            <a:r>
              <a:rPr sz="1000" b="0" i="1">
                <a:solidFill>
                  <a:srgbClr val="5C6E84"/>
                </a:solidFill>
                <a:latin typeface="Libre Franklin"/>
              </a:rPr>
              <a:t>Spotify MAU, Q4 2024; IFPI Global Music Report 2024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85216" y="457200"/>
            <a:ext cx="82296"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39496"/>
            <a:ext cx="164592"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0352"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7757648"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86868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0" y="960120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6002000" y="9738360"/>
            <a:ext cx="1463040" cy="365760"/>
          </a:xfrm>
          <a:prstGeom prst="rect">
            <a:avLst/>
          </a:prstGeom>
          <a:noFill/>
        </p:spPr>
        <p:txBody>
          <a:bodyPr wrap="square" lIns="0" rIns="0" tIns="0" bIns="0" anchor="t"/>
          <a:lstStyle/>
          <a:p>
            <a:pPr algn="r">
              <a:lnSpc>
                <a:spcPct val="120000"/>
              </a:lnSpc>
            </a:pPr>
            <a:r>
              <a:rPr sz="1400" b="1" i="0">
                <a:solidFill>
                  <a:srgbClr val="041326"/>
                </a:solidFill>
                <a:latin typeface="Libre Franklin"/>
              </a:rPr>
              <a:t>Backbase</a:t>
            </a:r>
          </a:p>
        </p:txBody>
      </p:sp>
      <p:sp>
        <p:nvSpPr>
          <p:cNvPr id="9" name="TextBox 8"/>
          <p:cNvSpPr txBox="1"/>
          <p:nvPr/>
        </p:nvSpPr>
        <p:spPr>
          <a:xfrm>
            <a:off x="17556480" y="9738360"/>
            <a:ext cx="457200" cy="365760"/>
          </a:xfrm>
          <a:prstGeom prst="rect">
            <a:avLst/>
          </a:prstGeom>
          <a:noFill/>
        </p:spPr>
        <p:txBody>
          <a:bodyPr wrap="square" lIns="0" rIns="0" tIns="0" bIns="0" anchor="t"/>
          <a:lstStyle/>
          <a:p>
            <a:pPr algn="r">
              <a:lnSpc>
                <a:spcPct val="120000"/>
              </a:lnSpc>
            </a:pPr>
            <a:r>
              <a:rPr sz="1000" b="0" i="0">
                <a:solidFill>
                  <a:srgbClr val="041326"/>
                </a:solidFill>
                <a:latin typeface="Libre Franklin"/>
              </a:rPr>
              <a:t>4 / 13</a:t>
            </a:r>
          </a:p>
        </p:txBody>
      </p:sp>
      <p:sp>
        <p:nvSpPr>
          <p:cNvPr id="10" name="TextBox 9"/>
          <p:cNvSpPr txBox="1"/>
          <p:nvPr/>
        </p:nvSpPr>
        <p:spPr>
          <a:xfrm>
            <a:off x="1280160" y="1280160"/>
            <a:ext cx="15544800" cy="365760"/>
          </a:xfrm>
          <a:prstGeom prst="rect">
            <a:avLst/>
          </a:prstGeom>
          <a:noFill/>
        </p:spPr>
        <p:txBody>
          <a:bodyPr wrap="square" lIns="0" rIns="0" tIns="0" bIns="0" anchor="t"/>
          <a:lstStyle/>
          <a:p>
            <a:pPr algn="l">
              <a:lnSpc>
                <a:spcPct val="120000"/>
              </a:lnSpc>
            </a:pPr>
            <a:r>
              <a:rPr sz="1400" b="0" i="0">
                <a:solidFill>
                  <a:srgbClr val="5C6E84"/>
                </a:solidFill>
                <a:latin typeface="Libre Franklin"/>
              </a:rPr>
              <a:t>OUR OBSERVATION</a:t>
            </a:r>
          </a:p>
        </p:txBody>
      </p:sp>
      <p:sp>
        <p:nvSpPr>
          <p:cNvPr id="11" name="TextBox 10"/>
          <p:cNvSpPr txBox="1"/>
          <p:nvPr/>
        </p:nvSpPr>
        <p:spPr>
          <a:xfrm>
            <a:off x="1280160" y="1737360"/>
            <a:ext cx="15544800" cy="1005840"/>
          </a:xfrm>
          <a:prstGeom prst="rect">
            <a:avLst/>
          </a:prstGeom>
          <a:noFill/>
        </p:spPr>
        <p:txBody>
          <a:bodyPr wrap="square" lIns="0" rIns="0" tIns="0" bIns="0" anchor="t"/>
          <a:lstStyle/>
          <a:p>
            <a:pPr algn="l">
              <a:lnSpc>
                <a:spcPct val="115000"/>
              </a:lnSpc>
            </a:pPr>
            <a:r>
              <a:rPr sz="4400" b="0" i="0">
                <a:solidFill>
                  <a:srgbClr val="041326"/>
                </a:solidFill>
                <a:latin typeface="Libre Franklin"/>
              </a:rPr>
              <a:t>The architecture of banking is shifting.</a:t>
            </a:r>
          </a:p>
        </p:txBody>
      </p:sp>
      <p:sp>
        <p:nvSpPr>
          <p:cNvPr id="12" name="TextBox 11"/>
          <p:cNvSpPr txBox="1"/>
          <p:nvPr/>
        </p:nvSpPr>
        <p:spPr>
          <a:xfrm>
            <a:off x="1280160" y="2834640"/>
            <a:ext cx="15544800" cy="731520"/>
          </a:xfrm>
          <a:prstGeom prst="rect">
            <a:avLst/>
          </a:prstGeom>
          <a:noFill/>
        </p:spPr>
        <p:txBody>
          <a:bodyPr wrap="square" lIns="0" rIns="0" tIns="0" bIns="0" anchor="t"/>
          <a:lstStyle/>
          <a:p>
            <a:pPr algn="l">
              <a:lnSpc>
                <a:spcPct val="145000"/>
              </a:lnSpc>
            </a:pPr>
            <a:r>
              <a:rPr sz="1800" b="0" i="0">
                <a:solidFill>
                  <a:srgbClr val="3366FF"/>
                </a:solidFill>
                <a:latin typeface="Libre Franklin"/>
              </a:rPr>
              <a:t>Most banks have built strong products — vertically. The customer doesn't see the silos. They see one bank, about to start asking it for advice.</a:t>
            </a:r>
          </a:p>
        </p:txBody>
      </p:sp>
      <p:sp>
        <p:nvSpPr>
          <p:cNvPr id="13" name="Rounded Rectangle 12"/>
          <p:cNvSpPr/>
          <p:nvPr/>
        </p:nvSpPr>
        <p:spPr>
          <a:xfrm>
            <a:off x="1280160" y="4206240"/>
            <a:ext cx="4876800" cy="4937760"/>
          </a:xfrm>
          <a:prstGeom prst="roundRect">
            <a:avLst>
              <a:gd name="adj" fmla="val 5000"/>
            </a:avLst>
          </a:prstGeom>
          <a:solidFill>
            <a:srgbClr val="FFFFFF"/>
          </a:solidFill>
          <a:ln w="12700">
            <a:solidFill>
              <a:srgbClr val="FF503C"/>
            </a:solid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37160" bIns="137160"/>
          <a:lstStyle/>
          <a:p>
            <a:pPr algn="ctr"/>
          </a:p>
        </p:txBody>
      </p:sp>
      <p:sp>
        <p:nvSpPr>
          <p:cNvPr id="14" name="Rounded Rectangle 13"/>
          <p:cNvSpPr/>
          <p:nvPr/>
        </p:nvSpPr>
        <p:spPr>
          <a:xfrm>
            <a:off x="1554480" y="4434840"/>
            <a:ext cx="2404872" cy="292608"/>
          </a:xfrm>
          <a:prstGeom prst="roundRect">
            <a:avLst>
              <a:gd name="adj" fmla="val 50000"/>
            </a:avLst>
          </a:prstGeom>
          <a:solidFill>
            <a:srgbClr val="FFE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tIns="18288" bIns="18288"/>
          <a:lstStyle/>
          <a:p>
            <a:pPr algn="ctr"/>
            <a:r>
              <a:rPr sz="1000" b="1">
                <a:solidFill>
                  <a:srgbClr val="FF503C"/>
                </a:solidFill>
                <a:latin typeface="Libre Franklin"/>
              </a:rPr>
              <a:t>STRONG BUT ISOLATED</a:t>
            </a:r>
          </a:p>
        </p:txBody>
      </p:sp>
      <p:sp>
        <p:nvSpPr>
          <p:cNvPr id="15" name="TextBox 14"/>
          <p:cNvSpPr txBox="1"/>
          <p:nvPr/>
        </p:nvSpPr>
        <p:spPr>
          <a:xfrm>
            <a:off x="1554480" y="4892040"/>
            <a:ext cx="4328160" cy="822960"/>
          </a:xfrm>
          <a:prstGeom prst="rect">
            <a:avLst/>
          </a:prstGeom>
          <a:noFill/>
        </p:spPr>
        <p:txBody>
          <a:bodyPr wrap="square" lIns="0" rIns="0" tIns="0" bIns="0" anchor="t"/>
          <a:lstStyle/>
          <a:p>
            <a:pPr algn="l">
              <a:lnSpc>
                <a:spcPct val="100000"/>
              </a:lnSpc>
            </a:pPr>
            <a:r>
              <a:rPr sz="3600" b="1" i="0">
                <a:solidFill>
                  <a:srgbClr val="FF503C"/>
                </a:solidFill>
                <a:latin typeface="Libre Franklin"/>
              </a:rPr>
              <a:t>Products</a:t>
            </a:r>
          </a:p>
        </p:txBody>
      </p:sp>
      <p:sp>
        <p:nvSpPr>
          <p:cNvPr id="16" name="TextBox 15"/>
          <p:cNvSpPr txBox="1"/>
          <p:nvPr/>
        </p:nvSpPr>
        <p:spPr>
          <a:xfrm>
            <a:off x="1554480" y="5852160"/>
            <a:ext cx="4328160" cy="1828800"/>
          </a:xfrm>
          <a:prstGeom prst="rect">
            <a:avLst/>
          </a:prstGeom>
          <a:noFill/>
        </p:spPr>
        <p:txBody>
          <a:bodyPr wrap="square" lIns="0" rIns="0" tIns="0" bIns="0" anchor="t"/>
          <a:lstStyle/>
          <a:p>
            <a:pPr algn="l">
              <a:lnSpc>
                <a:spcPct val="155000"/>
              </a:lnSpc>
            </a:pPr>
            <a:r>
              <a:rPr sz="1300" b="0" i="0">
                <a:solidFill>
                  <a:srgbClr val="041326"/>
                </a:solidFill>
                <a:latin typeface="Libre Franklin"/>
              </a:rPr>
              <a:t>Vertically built, in silos. Onboarding lives in one system. Lending in another. Wealth in a third. The products work — the connections between them are manual.</a:t>
            </a:r>
          </a:p>
        </p:txBody>
      </p:sp>
      <p:cxnSp>
        <p:nvCxnSpPr>
          <p:cNvPr id="17" name="Connector 16"/>
          <p:cNvCxnSpPr/>
          <p:nvPr/>
        </p:nvCxnSpPr>
        <p:spPr>
          <a:xfrm>
            <a:off x="1554480" y="7863840"/>
            <a:ext cx="4328160" cy="0"/>
          </a:xfrm>
          <a:prstGeom prst="line">
            <a:avLst/>
          </a:prstGeom>
          <a:ln w="6350">
            <a:solidFill>
              <a:srgbClr val="FFE6E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554480" y="8001000"/>
            <a:ext cx="4328160" cy="1005840"/>
          </a:xfrm>
          <a:prstGeom prst="rect">
            <a:avLst/>
          </a:prstGeom>
          <a:noFill/>
        </p:spPr>
        <p:txBody>
          <a:bodyPr wrap="square" lIns="0" rIns="0" tIns="0" bIns="0" anchor="t"/>
          <a:lstStyle/>
          <a:p>
            <a:pPr algn="l">
              <a:lnSpc>
                <a:spcPct val="150000"/>
              </a:lnSpc>
            </a:pPr>
            <a:r>
              <a:rPr sz="1200" b="0" i="1">
                <a:solidFill>
                  <a:srgbClr val="5C6E84"/>
                </a:solidFill>
                <a:latin typeface="Libre Franklin"/>
              </a:rPr>
              <a:t>The customer feels it: one bank, three apps, advice that's only ever a slice.</a:t>
            </a:r>
          </a:p>
        </p:txBody>
      </p:sp>
      <p:sp>
        <p:nvSpPr>
          <p:cNvPr id="19" name="TextBox 18"/>
          <p:cNvSpPr txBox="1"/>
          <p:nvPr/>
        </p:nvSpPr>
        <p:spPr>
          <a:xfrm>
            <a:off x="6202680" y="6492240"/>
            <a:ext cx="365760" cy="365760"/>
          </a:xfrm>
          <a:prstGeom prst="rect">
            <a:avLst/>
          </a:prstGeom>
          <a:noFill/>
        </p:spPr>
        <p:txBody>
          <a:bodyPr wrap="square" lIns="0" rIns="0" tIns="0" bIns="0" anchor="ctr"/>
          <a:lstStyle/>
          <a:p>
            <a:pPr algn="ctr">
              <a:lnSpc>
                <a:spcPct val="120000"/>
              </a:lnSpc>
            </a:pPr>
            <a:r>
              <a:rPr sz="2800" b="1" i="0">
                <a:solidFill>
                  <a:srgbClr val="FF503C"/>
                </a:solidFill>
                <a:latin typeface="Libre Franklin"/>
              </a:rPr>
              <a:t>→</a:t>
            </a:r>
          </a:p>
        </p:txBody>
      </p:sp>
      <p:sp>
        <p:nvSpPr>
          <p:cNvPr id="20" name="Rounded Rectangle 19"/>
          <p:cNvSpPr/>
          <p:nvPr/>
        </p:nvSpPr>
        <p:spPr>
          <a:xfrm>
            <a:off x="6614160" y="4206240"/>
            <a:ext cx="4876800" cy="4937760"/>
          </a:xfrm>
          <a:prstGeom prst="roundRect">
            <a:avLst>
              <a:gd name="adj" fmla="val 5000"/>
            </a:avLst>
          </a:prstGeom>
          <a:solidFill>
            <a:srgbClr val="FFFFFF"/>
          </a:solidFill>
          <a:ln w="12700">
            <a:solidFill>
              <a:srgbClr val="041326"/>
            </a:solid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37160" bIns="137160"/>
          <a:lstStyle/>
          <a:p>
            <a:pPr algn="ctr"/>
          </a:p>
        </p:txBody>
      </p:sp>
      <p:sp>
        <p:nvSpPr>
          <p:cNvPr id="21" name="Rounded Rectangle 20"/>
          <p:cNvSpPr/>
          <p:nvPr/>
        </p:nvSpPr>
        <p:spPr>
          <a:xfrm>
            <a:off x="6888480" y="4434840"/>
            <a:ext cx="2185416" cy="292608"/>
          </a:xfrm>
          <a:prstGeom prst="roundRect">
            <a:avLst>
              <a:gd name="adj" fmla="val 5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tIns="18288" bIns="18288"/>
          <a:lstStyle/>
          <a:p>
            <a:pPr algn="ctr"/>
            <a:r>
              <a:rPr sz="1000" b="1">
                <a:solidFill>
                  <a:srgbClr val="041326"/>
                </a:solidFill>
                <a:latin typeface="Libre Franklin"/>
              </a:rPr>
              <a:t>CONNECTIVE TISSUE</a:t>
            </a:r>
          </a:p>
        </p:txBody>
      </p:sp>
      <p:sp>
        <p:nvSpPr>
          <p:cNvPr id="22" name="TextBox 21"/>
          <p:cNvSpPr txBox="1"/>
          <p:nvPr/>
        </p:nvSpPr>
        <p:spPr>
          <a:xfrm>
            <a:off x="6888480" y="4892040"/>
            <a:ext cx="4328160" cy="822960"/>
          </a:xfrm>
          <a:prstGeom prst="rect">
            <a:avLst/>
          </a:prstGeom>
          <a:noFill/>
        </p:spPr>
        <p:txBody>
          <a:bodyPr wrap="square" lIns="0" rIns="0" tIns="0" bIns="0" anchor="t"/>
          <a:lstStyle/>
          <a:p>
            <a:pPr algn="l">
              <a:lnSpc>
                <a:spcPct val="100000"/>
              </a:lnSpc>
            </a:pPr>
            <a:r>
              <a:rPr sz="3600" b="1" i="0">
                <a:solidFill>
                  <a:srgbClr val="041326"/>
                </a:solidFill>
                <a:latin typeface="Libre Franklin"/>
              </a:rPr>
              <a:t>Trust</a:t>
            </a:r>
          </a:p>
        </p:txBody>
      </p:sp>
      <p:sp>
        <p:nvSpPr>
          <p:cNvPr id="23" name="TextBox 22"/>
          <p:cNvSpPr txBox="1"/>
          <p:nvPr/>
        </p:nvSpPr>
        <p:spPr>
          <a:xfrm>
            <a:off x="6888480" y="5852160"/>
            <a:ext cx="4328160" cy="1828800"/>
          </a:xfrm>
          <a:prstGeom prst="rect">
            <a:avLst/>
          </a:prstGeom>
          <a:noFill/>
        </p:spPr>
        <p:txBody>
          <a:bodyPr wrap="square" lIns="0" rIns="0" tIns="0" bIns="0" anchor="t"/>
          <a:lstStyle/>
          <a:p>
            <a:pPr algn="l">
              <a:lnSpc>
                <a:spcPct val="155000"/>
              </a:lnSpc>
            </a:pPr>
            <a:r>
              <a:rPr sz="1300" b="0" i="0">
                <a:solidFill>
                  <a:srgbClr val="041326"/>
                </a:solidFill>
                <a:latin typeface="Libre Franklin"/>
              </a:rPr>
              <a:t>Identity, consent, risk, compliance — not as checkboxes, but as shared infrastructure that connects everything. Reusable across products, markets and channels.</a:t>
            </a:r>
          </a:p>
        </p:txBody>
      </p:sp>
      <p:cxnSp>
        <p:nvCxnSpPr>
          <p:cNvPr id="24" name="Connector 23"/>
          <p:cNvCxnSpPr/>
          <p:nvPr/>
        </p:nvCxnSpPr>
        <p:spPr>
          <a:xfrm>
            <a:off x="6888480" y="7863840"/>
            <a:ext cx="4328160" cy="0"/>
          </a:xfrm>
          <a:prstGeom prst="line">
            <a:avLst/>
          </a:prstGeom>
          <a:ln w="6350">
            <a:solidFill>
              <a:srgbClr val="E5EA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888480" y="8001000"/>
            <a:ext cx="4328160" cy="1005840"/>
          </a:xfrm>
          <a:prstGeom prst="rect">
            <a:avLst/>
          </a:prstGeom>
          <a:noFill/>
        </p:spPr>
        <p:txBody>
          <a:bodyPr wrap="square" lIns="0" rIns="0" tIns="0" bIns="0" anchor="t"/>
          <a:lstStyle/>
          <a:p>
            <a:pPr algn="l">
              <a:lnSpc>
                <a:spcPct val="150000"/>
              </a:lnSpc>
            </a:pPr>
            <a:r>
              <a:rPr sz="1200" b="0" i="1">
                <a:solidFill>
                  <a:srgbClr val="5C6E84"/>
                </a:solidFill>
                <a:latin typeface="Libre Franklin"/>
              </a:rPr>
              <a:t>When the AI advises, the bank that can explain HOW — provenance, peers, history — earns trust. The one that can't, doesn't.</a:t>
            </a:r>
          </a:p>
        </p:txBody>
      </p:sp>
      <p:sp>
        <p:nvSpPr>
          <p:cNvPr id="26" name="TextBox 25"/>
          <p:cNvSpPr txBox="1"/>
          <p:nvPr/>
        </p:nvSpPr>
        <p:spPr>
          <a:xfrm>
            <a:off x="11536680" y="6492240"/>
            <a:ext cx="365760" cy="365760"/>
          </a:xfrm>
          <a:prstGeom prst="rect">
            <a:avLst/>
          </a:prstGeom>
          <a:noFill/>
        </p:spPr>
        <p:txBody>
          <a:bodyPr wrap="square" lIns="0" rIns="0" tIns="0" bIns="0" anchor="ctr"/>
          <a:lstStyle/>
          <a:p>
            <a:pPr algn="ctr">
              <a:lnSpc>
                <a:spcPct val="120000"/>
              </a:lnSpc>
            </a:pPr>
            <a:r>
              <a:rPr sz="2800" b="1" i="0">
                <a:solidFill>
                  <a:srgbClr val="3366FF"/>
                </a:solidFill>
                <a:latin typeface="Libre Franklin"/>
              </a:rPr>
              <a:t>→</a:t>
            </a:r>
          </a:p>
        </p:txBody>
      </p:sp>
      <p:sp>
        <p:nvSpPr>
          <p:cNvPr id="27" name="Rounded Rectangle 26"/>
          <p:cNvSpPr/>
          <p:nvPr/>
        </p:nvSpPr>
        <p:spPr>
          <a:xfrm>
            <a:off x="11948160" y="4206240"/>
            <a:ext cx="4876800" cy="4937760"/>
          </a:xfrm>
          <a:prstGeom prst="roundRect">
            <a:avLst>
              <a:gd name="adj" fmla="val 5000"/>
            </a:avLst>
          </a:prstGeom>
          <a:solidFill>
            <a:srgbClr val="FFFFFF"/>
          </a:solidFill>
          <a:ln w="12700">
            <a:solidFill>
              <a:srgbClr val="3366FF"/>
            </a:solid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37160" bIns="137160"/>
          <a:lstStyle/>
          <a:p>
            <a:pPr algn="ctr"/>
          </a:p>
        </p:txBody>
      </p:sp>
      <p:sp>
        <p:nvSpPr>
          <p:cNvPr id="28" name="Rounded Rectangle 27"/>
          <p:cNvSpPr/>
          <p:nvPr/>
        </p:nvSpPr>
        <p:spPr>
          <a:xfrm>
            <a:off x="12222480" y="4434840"/>
            <a:ext cx="2185416" cy="292608"/>
          </a:xfrm>
          <a:prstGeom prst="roundRect">
            <a:avLst>
              <a:gd name="adj" fmla="val 50000"/>
            </a:avLst>
          </a:prstGeom>
          <a:solidFill>
            <a:srgbClr val="E5EB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tIns="18288" bIns="18288"/>
          <a:lstStyle/>
          <a:p>
            <a:pPr algn="ctr"/>
            <a:r>
              <a:rPr sz="1000" b="1">
                <a:solidFill>
                  <a:srgbClr val="3366FF"/>
                </a:solidFill>
                <a:latin typeface="Libre Franklin"/>
              </a:rPr>
              <a:t>EMERGING FRONTIER</a:t>
            </a:r>
          </a:p>
        </p:txBody>
      </p:sp>
      <p:sp>
        <p:nvSpPr>
          <p:cNvPr id="29" name="TextBox 28"/>
          <p:cNvSpPr txBox="1"/>
          <p:nvPr/>
        </p:nvSpPr>
        <p:spPr>
          <a:xfrm>
            <a:off x="12222480" y="4892040"/>
            <a:ext cx="4328160" cy="822960"/>
          </a:xfrm>
          <a:prstGeom prst="rect">
            <a:avLst/>
          </a:prstGeom>
          <a:noFill/>
        </p:spPr>
        <p:txBody>
          <a:bodyPr wrap="square" lIns="0" rIns="0" tIns="0" bIns="0" anchor="t"/>
          <a:lstStyle/>
          <a:p>
            <a:pPr algn="l">
              <a:lnSpc>
                <a:spcPct val="100000"/>
              </a:lnSpc>
            </a:pPr>
            <a:r>
              <a:rPr sz="3600" b="1" i="0">
                <a:solidFill>
                  <a:srgbClr val="3366FF"/>
                </a:solidFill>
                <a:latin typeface="Libre Franklin"/>
              </a:rPr>
              <a:t>Intent</a:t>
            </a:r>
          </a:p>
        </p:txBody>
      </p:sp>
      <p:sp>
        <p:nvSpPr>
          <p:cNvPr id="30" name="TextBox 29"/>
          <p:cNvSpPr txBox="1"/>
          <p:nvPr/>
        </p:nvSpPr>
        <p:spPr>
          <a:xfrm>
            <a:off x="12222480" y="5852160"/>
            <a:ext cx="4328160" cy="1828800"/>
          </a:xfrm>
          <a:prstGeom prst="rect">
            <a:avLst/>
          </a:prstGeom>
          <a:noFill/>
        </p:spPr>
        <p:txBody>
          <a:bodyPr wrap="square" lIns="0" rIns="0" tIns="0" bIns="0" anchor="t"/>
          <a:lstStyle/>
          <a:p>
            <a:pPr algn="l">
              <a:lnSpc>
                <a:spcPct val="155000"/>
              </a:lnSpc>
            </a:pPr>
            <a:r>
              <a:rPr sz="1300" b="0" i="0">
                <a:solidFill>
                  <a:srgbClr val="041326"/>
                </a:solidFill>
                <a:latin typeface="Libre Franklin"/>
              </a:rPr>
              <a:t>AI that doesn't just report or respond — it acts. Within governed boundaries.</a:t>
            </a:r>
          </a:p>
        </p:txBody>
      </p:sp>
      <p:cxnSp>
        <p:nvCxnSpPr>
          <p:cNvPr id="31" name="Connector 30"/>
          <p:cNvCxnSpPr/>
          <p:nvPr/>
        </p:nvCxnSpPr>
        <p:spPr>
          <a:xfrm>
            <a:off x="12222480" y="7863840"/>
            <a:ext cx="4328160" cy="0"/>
          </a:xfrm>
          <a:prstGeom prst="line">
            <a:avLst/>
          </a:prstGeom>
          <a:ln w="6350">
            <a:solidFill>
              <a:srgbClr val="E5EBFF"/>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2222480" y="8001000"/>
            <a:ext cx="4328160" cy="1005840"/>
          </a:xfrm>
          <a:prstGeom prst="rect">
            <a:avLst/>
          </a:prstGeom>
          <a:noFill/>
        </p:spPr>
        <p:txBody>
          <a:bodyPr wrap="square" lIns="0" rIns="0" tIns="0" bIns="0" anchor="t"/>
          <a:lstStyle/>
          <a:p>
            <a:pPr algn="l">
              <a:lnSpc>
                <a:spcPct val="150000"/>
              </a:lnSpc>
            </a:pPr>
            <a:r>
              <a:rPr sz="1200" b="0" i="1">
                <a:solidFill>
                  <a:srgbClr val="5C6E84"/>
                </a:solidFill>
                <a:latin typeface="Libre Franklin"/>
              </a:rPr>
              <a:t>Approves a top-up. Books a wealth review. Settles a dispute. Trust converts to the next product sale.</a:t>
            </a:r>
          </a:p>
        </p:txBody>
      </p:sp>
      <p:sp>
        <p:nvSpPr>
          <p:cNvPr id="33" name="Rounded Rectangle 32"/>
          <p:cNvSpPr/>
          <p:nvPr/>
        </p:nvSpPr>
        <p:spPr>
          <a:xfrm>
            <a:off x="1280160" y="9189720"/>
            <a:ext cx="15544800" cy="365760"/>
          </a:xfrm>
          <a:prstGeom prst="roundRect">
            <a:avLst>
              <a:gd name="adj" fmla="val 20000"/>
            </a:avLst>
          </a:prstGeom>
          <a:solidFill>
            <a:srgbClr val="E5E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r>
              <a:rPr sz="1100">
                <a:solidFill>
                  <a:srgbClr val="041326"/>
                </a:solidFill>
                <a:latin typeface="Libre Franklin"/>
              </a:rPr>
              <a:t>Value is migrating from the product to the trust layer, and from trust to intent. The banks that connect trust to real-time decisioning at scale earn the customer's next move.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85216" y="457200"/>
            <a:ext cx="82296"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39496"/>
            <a:ext cx="164592"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0352"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7757648"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86868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0" y="960120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6002000" y="9738360"/>
            <a:ext cx="1463040" cy="365760"/>
          </a:xfrm>
          <a:prstGeom prst="rect">
            <a:avLst/>
          </a:prstGeom>
          <a:noFill/>
        </p:spPr>
        <p:txBody>
          <a:bodyPr wrap="square" lIns="0" rIns="0" tIns="0" bIns="0" anchor="t"/>
          <a:lstStyle/>
          <a:p>
            <a:pPr algn="r">
              <a:lnSpc>
                <a:spcPct val="120000"/>
              </a:lnSpc>
            </a:pPr>
            <a:r>
              <a:rPr sz="1400" b="1" i="0">
                <a:solidFill>
                  <a:srgbClr val="041326"/>
                </a:solidFill>
                <a:latin typeface="Libre Franklin"/>
              </a:rPr>
              <a:t>Backbase</a:t>
            </a:r>
          </a:p>
        </p:txBody>
      </p:sp>
      <p:sp>
        <p:nvSpPr>
          <p:cNvPr id="9" name="TextBox 8"/>
          <p:cNvSpPr txBox="1"/>
          <p:nvPr/>
        </p:nvSpPr>
        <p:spPr>
          <a:xfrm>
            <a:off x="17556480" y="9738360"/>
            <a:ext cx="457200" cy="365760"/>
          </a:xfrm>
          <a:prstGeom prst="rect">
            <a:avLst/>
          </a:prstGeom>
          <a:noFill/>
        </p:spPr>
        <p:txBody>
          <a:bodyPr wrap="square" lIns="0" rIns="0" tIns="0" bIns="0" anchor="t"/>
          <a:lstStyle/>
          <a:p>
            <a:pPr algn="r">
              <a:lnSpc>
                <a:spcPct val="120000"/>
              </a:lnSpc>
            </a:pPr>
            <a:r>
              <a:rPr sz="1000" b="0" i="0">
                <a:solidFill>
                  <a:srgbClr val="041326"/>
                </a:solidFill>
                <a:latin typeface="Libre Franklin"/>
              </a:rPr>
              <a:t>5 / 13</a:t>
            </a:r>
          </a:p>
        </p:txBody>
      </p:sp>
      <p:sp>
        <p:nvSpPr>
          <p:cNvPr id="10" name="TextBox 9"/>
          <p:cNvSpPr txBox="1"/>
          <p:nvPr/>
        </p:nvSpPr>
        <p:spPr>
          <a:xfrm>
            <a:off x="1280160" y="1280160"/>
            <a:ext cx="15544800" cy="365760"/>
          </a:xfrm>
          <a:prstGeom prst="rect">
            <a:avLst/>
          </a:prstGeom>
          <a:noFill/>
        </p:spPr>
        <p:txBody>
          <a:bodyPr wrap="square" lIns="0" rIns="0" tIns="0" bIns="0" anchor="t"/>
          <a:lstStyle/>
          <a:p>
            <a:pPr algn="l">
              <a:lnSpc>
                <a:spcPct val="120000"/>
              </a:lnSpc>
            </a:pPr>
            <a:r>
              <a:rPr sz="1400" b="0" i="0">
                <a:solidFill>
                  <a:srgbClr val="5C6E84"/>
                </a:solidFill>
                <a:latin typeface="Libre Franklin"/>
              </a:rPr>
              <a:t>THE CHAIN · WHERE THE NEXT MOAT IS</a:t>
            </a:r>
          </a:p>
        </p:txBody>
      </p:sp>
      <p:sp>
        <p:nvSpPr>
          <p:cNvPr id="11" name="TextBox 10"/>
          <p:cNvSpPr txBox="1"/>
          <p:nvPr/>
        </p:nvSpPr>
        <p:spPr>
          <a:xfrm>
            <a:off x="1280160" y="1737360"/>
            <a:ext cx="15544800" cy="1005840"/>
          </a:xfrm>
          <a:prstGeom prst="rect">
            <a:avLst/>
          </a:prstGeom>
          <a:noFill/>
        </p:spPr>
        <p:txBody>
          <a:bodyPr wrap="square" lIns="0" rIns="0" tIns="0" bIns="0" anchor="t"/>
          <a:lstStyle/>
          <a:p>
            <a:pPr algn="l">
              <a:lnSpc>
                <a:spcPct val="115000"/>
              </a:lnSpc>
            </a:pPr>
            <a:r>
              <a:rPr sz="4400" b="0" i="0">
                <a:solidFill>
                  <a:srgbClr val="041326"/>
                </a:solidFill>
                <a:latin typeface="Libre Franklin"/>
              </a:rPr>
              <a:t>Differentiation moves up the stack.</a:t>
            </a:r>
          </a:p>
        </p:txBody>
      </p:sp>
      <p:sp>
        <p:nvSpPr>
          <p:cNvPr id="12" name="TextBox 11"/>
          <p:cNvSpPr txBox="1"/>
          <p:nvPr/>
        </p:nvSpPr>
        <p:spPr>
          <a:xfrm>
            <a:off x="1280160" y="2834640"/>
            <a:ext cx="15544800" cy="731520"/>
          </a:xfrm>
          <a:prstGeom prst="rect">
            <a:avLst/>
          </a:prstGeom>
          <a:noFill/>
        </p:spPr>
        <p:txBody>
          <a:bodyPr wrap="square" lIns="0" rIns="0" tIns="0" bIns="0" anchor="t"/>
          <a:lstStyle/>
          <a:p>
            <a:pPr algn="l">
              <a:lnSpc>
                <a:spcPct val="145000"/>
              </a:lnSpc>
            </a:pPr>
            <a:r>
              <a:rPr sz="1800" b="0" i="0">
                <a:solidFill>
                  <a:srgbClr val="3366FF"/>
                </a:solidFill>
                <a:latin typeface="Libre Franklin"/>
              </a:rPr>
              <a:t>Banks competed bottom-up — Wallet, then Mind. AI flips it: Trust first, and the chain compounds back to a bigger wallet.</a:t>
            </a:r>
          </a:p>
        </p:txBody>
      </p:sp>
      <p:sp>
        <p:nvSpPr>
          <p:cNvPr id="13" name="Rounded Rectangle 12"/>
          <p:cNvSpPr/>
          <p:nvPr/>
        </p:nvSpPr>
        <p:spPr>
          <a:xfrm>
            <a:off x="1280160" y="4206240"/>
            <a:ext cx="3611880" cy="4572000"/>
          </a:xfrm>
          <a:prstGeom prst="roundRect">
            <a:avLst>
              <a:gd name="adj" fmla="val 5000"/>
            </a:avLst>
          </a:prstGeom>
          <a:solidFill>
            <a:srgbClr val="FFFFFF"/>
          </a:solidFill>
          <a:ln w="12700">
            <a:solidFill>
              <a:srgbClr val="3366FF"/>
            </a:solid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37160" bIns="137160"/>
          <a:lstStyle/>
          <a:p>
            <a:pPr algn="ctr"/>
          </a:p>
        </p:txBody>
      </p:sp>
      <p:sp>
        <p:nvSpPr>
          <p:cNvPr id="14" name="Rounded Rectangle 13"/>
          <p:cNvSpPr/>
          <p:nvPr/>
        </p:nvSpPr>
        <p:spPr>
          <a:xfrm>
            <a:off x="1508760" y="4434840"/>
            <a:ext cx="1307592" cy="292608"/>
          </a:xfrm>
          <a:prstGeom prst="roundRect">
            <a:avLst>
              <a:gd name="adj" fmla="val 50000"/>
            </a:avLst>
          </a:prstGeom>
          <a:solidFill>
            <a:srgbClr val="E5EB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tIns="18288" bIns="18288"/>
          <a:lstStyle/>
          <a:p>
            <a:pPr algn="ctr"/>
            <a:r>
              <a:rPr sz="900" b="1">
                <a:solidFill>
                  <a:srgbClr val="3366FF"/>
                </a:solidFill>
                <a:latin typeface="Libre Franklin"/>
              </a:rPr>
              <a:t>FOUNDATION</a:t>
            </a:r>
          </a:p>
        </p:txBody>
      </p:sp>
      <p:sp>
        <p:nvSpPr>
          <p:cNvPr id="15" name="TextBox 14"/>
          <p:cNvSpPr txBox="1"/>
          <p:nvPr/>
        </p:nvSpPr>
        <p:spPr>
          <a:xfrm>
            <a:off x="1508760" y="4892040"/>
            <a:ext cx="3154680" cy="822960"/>
          </a:xfrm>
          <a:prstGeom prst="rect">
            <a:avLst/>
          </a:prstGeom>
          <a:noFill/>
        </p:spPr>
        <p:txBody>
          <a:bodyPr wrap="square" lIns="0" rIns="0" tIns="0" bIns="0" anchor="t"/>
          <a:lstStyle/>
          <a:p>
            <a:pPr algn="l">
              <a:lnSpc>
                <a:spcPct val="100000"/>
              </a:lnSpc>
            </a:pPr>
            <a:r>
              <a:rPr sz="3200" b="1" i="0">
                <a:solidFill>
                  <a:srgbClr val="3366FF"/>
                </a:solidFill>
                <a:latin typeface="Libre Franklin"/>
              </a:rPr>
              <a:t>Trust</a:t>
            </a:r>
          </a:p>
        </p:txBody>
      </p:sp>
      <p:sp>
        <p:nvSpPr>
          <p:cNvPr id="16" name="TextBox 15"/>
          <p:cNvSpPr txBox="1"/>
          <p:nvPr/>
        </p:nvSpPr>
        <p:spPr>
          <a:xfrm>
            <a:off x="1508760" y="5852160"/>
            <a:ext cx="3154680" cy="2743200"/>
          </a:xfrm>
          <a:prstGeom prst="rect">
            <a:avLst/>
          </a:prstGeom>
          <a:noFill/>
        </p:spPr>
        <p:txBody>
          <a:bodyPr wrap="square" lIns="0" rIns="0" tIns="0" bIns="0" anchor="t"/>
          <a:lstStyle/>
          <a:p>
            <a:pPr algn="l">
              <a:lnSpc>
                <a:spcPct val="155000"/>
              </a:lnSpc>
            </a:pPr>
            <a:r>
              <a:rPr sz="1200" b="0" i="0">
                <a:solidFill>
                  <a:srgbClr val="041326"/>
                </a:solidFill>
                <a:latin typeface="Libre Franklin"/>
              </a:rPr>
              <a:t>Digitised, provable, audited. Not a brand claim — plumbing. Explainability, provenance, consent, oversight become product features.</a:t>
            </a:r>
          </a:p>
        </p:txBody>
      </p:sp>
      <p:sp>
        <p:nvSpPr>
          <p:cNvPr id="17" name="TextBox 16"/>
          <p:cNvSpPr txBox="1"/>
          <p:nvPr/>
        </p:nvSpPr>
        <p:spPr>
          <a:xfrm>
            <a:off x="4892040" y="6309360"/>
            <a:ext cx="365760" cy="365760"/>
          </a:xfrm>
          <a:prstGeom prst="rect">
            <a:avLst/>
          </a:prstGeom>
          <a:noFill/>
        </p:spPr>
        <p:txBody>
          <a:bodyPr wrap="square" lIns="0" rIns="0" tIns="0" bIns="0" anchor="ctr"/>
          <a:lstStyle/>
          <a:p>
            <a:pPr algn="ctr">
              <a:lnSpc>
                <a:spcPct val="120000"/>
              </a:lnSpc>
            </a:pPr>
            <a:r>
              <a:rPr sz="2800" b="1" i="0">
                <a:solidFill>
                  <a:srgbClr val="3366FF"/>
                </a:solidFill>
                <a:latin typeface="Libre Franklin"/>
              </a:rPr>
              <a:t>→</a:t>
            </a:r>
          </a:p>
        </p:txBody>
      </p:sp>
      <p:sp>
        <p:nvSpPr>
          <p:cNvPr id="18" name="Rounded Rectangle 17"/>
          <p:cNvSpPr/>
          <p:nvPr/>
        </p:nvSpPr>
        <p:spPr>
          <a:xfrm>
            <a:off x="5257800" y="4206240"/>
            <a:ext cx="3611880" cy="4572000"/>
          </a:xfrm>
          <a:prstGeom prst="roundRect">
            <a:avLst>
              <a:gd name="adj" fmla="val 5000"/>
            </a:avLst>
          </a:prstGeom>
          <a:solidFill>
            <a:srgbClr val="FFFFFF"/>
          </a:solidFill>
          <a:ln w="12700">
            <a:solidFill>
              <a:srgbClr val="3366FF"/>
            </a:solid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37160" bIns="137160"/>
          <a:lstStyle/>
          <a:p>
            <a:pPr algn="ctr"/>
          </a:p>
        </p:txBody>
      </p:sp>
      <p:sp>
        <p:nvSpPr>
          <p:cNvPr id="19" name="Rounded Rectangle 18"/>
          <p:cNvSpPr/>
          <p:nvPr/>
        </p:nvSpPr>
        <p:spPr>
          <a:xfrm>
            <a:off x="5486400" y="4434840"/>
            <a:ext cx="912571" cy="292608"/>
          </a:xfrm>
          <a:prstGeom prst="roundRect">
            <a:avLst>
              <a:gd name="adj" fmla="val 50000"/>
            </a:avLst>
          </a:prstGeom>
          <a:solidFill>
            <a:srgbClr val="E5EB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tIns="18288" bIns="18288"/>
          <a:lstStyle/>
          <a:p>
            <a:pPr algn="ctr"/>
            <a:r>
              <a:rPr sz="900" b="1">
                <a:solidFill>
                  <a:srgbClr val="3366FF"/>
                </a:solidFill>
                <a:latin typeface="Libre Franklin"/>
              </a:rPr>
              <a:t>SIGNAL</a:t>
            </a:r>
          </a:p>
        </p:txBody>
      </p:sp>
      <p:sp>
        <p:nvSpPr>
          <p:cNvPr id="20" name="TextBox 19"/>
          <p:cNvSpPr txBox="1"/>
          <p:nvPr/>
        </p:nvSpPr>
        <p:spPr>
          <a:xfrm>
            <a:off x="5486400" y="4892040"/>
            <a:ext cx="3154680" cy="822960"/>
          </a:xfrm>
          <a:prstGeom prst="rect">
            <a:avLst/>
          </a:prstGeom>
          <a:noFill/>
        </p:spPr>
        <p:txBody>
          <a:bodyPr wrap="square" lIns="0" rIns="0" tIns="0" bIns="0" anchor="t"/>
          <a:lstStyle/>
          <a:p>
            <a:pPr algn="l">
              <a:lnSpc>
                <a:spcPct val="100000"/>
              </a:lnSpc>
            </a:pPr>
            <a:r>
              <a:rPr sz="3200" b="1" i="0">
                <a:solidFill>
                  <a:srgbClr val="3366FF"/>
                </a:solidFill>
                <a:latin typeface="Libre Franklin"/>
              </a:rPr>
              <a:t>Intent</a:t>
            </a:r>
          </a:p>
        </p:txBody>
      </p:sp>
      <p:sp>
        <p:nvSpPr>
          <p:cNvPr id="21" name="TextBox 20"/>
          <p:cNvSpPr txBox="1"/>
          <p:nvPr/>
        </p:nvSpPr>
        <p:spPr>
          <a:xfrm>
            <a:off x="5486400" y="5852160"/>
            <a:ext cx="3154680" cy="2743200"/>
          </a:xfrm>
          <a:prstGeom prst="rect">
            <a:avLst/>
          </a:prstGeom>
          <a:noFill/>
        </p:spPr>
        <p:txBody>
          <a:bodyPr wrap="square" lIns="0" rIns="0" tIns="0" bIns="0" anchor="t"/>
          <a:lstStyle/>
          <a:p>
            <a:pPr algn="l">
              <a:lnSpc>
                <a:spcPct val="155000"/>
              </a:lnSpc>
            </a:pPr>
            <a:r>
              <a:rPr sz="1200" b="0" i="0">
                <a:solidFill>
                  <a:srgbClr val="041326"/>
                </a:solidFill>
                <a:latin typeface="Libre Franklin"/>
              </a:rPr>
              <a:t>Captured, delegated, contracted. Customers (and their agents) hand banks a mandate to act. Banks that cannot accept one cannot compete.</a:t>
            </a:r>
          </a:p>
        </p:txBody>
      </p:sp>
      <p:sp>
        <p:nvSpPr>
          <p:cNvPr id="22" name="TextBox 21"/>
          <p:cNvSpPr txBox="1"/>
          <p:nvPr/>
        </p:nvSpPr>
        <p:spPr>
          <a:xfrm>
            <a:off x="8869680" y="6309360"/>
            <a:ext cx="365760" cy="365760"/>
          </a:xfrm>
          <a:prstGeom prst="rect">
            <a:avLst/>
          </a:prstGeom>
          <a:noFill/>
        </p:spPr>
        <p:txBody>
          <a:bodyPr wrap="square" lIns="0" rIns="0" tIns="0" bIns="0" anchor="ctr"/>
          <a:lstStyle/>
          <a:p>
            <a:pPr algn="ctr">
              <a:lnSpc>
                <a:spcPct val="120000"/>
              </a:lnSpc>
            </a:pPr>
            <a:r>
              <a:rPr sz="2800" b="1" i="0">
                <a:solidFill>
                  <a:srgbClr val="3366FF"/>
                </a:solidFill>
                <a:latin typeface="Libre Franklin"/>
              </a:rPr>
              <a:t>→</a:t>
            </a:r>
          </a:p>
        </p:txBody>
      </p:sp>
      <p:sp>
        <p:nvSpPr>
          <p:cNvPr id="23" name="Rounded Rectangle 22"/>
          <p:cNvSpPr/>
          <p:nvPr/>
        </p:nvSpPr>
        <p:spPr>
          <a:xfrm>
            <a:off x="9235440" y="4206240"/>
            <a:ext cx="3611880" cy="4572000"/>
          </a:xfrm>
          <a:prstGeom prst="roundRect">
            <a:avLst>
              <a:gd name="adj" fmla="val 5000"/>
            </a:avLst>
          </a:prstGeom>
          <a:solidFill>
            <a:srgbClr val="FFFFFF"/>
          </a:solidFill>
          <a:ln w="12700">
            <a:solidFill>
              <a:srgbClr val="3366FF"/>
            </a:solid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37160" bIns="137160"/>
          <a:lstStyle/>
          <a:p>
            <a:pPr algn="ctr"/>
          </a:p>
        </p:txBody>
      </p:sp>
      <p:sp>
        <p:nvSpPr>
          <p:cNvPr id="24" name="Rounded Rectangle 23"/>
          <p:cNvSpPr/>
          <p:nvPr/>
        </p:nvSpPr>
        <p:spPr>
          <a:xfrm>
            <a:off x="9464040" y="4434840"/>
            <a:ext cx="1208836" cy="292608"/>
          </a:xfrm>
          <a:prstGeom prst="roundRect">
            <a:avLst>
              <a:gd name="adj" fmla="val 50000"/>
            </a:avLst>
          </a:prstGeom>
          <a:solidFill>
            <a:srgbClr val="E5EB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tIns="18288" bIns="18288"/>
          <a:lstStyle/>
          <a:p>
            <a:pPr algn="ctr"/>
            <a:r>
              <a:rPr sz="900" b="1">
                <a:solidFill>
                  <a:srgbClr val="3366FF"/>
                </a:solidFill>
                <a:latin typeface="Libre Franklin"/>
              </a:rPr>
              <a:t>EXECUTION</a:t>
            </a:r>
          </a:p>
        </p:txBody>
      </p:sp>
      <p:sp>
        <p:nvSpPr>
          <p:cNvPr id="25" name="TextBox 24"/>
          <p:cNvSpPr txBox="1"/>
          <p:nvPr/>
        </p:nvSpPr>
        <p:spPr>
          <a:xfrm>
            <a:off x="9464040" y="4892040"/>
            <a:ext cx="3154680" cy="822960"/>
          </a:xfrm>
          <a:prstGeom prst="rect">
            <a:avLst/>
          </a:prstGeom>
          <a:noFill/>
        </p:spPr>
        <p:txBody>
          <a:bodyPr wrap="square" lIns="0" rIns="0" tIns="0" bIns="0" anchor="t"/>
          <a:lstStyle/>
          <a:p>
            <a:pPr algn="l">
              <a:lnSpc>
                <a:spcPct val="100000"/>
              </a:lnSpc>
            </a:pPr>
            <a:r>
              <a:rPr sz="3200" b="1" i="0">
                <a:solidFill>
                  <a:srgbClr val="3366FF"/>
                </a:solidFill>
                <a:latin typeface="Libre Franklin"/>
              </a:rPr>
              <a:t>Orchestration</a:t>
            </a:r>
          </a:p>
        </p:txBody>
      </p:sp>
      <p:sp>
        <p:nvSpPr>
          <p:cNvPr id="26" name="TextBox 25"/>
          <p:cNvSpPr txBox="1"/>
          <p:nvPr/>
        </p:nvSpPr>
        <p:spPr>
          <a:xfrm>
            <a:off x="9464040" y="5852160"/>
            <a:ext cx="3154680" cy="2743200"/>
          </a:xfrm>
          <a:prstGeom prst="rect">
            <a:avLst/>
          </a:prstGeom>
          <a:noFill/>
        </p:spPr>
        <p:txBody>
          <a:bodyPr wrap="square" lIns="0" rIns="0" tIns="0" bIns="0" anchor="t"/>
          <a:lstStyle/>
          <a:p>
            <a:pPr algn="l">
              <a:lnSpc>
                <a:spcPct val="155000"/>
              </a:lnSpc>
            </a:pPr>
            <a:r>
              <a:rPr sz="1200" b="0" i="0">
                <a:solidFill>
                  <a:srgbClr val="041326"/>
                </a:solidFill>
                <a:latin typeface="Libre Franklin"/>
              </a:rPr>
              <a:t>Hand-offs across customer × employee × agent — without dropped context. The moat lives in the seams, not in any single channel.</a:t>
            </a:r>
          </a:p>
        </p:txBody>
      </p:sp>
      <p:sp>
        <p:nvSpPr>
          <p:cNvPr id="27" name="TextBox 26"/>
          <p:cNvSpPr txBox="1"/>
          <p:nvPr/>
        </p:nvSpPr>
        <p:spPr>
          <a:xfrm>
            <a:off x="12847320" y="6309360"/>
            <a:ext cx="365760" cy="365760"/>
          </a:xfrm>
          <a:prstGeom prst="rect">
            <a:avLst/>
          </a:prstGeom>
          <a:noFill/>
        </p:spPr>
        <p:txBody>
          <a:bodyPr wrap="square" lIns="0" rIns="0" tIns="0" bIns="0" anchor="ctr"/>
          <a:lstStyle/>
          <a:p>
            <a:pPr algn="ctr">
              <a:lnSpc>
                <a:spcPct val="120000"/>
              </a:lnSpc>
            </a:pPr>
            <a:r>
              <a:rPr sz="2800" b="1" i="0">
                <a:solidFill>
                  <a:srgbClr val="3366FF"/>
                </a:solidFill>
                <a:latin typeface="Libre Franklin"/>
              </a:rPr>
              <a:t>→</a:t>
            </a:r>
          </a:p>
        </p:txBody>
      </p:sp>
      <p:sp>
        <p:nvSpPr>
          <p:cNvPr id="28" name="Rounded Rectangle 27"/>
          <p:cNvSpPr/>
          <p:nvPr/>
        </p:nvSpPr>
        <p:spPr>
          <a:xfrm>
            <a:off x="13213080" y="4206240"/>
            <a:ext cx="3611880" cy="4572000"/>
          </a:xfrm>
          <a:prstGeom prst="roundRect">
            <a:avLst>
              <a:gd name="adj" fmla="val 5000"/>
            </a:avLst>
          </a:prstGeom>
          <a:solidFill>
            <a:srgbClr val="E5EBFF"/>
          </a:solidFill>
          <a:ln w="12700">
            <a:solidFill>
              <a:srgbClr val="041326"/>
            </a:solid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37160" bIns="137160"/>
          <a:lstStyle/>
          <a:p>
            <a:pPr algn="ctr"/>
          </a:p>
        </p:txBody>
      </p:sp>
      <p:sp>
        <p:nvSpPr>
          <p:cNvPr id="29" name="Rounded Rectangle 28"/>
          <p:cNvSpPr/>
          <p:nvPr/>
        </p:nvSpPr>
        <p:spPr>
          <a:xfrm>
            <a:off x="13441680" y="4434840"/>
            <a:ext cx="1011326" cy="292608"/>
          </a:xfrm>
          <a:prstGeom prst="roundRect">
            <a:avLst>
              <a:gd name="adj" fmla="val 50000"/>
            </a:avLst>
          </a:prstGeom>
          <a:solidFill>
            <a:srgbClr val="E5EB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tIns="18288" bIns="18288"/>
          <a:lstStyle/>
          <a:p>
            <a:pPr algn="ctr"/>
            <a:r>
              <a:rPr sz="900" b="1">
                <a:solidFill>
                  <a:srgbClr val="3366FF"/>
                </a:solidFill>
                <a:latin typeface="Libre Franklin"/>
              </a:rPr>
              <a:t>OUTCOME</a:t>
            </a:r>
          </a:p>
        </p:txBody>
      </p:sp>
      <p:sp>
        <p:nvSpPr>
          <p:cNvPr id="30" name="TextBox 29"/>
          <p:cNvSpPr txBox="1"/>
          <p:nvPr/>
        </p:nvSpPr>
        <p:spPr>
          <a:xfrm>
            <a:off x="13441680" y="4892040"/>
            <a:ext cx="3154680" cy="822960"/>
          </a:xfrm>
          <a:prstGeom prst="rect">
            <a:avLst/>
          </a:prstGeom>
          <a:noFill/>
        </p:spPr>
        <p:txBody>
          <a:bodyPr wrap="square" lIns="0" rIns="0" tIns="0" bIns="0" anchor="t"/>
          <a:lstStyle/>
          <a:p>
            <a:pPr algn="l">
              <a:lnSpc>
                <a:spcPct val="100000"/>
              </a:lnSpc>
            </a:pPr>
            <a:r>
              <a:rPr sz="3200" b="1" i="0">
                <a:solidFill>
                  <a:srgbClr val="041326"/>
                </a:solidFill>
                <a:latin typeface="Libre Franklin"/>
              </a:rPr>
              <a:t>Share of wallet</a:t>
            </a:r>
          </a:p>
        </p:txBody>
      </p:sp>
      <p:sp>
        <p:nvSpPr>
          <p:cNvPr id="31" name="TextBox 30"/>
          <p:cNvSpPr txBox="1"/>
          <p:nvPr/>
        </p:nvSpPr>
        <p:spPr>
          <a:xfrm>
            <a:off x="13441680" y="5852160"/>
            <a:ext cx="3154680" cy="2743200"/>
          </a:xfrm>
          <a:prstGeom prst="rect">
            <a:avLst/>
          </a:prstGeom>
          <a:noFill/>
        </p:spPr>
        <p:txBody>
          <a:bodyPr wrap="square" lIns="0" rIns="0" tIns="0" bIns="0" anchor="t"/>
          <a:lstStyle/>
          <a:p>
            <a:pPr algn="l">
              <a:lnSpc>
                <a:spcPct val="155000"/>
              </a:lnSpc>
            </a:pPr>
            <a:r>
              <a:rPr sz="1200" b="0" i="0">
                <a:solidFill>
                  <a:srgbClr val="041326"/>
                </a:solidFill>
                <a:latin typeface="Libre Franklin"/>
              </a:rPr>
              <a:t>The conversion that compounds. When the first three line up, the agent picks you — and the customer's next product follows.</a:t>
            </a:r>
          </a:p>
        </p:txBody>
      </p:sp>
      <p:sp>
        <p:nvSpPr>
          <p:cNvPr id="32" name="Rounded Rectangle 31"/>
          <p:cNvSpPr/>
          <p:nvPr/>
        </p:nvSpPr>
        <p:spPr>
          <a:xfrm>
            <a:off x="1280160" y="9189720"/>
            <a:ext cx="15544800" cy="365760"/>
          </a:xfrm>
          <a:prstGeom prst="roundRect">
            <a:avLst>
              <a:gd name="adj" fmla="val 20000"/>
            </a:avLst>
          </a:prstGeom>
          <a:solidFill>
            <a:srgbClr val="E5E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r>
              <a:rPr sz="1100" b="1">
                <a:solidFill>
                  <a:srgbClr val="041326"/>
                </a:solidFill>
                <a:latin typeface="Libre Franklin"/>
              </a:rPr>
              <a:t>Trust → Intent → Orchestration → Share of wallet. The order matters. Skip a link and the chain breaks.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85216" y="457200"/>
            <a:ext cx="82296"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39496"/>
            <a:ext cx="164592"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0352"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7757648"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86868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0" y="960120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6002000" y="9738360"/>
            <a:ext cx="1463040" cy="365760"/>
          </a:xfrm>
          <a:prstGeom prst="rect">
            <a:avLst/>
          </a:prstGeom>
          <a:noFill/>
        </p:spPr>
        <p:txBody>
          <a:bodyPr wrap="square" lIns="0" rIns="0" tIns="0" bIns="0" anchor="t"/>
          <a:lstStyle/>
          <a:p>
            <a:pPr algn="r">
              <a:lnSpc>
                <a:spcPct val="120000"/>
              </a:lnSpc>
            </a:pPr>
            <a:r>
              <a:rPr sz="1400" b="1" i="0">
                <a:solidFill>
                  <a:srgbClr val="041326"/>
                </a:solidFill>
                <a:latin typeface="Libre Franklin"/>
              </a:rPr>
              <a:t>Backbase</a:t>
            </a:r>
          </a:p>
        </p:txBody>
      </p:sp>
      <p:sp>
        <p:nvSpPr>
          <p:cNvPr id="9" name="TextBox 8"/>
          <p:cNvSpPr txBox="1"/>
          <p:nvPr/>
        </p:nvSpPr>
        <p:spPr>
          <a:xfrm>
            <a:off x="17556480" y="9738360"/>
            <a:ext cx="457200" cy="365760"/>
          </a:xfrm>
          <a:prstGeom prst="rect">
            <a:avLst/>
          </a:prstGeom>
          <a:noFill/>
        </p:spPr>
        <p:txBody>
          <a:bodyPr wrap="square" lIns="0" rIns="0" tIns="0" bIns="0" anchor="t"/>
          <a:lstStyle/>
          <a:p>
            <a:pPr algn="r">
              <a:lnSpc>
                <a:spcPct val="120000"/>
              </a:lnSpc>
            </a:pPr>
            <a:r>
              <a:rPr sz="1000" b="0" i="0">
                <a:solidFill>
                  <a:srgbClr val="041326"/>
                </a:solidFill>
                <a:latin typeface="Libre Franklin"/>
              </a:rPr>
              <a:t>6 / 13</a:t>
            </a:r>
          </a:p>
        </p:txBody>
      </p:sp>
      <p:sp>
        <p:nvSpPr>
          <p:cNvPr id="10" name="Rectangle 9"/>
          <p:cNvSpPr/>
          <p:nvPr/>
        </p:nvSpPr>
        <p:spPr>
          <a:xfrm>
            <a:off x="914400" y="3200400"/>
            <a:ext cx="16459200" cy="4114800"/>
          </a:xfrm>
          <a:prstGeom prst="rect">
            <a:avLst/>
          </a:prstGeom>
          <a:solidFill>
            <a:srgbClr val="E5E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37160" bIns="137160"/>
          <a:lstStyle/>
          <a:p>
            <a:pPr algn="ctr"/>
          </a:p>
        </p:txBody>
      </p:sp>
      <p:sp>
        <p:nvSpPr>
          <p:cNvPr id="11" name="TextBox 10"/>
          <p:cNvSpPr txBox="1"/>
          <p:nvPr/>
        </p:nvSpPr>
        <p:spPr>
          <a:xfrm>
            <a:off x="1280160" y="3566160"/>
            <a:ext cx="15544800" cy="457200"/>
          </a:xfrm>
          <a:prstGeom prst="rect">
            <a:avLst/>
          </a:prstGeom>
          <a:noFill/>
        </p:spPr>
        <p:txBody>
          <a:bodyPr wrap="square" lIns="0" rIns="0" tIns="0" bIns="0" anchor="t"/>
          <a:lstStyle/>
          <a:p>
            <a:pPr algn="l">
              <a:lnSpc>
                <a:spcPct val="120000"/>
              </a:lnSpc>
            </a:pPr>
            <a:r>
              <a:rPr sz="1400" b="0" i="0">
                <a:solidFill>
                  <a:srgbClr val="5C6E84"/>
                </a:solidFill>
                <a:latin typeface="Libre Franklin"/>
              </a:rPr>
              <a:t>VALIDATE · QUESTION 1 · TRUST</a:t>
            </a:r>
          </a:p>
        </p:txBody>
      </p:sp>
      <p:sp>
        <p:nvSpPr>
          <p:cNvPr id="12" name="TextBox 11"/>
          <p:cNvSpPr txBox="1"/>
          <p:nvPr/>
        </p:nvSpPr>
        <p:spPr>
          <a:xfrm>
            <a:off x="1280160" y="4297680"/>
            <a:ext cx="15544800" cy="2743200"/>
          </a:xfrm>
          <a:prstGeom prst="rect">
            <a:avLst/>
          </a:prstGeom>
          <a:noFill/>
        </p:spPr>
        <p:txBody>
          <a:bodyPr wrap="square" lIns="0" rIns="0" tIns="0" bIns="0" anchor="t"/>
          <a:lstStyle/>
          <a:p>
            <a:pPr algn="l">
              <a:lnSpc>
                <a:spcPct val="140000"/>
              </a:lnSpc>
            </a:pPr>
            <a:r>
              <a:rPr sz="3600" b="0" i="0">
                <a:solidFill>
                  <a:srgbClr val="041326"/>
                </a:solidFill>
                <a:latin typeface="Libre Franklin"/>
              </a:rPr>
              <a:t>When the model is the same as your competitor's, what makes you the </a:t>
            </a:r>
            <a:r>
              <a:rPr sz="3600" b="0" i="0">
                <a:solidFill>
                  <a:srgbClr val="3366FF"/>
                </a:solidFill>
                <a:latin typeface="Libre Franklin"/>
              </a:rPr>
              <a:t>trusted counterparty</a:t>
            </a:r>
            <a:r>
              <a:rPr sz="3600" b="0" i="0">
                <a:solidFill>
                  <a:srgbClr val="041326"/>
                </a:solidFill>
                <a:latin typeface="Libre Franklin"/>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85216" y="457200"/>
            <a:ext cx="82296"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39496"/>
            <a:ext cx="164592"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0352"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7757648"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86868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0" y="960120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6002000" y="9738360"/>
            <a:ext cx="1463040" cy="365760"/>
          </a:xfrm>
          <a:prstGeom prst="rect">
            <a:avLst/>
          </a:prstGeom>
          <a:noFill/>
        </p:spPr>
        <p:txBody>
          <a:bodyPr wrap="square" lIns="0" rIns="0" tIns="0" bIns="0" anchor="t"/>
          <a:lstStyle/>
          <a:p>
            <a:pPr algn="r">
              <a:lnSpc>
                <a:spcPct val="120000"/>
              </a:lnSpc>
            </a:pPr>
            <a:r>
              <a:rPr sz="1400" b="1" i="0">
                <a:solidFill>
                  <a:srgbClr val="041326"/>
                </a:solidFill>
                <a:latin typeface="Libre Franklin"/>
              </a:rPr>
              <a:t>Backbase</a:t>
            </a:r>
          </a:p>
        </p:txBody>
      </p:sp>
      <p:sp>
        <p:nvSpPr>
          <p:cNvPr id="9" name="TextBox 8"/>
          <p:cNvSpPr txBox="1"/>
          <p:nvPr/>
        </p:nvSpPr>
        <p:spPr>
          <a:xfrm>
            <a:off x="17556480" y="9738360"/>
            <a:ext cx="457200" cy="365760"/>
          </a:xfrm>
          <a:prstGeom prst="rect">
            <a:avLst/>
          </a:prstGeom>
          <a:noFill/>
        </p:spPr>
        <p:txBody>
          <a:bodyPr wrap="square" lIns="0" rIns="0" tIns="0" bIns="0" anchor="t"/>
          <a:lstStyle/>
          <a:p>
            <a:pPr algn="r">
              <a:lnSpc>
                <a:spcPct val="120000"/>
              </a:lnSpc>
            </a:pPr>
            <a:r>
              <a:rPr sz="1000" b="0" i="0">
                <a:solidFill>
                  <a:srgbClr val="041326"/>
                </a:solidFill>
                <a:latin typeface="Libre Franklin"/>
              </a:rPr>
              <a:t>7 / 13</a:t>
            </a:r>
          </a:p>
        </p:txBody>
      </p:sp>
      <p:sp>
        <p:nvSpPr>
          <p:cNvPr id="10" name="TextBox 9"/>
          <p:cNvSpPr txBox="1"/>
          <p:nvPr/>
        </p:nvSpPr>
        <p:spPr>
          <a:xfrm>
            <a:off x="1280160" y="1280160"/>
            <a:ext cx="15544800" cy="365760"/>
          </a:xfrm>
          <a:prstGeom prst="rect">
            <a:avLst/>
          </a:prstGeom>
          <a:noFill/>
        </p:spPr>
        <p:txBody>
          <a:bodyPr wrap="square" lIns="0" rIns="0" tIns="0" bIns="0" anchor="t"/>
          <a:lstStyle/>
          <a:p>
            <a:pPr algn="l">
              <a:lnSpc>
                <a:spcPct val="120000"/>
              </a:lnSpc>
            </a:pPr>
            <a:r>
              <a:rPr sz="1400" b="0" i="0">
                <a:solidFill>
                  <a:srgbClr val="5C6E84"/>
                </a:solidFill>
                <a:latin typeface="Libre Franklin"/>
              </a:rPr>
              <a:t>INSIGHT 1 · TRUST IS THE NEW INFRASTRUCTURE</a:t>
            </a:r>
          </a:p>
        </p:txBody>
      </p:sp>
      <p:sp>
        <p:nvSpPr>
          <p:cNvPr id="11" name="TextBox 10"/>
          <p:cNvSpPr txBox="1"/>
          <p:nvPr/>
        </p:nvSpPr>
        <p:spPr>
          <a:xfrm>
            <a:off x="1280160" y="1737360"/>
            <a:ext cx="15544800" cy="1005840"/>
          </a:xfrm>
          <a:prstGeom prst="rect">
            <a:avLst/>
          </a:prstGeom>
          <a:noFill/>
        </p:spPr>
        <p:txBody>
          <a:bodyPr wrap="square" lIns="0" rIns="0" tIns="0" bIns="0" anchor="t"/>
          <a:lstStyle/>
          <a:p>
            <a:pPr algn="l">
              <a:lnSpc>
                <a:spcPct val="115000"/>
              </a:lnSpc>
            </a:pPr>
            <a:r>
              <a:rPr sz="4400" b="0" i="0">
                <a:solidFill>
                  <a:srgbClr val="041326"/>
                </a:solidFill>
                <a:latin typeface="Libre Franklin"/>
              </a:rPr>
              <a:t>Trust is moving from claim to KPI.</a:t>
            </a:r>
          </a:p>
        </p:txBody>
      </p:sp>
      <p:sp>
        <p:nvSpPr>
          <p:cNvPr id="12" name="TextBox 11"/>
          <p:cNvSpPr txBox="1"/>
          <p:nvPr/>
        </p:nvSpPr>
        <p:spPr>
          <a:xfrm>
            <a:off x="1280160" y="4206240"/>
            <a:ext cx="4998719" cy="457200"/>
          </a:xfrm>
          <a:prstGeom prst="rect">
            <a:avLst/>
          </a:prstGeom>
          <a:noFill/>
        </p:spPr>
        <p:txBody>
          <a:bodyPr wrap="square" lIns="0" rIns="0" tIns="0" bIns="0" anchor="t"/>
          <a:lstStyle/>
          <a:p>
            <a:pPr algn="l">
              <a:lnSpc>
                <a:spcPct val="120000"/>
              </a:lnSpc>
            </a:pPr>
            <a:r>
              <a:rPr sz="1200" b="1" i="0">
                <a:solidFill>
                  <a:srgbClr val="3366FF"/>
                </a:solidFill>
                <a:latin typeface="Libre Franklin"/>
              </a:rPr>
              <a:t>THE GAP · 1 IN 3</a:t>
            </a:r>
          </a:p>
        </p:txBody>
      </p:sp>
      <p:sp>
        <p:nvSpPr>
          <p:cNvPr id="13" name="TextBox 12"/>
          <p:cNvSpPr txBox="1"/>
          <p:nvPr/>
        </p:nvSpPr>
        <p:spPr>
          <a:xfrm>
            <a:off x="1280160" y="4709160"/>
            <a:ext cx="4998719" cy="1280160"/>
          </a:xfrm>
          <a:prstGeom prst="rect">
            <a:avLst/>
          </a:prstGeom>
          <a:noFill/>
        </p:spPr>
        <p:txBody>
          <a:bodyPr wrap="square" lIns="0" rIns="0" tIns="0" bIns="0" anchor="t"/>
          <a:lstStyle/>
          <a:p>
            <a:pPr algn="l">
              <a:lnSpc>
                <a:spcPct val="100000"/>
              </a:lnSpc>
            </a:pPr>
            <a:r>
              <a:rPr sz="5200" b="1" i="0">
                <a:solidFill>
                  <a:srgbClr val="3366FF"/>
                </a:solidFill>
                <a:latin typeface="Libre Franklin"/>
              </a:rPr>
              <a:t>1 in 3</a:t>
            </a:r>
          </a:p>
        </p:txBody>
      </p:sp>
      <p:sp>
        <p:nvSpPr>
          <p:cNvPr id="14" name="TextBox 13"/>
          <p:cNvSpPr txBox="1"/>
          <p:nvPr/>
        </p:nvSpPr>
        <p:spPr>
          <a:xfrm>
            <a:off x="1280160" y="5989320"/>
            <a:ext cx="4998719" cy="731520"/>
          </a:xfrm>
          <a:prstGeom prst="rect">
            <a:avLst/>
          </a:prstGeom>
          <a:noFill/>
        </p:spPr>
        <p:txBody>
          <a:bodyPr wrap="square" lIns="0" rIns="0" tIns="0" bIns="0" anchor="t"/>
          <a:lstStyle/>
          <a:p>
            <a:pPr algn="l">
              <a:lnSpc>
                <a:spcPct val="140000"/>
              </a:lnSpc>
            </a:pPr>
            <a:r>
              <a:rPr sz="1600" b="1" i="0">
                <a:solidFill>
                  <a:srgbClr val="041326"/>
                </a:solidFill>
                <a:latin typeface="Libre Franklin"/>
              </a:rPr>
              <a:t>Firms at AI-governance maturity L3+ today.</a:t>
            </a:r>
          </a:p>
        </p:txBody>
      </p:sp>
      <p:sp>
        <p:nvSpPr>
          <p:cNvPr id="15" name="TextBox 14"/>
          <p:cNvSpPr txBox="1"/>
          <p:nvPr/>
        </p:nvSpPr>
        <p:spPr>
          <a:xfrm>
            <a:off x="1280160" y="6812280"/>
            <a:ext cx="4998719" cy="1600200"/>
          </a:xfrm>
          <a:prstGeom prst="rect">
            <a:avLst/>
          </a:prstGeom>
          <a:noFill/>
        </p:spPr>
        <p:txBody>
          <a:bodyPr wrap="square" lIns="0" rIns="0" tIns="0" bIns="0" anchor="t"/>
          <a:lstStyle/>
          <a:p>
            <a:pPr algn="l">
              <a:lnSpc>
                <a:spcPct val="155000"/>
              </a:lnSpc>
            </a:pPr>
            <a:r>
              <a:rPr sz="1300" b="0" i="0">
                <a:solidFill>
                  <a:srgbClr val="041326"/>
                </a:solidFill>
                <a:latin typeface="Libre Franklin"/>
              </a:rPr>
              <a:t>Two-thirds of the industry cannot yet prove how their AI decides. That gap is the window — and it is closing.</a:t>
            </a:r>
          </a:p>
        </p:txBody>
      </p:sp>
      <p:sp>
        <p:nvSpPr>
          <p:cNvPr id="16" name="TextBox 15"/>
          <p:cNvSpPr txBox="1"/>
          <p:nvPr/>
        </p:nvSpPr>
        <p:spPr>
          <a:xfrm>
            <a:off x="1280160" y="8595360"/>
            <a:ext cx="4998719" cy="457200"/>
          </a:xfrm>
          <a:prstGeom prst="rect">
            <a:avLst/>
          </a:prstGeom>
          <a:noFill/>
        </p:spPr>
        <p:txBody>
          <a:bodyPr wrap="square" lIns="0" rIns="0" tIns="0" bIns="0" anchor="t"/>
          <a:lstStyle/>
          <a:p>
            <a:pPr algn="l">
              <a:lnSpc>
                <a:spcPct val="145000"/>
              </a:lnSpc>
            </a:pPr>
            <a:r>
              <a:rPr sz="1000" b="0" i="1">
                <a:solidFill>
                  <a:srgbClr val="5C6E84"/>
                </a:solidFill>
                <a:latin typeface="Libre Franklin"/>
              </a:rPr>
              <a:t>McKinsey, The State of AI 2024; BCG Responsible AI Survey 2024</a:t>
            </a:r>
          </a:p>
        </p:txBody>
      </p:sp>
      <p:cxnSp>
        <p:nvCxnSpPr>
          <p:cNvPr id="17" name="Connector 16"/>
          <p:cNvCxnSpPr/>
          <p:nvPr/>
        </p:nvCxnSpPr>
        <p:spPr>
          <a:xfrm>
            <a:off x="6416039" y="4206240"/>
            <a:ext cx="0" cy="493776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553199" y="4206240"/>
            <a:ext cx="4998719" cy="457200"/>
          </a:xfrm>
          <a:prstGeom prst="rect">
            <a:avLst/>
          </a:prstGeom>
          <a:noFill/>
        </p:spPr>
        <p:txBody>
          <a:bodyPr wrap="square" lIns="0" rIns="0" tIns="0" bIns="0" anchor="t"/>
          <a:lstStyle/>
          <a:p>
            <a:pPr algn="l">
              <a:lnSpc>
                <a:spcPct val="120000"/>
              </a:lnSpc>
            </a:pPr>
            <a:r>
              <a:rPr sz="1200" b="1" i="0">
                <a:solidFill>
                  <a:srgbClr val="3366FF"/>
                </a:solidFill>
                <a:latin typeface="Libre Franklin"/>
              </a:rPr>
              <a:t>THE SHIFT · DIGITISING THE RM</a:t>
            </a:r>
          </a:p>
        </p:txBody>
      </p:sp>
      <p:sp>
        <p:nvSpPr>
          <p:cNvPr id="19" name="TextBox 18"/>
          <p:cNvSpPr txBox="1"/>
          <p:nvPr/>
        </p:nvSpPr>
        <p:spPr>
          <a:xfrm>
            <a:off x="6553199" y="4709160"/>
            <a:ext cx="4998719" cy="731520"/>
          </a:xfrm>
          <a:prstGeom prst="rect">
            <a:avLst/>
          </a:prstGeom>
          <a:noFill/>
        </p:spPr>
        <p:txBody>
          <a:bodyPr wrap="square" lIns="0" rIns="0" tIns="0" bIns="0" anchor="t"/>
          <a:lstStyle/>
          <a:p>
            <a:pPr algn="l">
              <a:lnSpc>
                <a:spcPct val="140000"/>
              </a:lnSpc>
            </a:pPr>
            <a:r>
              <a:rPr sz="1600" b="1" i="0">
                <a:solidFill>
                  <a:srgbClr val="041326"/>
                </a:solidFill>
                <a:latin typeface="Libre Franklin"/>
              </a:rPr>
              <a:t>Trust becomes a measurable KPI — a way to digitise what the RM did one-on-one.</a:t>
            </a:r>
          </a:p>
        </p:txBody>
      </p:sp>
      <p:sp>
        <p:nvSpPr>
          <p:cNvPr id="20" name="TextBox 19"/>
          <p:cNvSpPr txBox="1"/>
          <p:nvPr/>
        </p:nvSpPr>
        <p:spPr>
          <a:xfrm>
            <a:off x="6553199" y="5532120"/>
            <a:ext cx="4998719" cy="2880360"/>
          </a:xfrm>
          <a:prstGeom prst="rect">
            <a:avLst/>
          </a:prstGeom>
          <a:noFill/>
        </p:spPr>
        <p:txBody>
          <a:bodyPr wrap="square" lIns="0" rIns="0" tIns="0" bIns="0" anchor="t"/>
          <a:lstStyle/>
          <a:p>
            <a:pPr algn="l">
              <a:lnSpc>
                <a:spcPct val="155000"/>
              </a:lnSpc>
            </a:pPr>
            <a:r>
              <a:rPr sz="1300" b="0" i="0">
                <a:solidFill>
                  <a:srgbClr val="041326"/>
                </a:solidFill>
                <a:latin typeface="Libre Franklin"/>
              </a:rPr>
              <a:t>Explainability, provenance, consent and human oversight are what gave the relationship manager their authority. Now they become product features that scale: Apple priced privacy (ATT), Mastercard sells AI-graded trust as infrastructure (~165B txns/yr scored).</a:t>
            </a:r>
          </a:p>
        </p:txBody>
      </p:sp>
      <p:sp>
        <p:nvSpPr>
          <p:cNvPr id="21" name="TextBox 20"/>
          <p:cNvSpPr txBox="1"/>
          <p:nvPr/>
        </p:nvSpPr>
        <p:spPr>
          <a:xfrm>
            <a:off x="6553199" y="8595360"/>
            <a:ext cx="4998719" cy="457200"/>
          </a:xfrm>
          <a:prstGeom prst="rect">
            <a:avLst/>
          </a:prstGeom>
          <a:noFill/>
        </p:spPr>
        <p:txBody>
          <a:bodyPr wrap="square" lIns="0" rIns="0" tIns="0" bIns="0" anchor="t"/>
          <a:lstStyle/>
          <a:p>
            <a:pPr algn="l">
              <a:lnSpc>
                <a:spcPct val="145000"/>
              </a:lnSpc>
            </a:pPr>
            <a:r>
              <a:rPr sz="1000" b="0" i="1">
                <a:solidFill>
                  <a:srgbClr val="5C6E84"/>
                </a:solidFill>
                <a:latin typeface="Libre Franklin"/>
              </a:rPr>
              <a:t>EU AI Act Articles 13–15; NIST AI RMF 1.0; Mastercard Decision Intelligence</a:t>
            </a:r>
          </a:p>
        </p:txBody>
      </p:sp>
      <p:cxnSp>
        <p:nvCxnSpPr>
          <p:cNvPr id="22" name="Connector 21"/>
          <p:cNvCxnSpPr/>
          <p:nvPr/>
        </p:nvCxnSpPr>
        <p:spPr>
          <a:xfrm>
            <a:off x="11689078" y="4206240"/>
            <a:ext cx="0" cy="493776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1826238" y="4206240"/>
            <a:ext cx="4998719" cy="457200"/>
          </a:xfrm>
          <a:prstGeom prst="rect">
            <a:avLst/>
          </a:prstGeom>
          <a:noFill/>
        </p:spPr>
        <p:txBody>
          <a:bodyPr wrap="square" lIns="0" rIns="0" tIns="0" bIns="0" anchor="t"/>
          <a:lstStyle/>
          <a:p>
            <a:pPr algn="l">
              <a:lnSpc>
                <a:spcPct val="120000"/>
              </a:lnSpc>
            </a:pPr>
            <a:r>
              <a:rPr sz="1200" b="1" i="0">
                <a:solidFill>
                  <a:srgbClr val="3366FF"/>
                </a:solidFill>
                <a:latin typeface="Libre Franklin"/>
              </a:rPr>
              <a:t>THE EDGE · NORDICS</a:t>
            </a:r>
          </a:p>
        </p:txBody>
      </p:sp>
      <p:sp>
        <p:nvSpPr>
          <p:cNvPr id="24" name="TextBox 23"/>
          <p:cNvSpPr txBox="1"/>
          <p:nvPr/>
        </p:nvSpPr>
        <p:spPr>
          <a:xfrm>
            <a:off x="11826238" y="4709160"/>
            <a:ext cx="4998719" cy="731520"/>
          </a:xfrm>
          <a:prstGeom prst="rect">
            <a:avLst/>
          </a:prstGeom>
          <a:noFill/>
        </p:spPr>
        <p:txBody>
          <a:bodyPr wrap="square" lIns="0" rIns="0" tIns="0" bIns="0" anchor="t"/>
          <a:lstStyle/>
          <a:p>
            <a:pPr algn="l">
              <a:lnSpc>
                <a:spcPct val="140000"/>
              </a:lnSpc>
            </a:pPr>
            <a:r>
              <a:rPr sz="1600" b="1" i="0">
                <a:solidFill>
                  <a:srgbClr val="041326"/>
                </a:solidFill>
                <a:latin typeface="Libre Franklin"/>
              </a:rPr>
              <a:t>Best-positioned region globally.</a:t>
            </a:r>
          </a:p>
        </p:txBody>
      </p:sp>
      <p:sp>
        <p:nvSpPr>
          <p:cNvPr id="25" name="TextBox 24"/>
          <p:cNvSpPr txBox="1"/>
          <p:nvPr/>
        </p:nvSpPr>
        <p:spPr>
          <a:xfrm>
            <a:off x="11826238" y="5532120"/>
            <a:ext cx="4998719" cy="2880360"/>
          </a:xfrm>
          <a:prstGeom prst="rect">
            <a:avLst/>
          </a:prstGeom>
          <a:noFill/>
        </p:spPr>
        <p:txBody>
          <a:bodyPr wrap="square" lIns="0" rIns="0" tIns="0" bIns="0" anchor="t"/>
          <a:lstStyle/>
          <a:p>
            <a:pPr algn="l">
              <a:lnSpc>
                <a:spcPct val="155000"/>
              </a:lnSpc>
            </a:pPr>
            <a:r>
              <a:rPr sz="1300" b="0" i="0">
                <a:solidFill>
                  <a:srgbClr val="041326"/>
                </a:solidFill>
                <a:latin typeface="Libre Franklin"/>
              </a:rPr>
              <a:t>BankID and Swish — cooperated trust infrastructure with &gt;85% adult reach. Nordic banks built shared identity and shared payment rails, then competed on the experience above. Trust-as-infrastructure here is an export, not a cost.</a:t>
            </a:r>
          </a:p>
        </p:txBody>
      </p:sp>
      <p:sp>
        <p:nvSpPr>
          <p:cNvPr id="26" name="TextBox 25"/>
          <p:cNvSpPr txBox="1"/>
          <p:nvPr/>
        </p:nvSpPr>
        <p:spPr>
          <a:xfrm>
            <a:off x="11826238" y="8595360"/>
            <a:ext cx="4998719" cy="457200"/>
          </a:xfrm>
          <a:prstGeom prst="rect">
            <a:avLst/>
          </a:prstGeom>
          <a:noFill/>
        </p:spPr>
        <p:txBody>
          <a:bodyPr wrap="square" lIns="0" rIns="0" tIns="0" bIns="0" anchor="t"/>
          <a:lstStyle/>
          <a:p>
            <a:pPr algn="l">
              <a:lnSpc>
                <a:spcPct val="145000"/>
              </a:lnSpc>
            </a:pPr>
            <a:r>
              <a:rPr sz="1000" b="0" i="1">
                <a:solidFill>
                  <a:srgbClr val="5C6E84"/>
                </a:solidFill>
                <a:latin typeface="Libre Franklin"/>
              </a:rPr>
              <a:t>Finansiell ID-Teknik BID AB; Getswish AB, 2024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85216" y="457200"/>
            <a:ext cx="82296"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39496"/>
            <a:ext cx="164592"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0352"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7757648"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86868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0" y="960120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6002000" y="9738360"/>
            <a:ext cx="1463040" cy="365760"/>
          </a:xfrm>
          <a:prstGeom prst="rect">
            <a:avLst/>
          </a:prstGeom>
          <a:noFill/>
        </p:spPr>
        <p:txBody>
          <a:bodyPr wrap="square" lIns="0" rIns="0" tIns="0" bIns="0" anchor="t"/>
          <a:lstStyle/>
          <a:p>
            <a:pPr algn="r">
              <a:lnSpc>
                <a:spcPct val="120000"/>
              </a:lnSpc>
            </a:pPr>
            <a:r>
              <a:rPr sz="1400" b="1" i="0">
                <a:solidFill>
                  <a:srgbClr val="041326"/>
                </a:solidFill>
                <a:latin typeface="Libre Franklin"/>
              </a:rPr>
              <a:t>Backbase</a:t>
            </a:r>
          </a:p>
        </p:txBody>
      </p:sp>
      <p:sp>
        <p:nvSpPr>
          <p:cNvPr id="9" name="TextBox 8"/>
          <p:cNvSpPr txBox="1"/>
          <p:nvPr/>
        </p:nvSpPr>
        <p:spPr>
          <a:xfrm>
            <a:off x="17556480" y="9738360"/>
            <a:ext cx="457200" cy="365760"/>
          </a:xfrm>
          <a:prstGeom prst="rect">
            <a:avLst/>
          </a:prstGeom>
          <a:noFill/>
        </p:spPr>
        <p:txBody>
          <a:bodyPr wrap="square" lIns="0" rIns="0" tIns="0" bIns="0" anchor="t"/>
          <a:lstStyle/>
          <a:p>
            <a:pPr algn="r">
              <a:lnSpc>
                <a:spcPct val="120000"/>
              </a:lnSpc>
            </a:pPr>
            <a:r>
              <a:rPr sz="1000" b="0" i="0">
                <a:solidFill>
                  <a:srgbClr val="041326"/>
                </a:solidFill>
                <a:latin typeface="Libre Franklin"/>
              </a:rPr>
              <a:t>8 / 13</a:t>
            </a:r>
          </a:p>
        </p:txBody>
      </p:sp>
      <p:sp>
        <p:nvSpPr>
          <p:cNvPr id="10" name="Rectangle 9"/>
          <p:cNvSpPr/>
          <p:nvPr/>
        </p:nvSpPr>
        <p:spPr>
          <a:xfrm>
            <a:off x="914400" y="3200400"/>
            <a:ext cx="16459200" cy="4114800"/>
          </a:xfrm>
          <a:prstGeom prst="rect">
            <a:avLst/>
          </a:prstGeom>
          <a:solidFill>
            <a:srgbClr val="E5E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37160" bIns="137160"/>
          <a:lstStyle/>
          <a:p>
            <a:pPr algn="ctr"/>
          </a:p>
        </p:txBody>
      </p:sp>
      <p:sp>
        <p:nvSpPr>
          <p:cNvPr id="11" name="TextBox 10"/>
          <p:cNvSpPr txBox="1"/>
          <p:nvPr/>
        </p:nvSpPr>
        <p:spPr>
          <a:xfrm>
            <a:off x="1280160" y="3566160"/>
            <a:ext cx="15544800" cy="457200"/>
          </a:xfrm>
          <a:prstGeom prst="rect">
            <a:avLst/>
          </a:prstGeom>
          <a:noFill/>
        </p:spPr>
        <p:txBody>
          <a:bodyPr wrap="square" lIns="0" rIns="0" tIns="0" bIns="0" anchor="t"/>
          <a:lstStyle/>
          <a:p>
            <a:pPr algn="l">
              <a:lnSpc>
                <a:spcPct val="120000"/>
              </a:lnSpc>
            </a:pPr>
            <a:r>
              <a:rPr sz="1400" b="0" i="0">
                <a:solidFill>
                  <a:srgbClr val="5C6E84"/>
                </a:solidFill>
                <a:latin typeface="Libre Franklin"/>
              </a:rPr>
              <a:t>VALIDATE · QUESTION 2 · HAND-OFF</a:t>
            </a:r>
          </a:p>
        </p:txBody>
      </p:sp>
      <p:sp>
        <p:nvSpPr>
          <p:cNvPr id="12" name="TextBox 11"/>
          <p:cNvSpPr txBox="1"/>
          <p:nvPr/>
        </p:nvSpPr>
        <p:spPr>
          <a:xfrm>
            <a:off x="1280160" y="4297680"/>
            <a:ext cx="15544800" cy="2743200"/>
          </a:xfrm>
          <a:prstGeom prst="rect">
            <a:avLst/>
          </a:prstGeom>
          <a:noFill/>
        </p:spPr>
        <p:txBody>
          <a:bodyPr wrap="square" lIns="0" rIns="0" tIns="0" bIns="0" anchor="t"/>
          <a:lstStyle/>
          <a:p>
            <a:pPr algn="l">
              <a:lnSpc>
                <a:spcPct val="140000"/>
              </a:lnSpc>
            </a:pPr>
            <a:r>
              <a:rPr sz="3600" b="0" i="0">
                <a:solidFill>
                  <a:srgbClr val="041326"/>
                </a:solidFill>
                <a:latin typeface="Libre Franklin"/>
              </a:rPr>
              <a:t>Where in your bank would the customer × employee × agent hand-off </a:t>
            </a:r>
            <a:r>
              <a:rPr sz="3600" b="0" i="0">
                <a:solidFill>
                  <a:srgbClr val="3366FF"/>
                </a:solidFill>
                <a:latin typeface="Libre Franklin"/>
              </a:rPr>
              <a:t>break today</a:t>
            </a:r>
            <a:r>
              <a:rPr sz="3600" b="0" i="0">
                <a:solidFill>
                  <a:srgbClr val="041326"/>
                </a:solidFill>
                <a:latin typeface="Libre Franklin"/>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85216" y="457200"/>
            <a:ext cx="82296"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39496"/>
            <a:ext cx="164592"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0352"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7757648"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86868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0" y="960120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6002000" y="9738360"/>
            <a:ext cx="1463040" cy="365760"/>
          </a:xfrm>
          <a:prstGeom prst="rect">
            <a:avLst/>
          </a:prstGeom>
          <a:noFill/>
        </p:spPr>
        <p:txBody>
          <a:bodyPr wrap="square" lIns="0" rIns="0" tIns="0" bIns="0" anchor="t"/>
          <a:lstStyle/>
          <a:p>
            <a:pPr algn="r">
              <a:lnSpc>
                <a:spcPct val="120000"/>
              </a:lnSpc>
            </a:pPr>
            <a:r>
              <a:rPr sz="1400" b="1" i="0">
                <a:solidFill>
                  <a:srgbClr val="041326"/>
                </a:solidFill>
                <a:latin typeface="Libre Franklin"/>
              </a:rPr>
              <a:t>Backbase</a:t>
            </a:r>
          </a:p>
        </p:txBody>
      </p:sp>
      <p:sp>
        <p:nvSpPr>
          <p:cNvPr id="9" name="TextBox 8"/>
          <p:cNvSpPr txBox="1"/>
          <p:nvPr/>
        </p:nvSpPr>
        <p:spPr>
          <a:xfrm>
            <a:off x="17556480" y="9738360"/>
            <a:ext cx="457200" cy="365760"/>
          </a:xfrm>
          <a:prstGeom prst="rect">
            <a:avLst/>
          </a:prstGeom>
          <a:noFill/>
        </p:spPr>
        <p:txBody>
          <a:bodyPr wrap="square" lIns="0" rIns="0" tIns="0" bIns="0" anchor="t"/>
          <a:lstStyle/>
          <a:p>
            <a:pPr algn="r">
              <a:lnSpc>
                <a:spcPct val="120000"/>
              </a:lnSpc>
            </a:pPr>
            <a:r>
              <a:rPr sz="1000" b="0" i="0">
                <a:solidFill>
                  <a:srgbClr val="041326"/>
                </a:solidFill>
                <a:latin typeface="Libre Franklin"/>
              </a:rPr>
              <a:t>9 / 13</a:t>
            </a:r>
          </a:p>
        </p:txBody>
      </p:sp>
      <p:sp>
        <p:nvSpPr>
          <p:cNvPr id="10" name="TextBox 9"/>
          <p:cNvSpPr txBox="1"/>
          <p:nvPr/>
        </p:nvSpPr>
        <p:spPr>
          <a:xfrm>
            <a:off x="1280160" y="1280160"/>
            <a:ext cx="15544800" cy="365760"/>
          </a:xfrm>
          <a:prstGeom prst="rect">
            <a:avLst/>
          </a:prstGeom>
          <a:noFill/>
        </p:spPr>
        <p:txBody>
          <a:bodyPr wrap="square" lIns="0" rIns="0" tIns="0" bIns="0" anchor="t"/>
          <a:lstStyle/>
          <a:p>
            <a:pPr algn="l">
              <a:lnSpc>
                <a:spcPct val="120000"/>
              </a:lnSpc>
            </a:pPr>
            <a:r>
              <a:rPr sz="1400" b="0" i="0">
                <a:solidFill>
                  <a:srgbClr val="5C6E84"/>
                </a:solidFill>
                <a:latin typeface="Libre Franklin"/>
              </a:rPr>
              <a:t>INSIGHT 2 · THE MOAT IS IN THE SEAMS</a:t>
            </a:r>
          </a:p>
        </p:txBody>
      </p:sp>
      <p:sp>
        <p:nvSpPr>
          <p:cNvPr id="11" name="TextBox 10"/>
          <p:cNvSpPr txBox="1"/>
          <p:nvPr/>
        </p:nvSpPr>
        <p:spPr>
          <a:xfrm>
            <a:off x="1280160" y="1737360"/>
            <a:ext cx="15544800" cy="1005840"/>
          </a:xfrm>
          <a:prstGeom prst="rect">
            <a:avLst/>
          </a:prstGeom>
          <a:noFill/>
        </p:spPr>
        <p:txBody>
          <a:bodyPr wrap="square" lIns="0" rIns="0" tIns="0" bIns="0" anchor="t"/>
          <a:lstStyle/>
          <a:p>
            <a:pPr algn="l">
              <a:lnSpc>
                <a:spcPct val="115000"/>
              </a:lnSpc>
            </a:pPr>
            <a:r>
              <a:rPr sz="4400" b="0" i="0">
                <a:solidFill>
                  <a:srgbClr val="041326"/>
                </a:solidFill>
                <a:latin typeface="Libre Franklin"/>
              </a:rPr>
              <a:t>The moat has moved into the seams.</a:t>
            </a:r>
          </a:p>
        </p:txBody>
      </p:sp>
      <p:sp>
        <p:nvSpPr>
          <p:cNvPr id="12" name="TextBox 11"/>
          <p:cNvSpPr txBox="1"/>
          <p:nvPr/>
        </p:nvSpPr>
        <p:spPr>
          <a:xfrm>
            <a:off x="1280160" y="4206240"/>
            <a:ext cx="4998719" cy="457200"/>
          </a:xfrm>
          <a:prstGeom prst="rect">
            <a:avLst/>
          </a:prstGeom>
          <a:noFill/>
        </p:spPr>
        <p:txBody>
          <a:bodyPr wrap="square" lIns="0" rIns="0" tIns="0" bIns="0" anchor="t"/>
          <a:lstStyle/>
          <a:p>
            <a:pPr algn="l">
              <a:lnSpc>
                <a:spcPct val="120000"/>
              </a:lnSpc>
            </a:pPr>
            <a:r>
              <a:rPr sz="1200" b="1" i="0">
                <a:solidFill>
                  <a:srgbClr val="3366FF"/>
                </a:solidFill>
                <a:latin typeface="Libre Franklin"/>
              </a:rPr>
              <a:t>WHERE IT BREAKS</a:t>
            </a:r>
          </a:p>
        </p:txBody>
      </p:sp>
      <p:sp>
        <p:nvSpPr>
          <p:cNvPr id="13" name="TextBox 12"/>
          <p:cNvSpPr txBox="1"/>
          <p:nvPr/>
        </p:nvSpPr>
        <p:spPr>
          <a:xfrm>
            <a:off x="1280160" y="4709160"/>
            <a:ext cx="4998719" cy="731520"/>
          </a:xfrm>
          <a:prstGeom prst="rect">
            <a:avLst/>
          </a:prstGeom>
          <a:noFill/>
        </p:spPr>
        <p:txBody>
          <a:bodyPr wrap="square" lIns="0" rIns="0" tIns="0" bIns="0" anchor="t"/>
          <a:lstStyle/>
          <a:p>
            <a:pPr algn="l">
              <a:lnSpc>
                <a:spcPct val="140000"/>
              </a:lnSpc>
            </a:pPr>
            <a:r>
              <a:rPr sz="1600" b="1" i="0">
                <a:solidFill>
                  <a:srgbClr val="041326"/>
                </a:solidFill>
                <a:latin typeface="Libre Franklin"/>
              </a:rPr>
              <a:t>Context dies between systems.</a:t>
            </a:r>
          </a:p>
        </p:txBody>
      </p:sp>
      <p:sp>
        <p:nvSpPr>
          <p:cNvPr id="14" name="TextBox 13"/>
          <p:cNvSpPr txBox="1"/>
          <p:nvPr/>
        </p:nvSpPr>
        <p:spPr>
          <a:xfrm>
            <a:off x="1280160" y="5532120"/>
            <a:ext cx="4998719" cy="2880360"/>
          </a:xfrm>
          <a:prstGeom prst="rect">
            <a:avLst/>
          </a:prstGeom>
          <a:noFill/>
        </p:spPr>
        <p:txBody>
          <a:bodyPr wrap="square" lIns="0" rIns="0" tIns="0" bIns="0" anchor="t"/>
          <a:lstStyle/>
          <a:p>
            <a:pPr algn="l">
              <a:lnSpc>
                <a:spcPct val="155000"/>
              </a:lnSpc>
            </a:pPr>
            <a:r>
              <a:rPr sz="1300" b="0" i="0">
                <a:solidFill>
                  <a:srgbClr val="041326"/>
                </a:solidFill>
                <a:latin typeface="Libre Franklin"/>
              </a:rPr>
              <a:t>The customer re-explains themselves to the bot, the call-centre agent, the relationship manager and the underwriter. Each had what was needed — none of them had it together.</a:t>
            </a:r>
          </a:p>
          <a:p>
            <a:pPr algn="l">
              <a:lnSpc>
                <a:spcPct val="155000"/>
              </a:lnSpc>
            </a:pPr>
            <a:r>
              <a:rPr sz="1300" b="0" i="0">
                <a:solidFill>
                  <a:srgbClr val="041326"/>
                </a:solidFill>
                <a:latin typeface="Libre Franklin"/>
              </a:rPr>
              <a:t/>
            </a:r>
          </a:p>
          <a:p>
            <a:pPr algn="l">
              <a:lnSpc>
                <a:spcPct val="155000"/>
              </a:lnSpc>
            </a:pPr>
            <a:r>
              <a:rPr sz="1300" b="0" i="0">
                <a:solidFill>
                  <a:srgbClr val="041326"/>
                </a:solidFill>
                <a:latin typeface="Libre Franklin"/>
              </a:rPr>
              <a:t>"Faster cars on the same broken roads."</a:t>
            </a:r>
          </a:p>
        </p:txBody>
      </p:sp>
      <p:cxnSp>
        <p:nvCxnSpPr>
          <p:cNvPr id="15" name="Connector 14"/>
          <p:cNvCxnSpPr/>
          <p:nvPr/>
        </p:nvCxnSpPr>
        <p:spPr>
          <a:xfrm>
            <a:off x="6416039" y="4206240"/>
            <a:ext cx="0" cy="493776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53199" y="4206240"/>
            <a:ext cx="4998719" cy="457200"/>
          </a:xfrm>
          <a:prstGeom prst="rect">
            <a:avLst/>
          </a:prstGeom>
          <a:noFill/>
        </p:spPr>
        <p:txBody>
          <a:bodyPr wrap="square" lIns="0" rIns="0" tIns="0" bIns="0" anchor="t"/>
          <a:lstStyle/>
          <a:p>
            <a:pPr algn="l">
              <a:lnSpc>
                <a:spcPct val="120000"/>
              </a:lnSpc>
            </a:pPr>
            <a:r>
              <a:rPr sz="1200" b="1" i="0">
                <a:solidFill>
                  <a:srgbClr val="3366FF"/>
                </a:solidFill>
                <a:latin typeface="Libre Franklin"/>
              </a:rPr>
              <a:t>WHAT GOOD LOOKS LIKE</a:t>
            </a:r>
          </a:p>
        </p:txBody>
      </p:sp>
      <p:sp>
        <p:nvSpPr>
          <p:cNvPr id="17" name="TextBox 16"/>
          <p:cNvSpPr txBox="1"/>
          <p:nvPr/>
        </p:nvSpPr>
        <p:spPr>
          <a:xfrm>
            <a:off x="6553199" y="4709160"/>
            <a:ext cx="4998719" cy="731520"/>
          </a:xfrm>
          <a:prstGeom prst="rect">
            <a:avLst/>
          </a:prstGeom>
          <a:noFill/>
        </p:spPr>
        <p:txBody>
          <a:bodyPr wrap="square" lIns="0" rIns="0" tIns="0" bIns="0" anchor="t"/>
          <a:lstStyle/>
          <a:p>
            <a:pPr algn="l">
              <a:lnSpc>
                <a:spcPct val="140000"/>
              </a:lnSpc>
            </a:pPr>
            <a:r>
              <a:rPr sz="1600" b="1" i="0">
                <a:solidFill>
                  <a:srgbClr val="041326"/>
                </a:solidFill>
                <a:latin typeface="Libre Franklin"/>
              </a:rPr>
              <a:t>Context travels with the customer.</a:t>
            </a:r>
          </a:p>
        </p:txBody>
      </p:sp>
      <p:sp>
        <p:nvSpPr>
          <p:cNvPr id="18" name="TextBox 17"/>
          <p:cNvSpPr txBox="1"/>
          <p:nvPr/>
        </p:nvSpPr>
        <p:spPr>
          <a:xfrm>
            <a:off x="6553199" y="5532120"/>
            <a:ext cx="4998719" cy="2880360"/>
          </a:xfrm>
          <a:prstGeom prst="rect">
            <a:avLst/>
          </a:prstGeom>
          <a:noFill/>
        </p:spPr>
        <p:txBody>
          <a:bodyPr wrap="square" lIns="0" rIns="0" tIns="0" bIns="0" anchor="t"/>
          <a:lstStyle/>
          <a:p>
            <a:pPr algn="l">
              <a:lnSpc>
                <a:spcPct val="155000"/>
              </a:lnSpc>
            </a:pPr>
            <a:r>
              <a:rPr sz="1300" b="0" i="0">
                <a:solidFill>
                  <a:srgbClr val="041326"/>
                </a:solidFill>
                <a:latin typeface="Libre Franklin"/>
              </a:rPr>
              <a:t>Every party — bot, banker, underwriter, the customer's own agent — opens the same authoritative view. The call becomes confirmation, not discovery. Hand-off measured in seconds, not days.</a:t>
            </a:r>
          </a:p>
        </p:txBody>
      </p:sp>
      <p:cxnSp>
        <p:nvCxnSpPr>
          <p:cNvPr id="19" name="Connector 18"/>
          <p:cNvCxnSpPr/>
          <p:nvPr/>
        </p:nvCxnSpPr>
        <p:spPr>
          <a:xfrm>
            <a:off x="11689078" y="4206240"/>
            <a:ext cx="0" cy="493776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1826238" y="4206240"/>
            <a:ext cx="4998719" cy="457200"/>
          </a:xfrm>
          <a:prstGeom prst="rect">
            <a:avLst/>
          </a:prstGeom>
          <a:noFill/>
        </p:spPr>
        <p:txBody>
          <a:bodyPr wrap="square" lIns="0" rIns="0" tIns="0" bIns="0" anchor="t"/>
          <a:lstStyle/>
          <a:p>
            <a:pPr algn="l">
              <a:lnSpc>
                <a:spcPct val="120000"/>
              </a:lnSpc>
            </a:pPr>
            <a:r>
              <a:rPr sz="1200" b="1" i="0">
                <a:solidFill>
                  <a:srgbClr val="3366FF"/>
                </a:solidFill>
                <a:latin typeface="Libre Franklin"/>
              </a:rPr>
              <a:t>WHERE TO ATTACK</a:t>
            </a:r>
          </a:p>
        </p:txBody>
      </p:sp>
      <p:sp>
        <p:nvSpPr>
          <p:cNvPr id="21" name="TextBox 20"/>
          <p:cNvSpPr txBox="1"/>
          <p:nvPr/>
        </p:nvSpPr>
        <p:spPr>
          <a:xfrm>
            <a:off x="11826238" y="4709160"/>
            <a:ext cx="4998719" cy="731520"/>
          </a:xfrm>
          <a:prstGeom prst="rect">
            <a:avLst/>
          </a:prstGeom>
          <a:noFill/>
        </p:spPr>
        <p:txBody>
          <a:bodyPr wrap="square" lIns="0" rIns="0" tIns="0" bIns="0" anchor="t"/>
          <a:lstStyle/>
          <a:p>
            <a:pPr algn="l">
              <a:lnSpc>
                <a:spcPct val="140000"/>
              </a:lnSpc>
            </a:pPr>
            <a:r>
              <a:rPr sz="1600" b="1" i="0">
                <a:solidFill>
                  <a:srgbClr val="041326"/>
                </a:solidFill>
                <a:latin typeface="Libre Franklin"/>
              </a:rPr>
              <a:t>Start where revenue is decided.</a:t>
            </a:r>
          </a:p>
        </p:txBody>
      </p:sp>
      <p:sp>
        <p:nvSpPr>
          <p:cNvPr id="22" name="TextBox 21"/>
          <p:cNvSpPr txBox="1"/>
          <p:nvPr/>
        </p:nvSpPr>
        <p:spPr>
          <a:xfrm>
            <a:off x="11826238" y="5532120"/>
            <a:ext cx="4998719" cy="2880360"/>
          </a:xfrm>
          <a:prstGeom prst="rect">
            <a:avLst/>
          </a:prstGeom>
          <a:noFill/>
        </p:spPr>
        <p:txBody>
          <a:bodyPr wrap="square" lIns="0" rIns="0" tIns="0" bIns="0" anchor="t"/>
          <a:lstStyle/>
          <a:p>
            <a:pPr algn="l">
              <a:lnSpc>
                <a:spcPct val="155000"/>
              </a:lnSpc>
            </a:pPr>
            <a:r>
              <a:rPr sz="1300" b="0" i="0">
                <a:solidFill>
                  <a:srgbClr val="041326"/>
                </a:solidFill>
                <a:latin typeface="Libre Franklin"/>
              </a:rPr>
              <a:t>Pick the seam where the next product or the next renewal is won or lost. Make context travel across that seam first. Compound from there.</a:t>
            </a:r>
          </a:p>
          <a:p>
            <a:pPr algn="l">
              <a:lnSpc>
                <a:spcPct val="155000"/>
              </a:lnSpc>
            </a:pPr>
            <a:r>
              <a:rPr sz="1300" b="0" i="0">
                <a:solidFill>
                  <a:srgbClr val="041326"/>
                </a:solidFill>
                <a:latin typeface="Libre Franklin"/>
              </a:rPr>
              <a:t/>
            </a:r>
          </a:p>
          <a:p>
            <a:pPr algn="l">
              <a:lnSpc>
                <a:spcPct val="155000"/>
              </a:lnSpc>
            </a:pPr>
            <a:r>
              <a:rPr sz="1300" b="0" i="0">
                <a:solidFill>
                  <a:srgbClr val="041326"/>
                </a:solidFill>
                <a:latin typeface="Libre Franklin"/>
              </a:rPr>
              <a:t>The moat is in the seams, not in any single channel.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85216" y="457200"/>
            <a:ext cx="82296"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39496"/>
            <a:ext cx="164592"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0352"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7757648"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86868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0" y="960120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6002000" y="9738360"/>
            <a:ext cx="1463040" cy="365760"/>
          </a:xfrm>
          <a:prstGeom prst="rect">
            <a:avLst/>
          </a:prstGeom>
          <a:noFill/>
        </p:spPr>
        <p:txBody>
          <a:bodyPr wrap="square" lIns="0" rIns="0" tIns="0" bIns="0" anchor="t"/>
          <a:lstStyle/>
          <a:p>
            <a:pPr algn="r">
              <a:lnSpc>
                <a:spcPct val="120000"/>
              </a:lnSpc>
            </a:pPr>
            <a:r>
              <a:rPr sz="1400" b="1" i="0">
                <a:solidFill>
                  <a:srgbClr val="041326"/>
                </a:solidFill>
                <a:latin typeface="Libre Franklin"/>
              </a:rPr>
              <a:t>Backbase</a:t>
            </a:r>
          </a:p>
        </p:txBody>
      </p:sp>
      <p:sp>
        <p:nvSpPr>
          <p:cNvPr id="9" name="TextBox 8"/>
          <p:cNvSpPr txBox="1"/>
          <p:nvPr/>
        </p:nvSpPr>
        <p:spPr>
          <a:xfrm>
            <a:off x="17556480" y="9738360"/>
            <a:ext cx="457200" cy="365760"/>
          </a:xfrm>
          <a:prstGeom prst="rect">
            <a:avLst/>
          </a:prstGeom>
          <a:noFill/>
        </p:spPr>
        <p:txBody>
          <a:bodyPr wrap="square" lIns="0" rIns="0" tIns="0" bIns="0" anchor="t"/>
          <a:lstStyle/>
          <a:p>
            <a:pPr algn="r">
              <a:lnSpc>
                <a:spcPct val="120000"/>
              </a:lnSpc>
            </a:pPr>
            <a:r>
              <a:rPr sz="1000" b="0" i="0">
                <a:solidFill>
                  <a:srgbClr val="041326"/>
                </a:solidFill>
                <a:latin typeface="Libre Franklin"/>
              </a:rPr>
              <a:t>10 / 13</a:t>
            </a:r>
          </a:p>
        </p:txBody>
      </p:sp>
      <p:sp>
        <p:nvSpPr>
          <p:cNvPr id="10" name="Rectangle 9"/>
          <p:cNvSpPr/>
          <p:nvPr/>
        </p:nvSpPr>
        <p:spPr>
          <a:xfrm>
            <a:off x="914400" y="3200400"/>
            <a:ext cx="16459200" cy="4114800"/>
          </a:xfrm>
          <a:prstGeom prst="rect">
            <a:avLst/>
          </a:prstGeom>
          <a:solidFill>
            <a:srgbClr val="E5E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37160" bIns="137160"/>
          <a:lstStyle/>
          <a:p>
            <a:pPr algn="ctr"/>
          </a:p>
        </p:txBody>
      </p:sp>
      <p:sp>
        <p:nvSpPr>
          <p:cNvPr id="11" name="TextBox 10"/>
          <p:cNvSpPr txBox="1"/>
          <p:nvPr/>
        </p:nvSpPr>
        <p:spPr>
          <a:xfrm>
            <a:off x="1280160" y="3566160"/>
            <a:ext cx="15544800" cy="457200"/>
          </a:xfrm>
          <a:prstGeom prst="rect">
            <a:avLst/>
          </a:prstGeom>
          <a:noFill/>
        </p:spPr>
        <p:txBody>
          <a:bodyPr wrap="square" lIns="0" rIns="0" tIns="0" bIns="0" anchor="t"/>
          <a:lstStyle/>
          <a:p>
            <a:pPr algn="l">
              <a:lnSpc>
                <a:spcPct val="120000"/>
              </a:lnSpc>
            </a:pPr>
            <a:r>
              <a:rPr sz="1400" b="0" i="0">
                <a:solidFill>
                  <a:srgbClr val="5C6E84"/>
                </a:solidFill>
                <a:latin typeface="Libre Franklin"/>
              </a:rPr>
              <a:t>VALIDATE · QUESTION 3 · AGENT'S CHOICE</a:t>
            </a:r>
          </a:p>
        </p:txBody>
      </p:sp>
      <p:sp>
        <p:nvSpPr>
          <p:cNvPr id="12" name="TextBox 11"/>
          <p:cNvSpPr txBox="1"/>
          <p:nvPr/>
        </p:nvSpPr>
        <p:spPr>
          <a:xfrm>
            <a:off x="1280160" y="4297680"/>
            <a:ext cx="15544800" cy="2743200"/>
          </a:xfrm>
          <a:prstGeom prst="rect">
            <a:avLst/>
          </a:prstGeom>
          <a:noFill/>
        </p:spPr>
        <p:txBody>
          <a:bodyPr wrap="square" lIns="0" rIns="0" tIns="0" bIns="0" anchor="t"/>
          <a:lstStyle/>
          <a:p>
            <a:pPr algn="l">
              <a:lnSpc>
                <a:spcPct val="140000"/>
              </a:lnSpc>
            </a:pPr>
            <a:r>
              <a:rPr sz="3600" b="0" i="0">
                <a:solidFill>
                  <a:srgbClr val="041326"/>
                </a:solidFill>
                <a:latin typeface="Libre Franklin"/>
              </a:rPr>
              <a:t>If an agent shopped this mortgage for your customer, would it </a:t>
            </a:r>
            <a:r>
              <a:rPr sz="3600" b="0" i="0">
                <a:solidFill>
                  <a:srgbClr val="3366FF"/>
                </a:solidFill>
                <a:latin typeface="Libre Franklin"/>
              </a:rPr>
              <a:t>pick you</a:t>
            </a:r>
            <a:r>
              <a:rPr sz="3600" b="0" i="0">
                <a:solidFill>
                  <a:srgbClr val="041326"/>
                </a:solidFill>
                <a:latin typeface="Libre Franklin"/>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85216" y="457200"/>
            <a:ext cx="82296"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39496"/>
            <a:ext cx="164592"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0352"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7757648"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86868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0" y="960120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6002000" y="9738360"/>
            <a:ext cx="1463040" cy="365760"/>
          </a:xfrm>
          <a:prstGeom prst="rect">
            <a:avLst/>
          </a:prstGeom>
          <a:noFill/>
        </p:spPr>
        <p:txBody>
          <a:bodyPr wrap="square" lIns="0" rIns="0" tIns="0" bIns="0" anchor="t"/>
          <a:lstStyle/>
          <a:p>
            <a:pPr algn="r">
              <a:lnSpc>
                <a:spcPct val="120000"/>
              </a:lnSpc>
            </a:pPr>
            <a:r>
              <a:rPr sz="1400" b="1" i="0">
                <a:solidFill>
                  <a:srgbClr val="041326"/>
                </a:solidFill>
                <a:latin typeface="Libre Franklin"/>
              </a:rPr>
              <a:t>Backbase</a:t>
            </a:r>
          </a:p>
        </p:txBody>
      </p:sp>
      <p:sp>
        <p:nvSpPr>
          <p:cNvPr id="9" name="TextBox 8"/>
          <p:cNvSpPr txBox="1"/>
          <p:nvPr/>
        </p:nvSpPr>
        <p:spPr>
          <a:xfrm>
            <a:off x="17556480" y="9738360"/>
            <a:ext cx="457200" cy="365760"/>
          </a:xfrm>
          <a:prstGeom prst="rect">
            <a:avLst/>
          </a:prstGeom>
          <a:noFill/>
        </p:spPr>
        <p:txBody>
          <a:bodyPr wrap="square" lIns="0" rIns="0" tIns="0" bIns="0" anchor="t"/>
          <a:lstStyle/>
          <a:p>
            <a:pPr algn="r">
              <a:lnSpc>
                <a:spcPct val="120000"/>
              </a:lnSpc>
            </a:pPr>
            <a:r>
              <a:rPr sz="1000" b="0" i="0">
                <a:solidFill>
                  <a:srgbClr val="041326"/>
                </a:solidFill>
                <a:latin typeface="Libre Franklin"/>
              </a:rPr>
              <a:t>11 / 13</a:t>
            </a:r>
          </a:p>
        </p:txBody>
      </p:sp>
      <p:sp>
        <p:nvSpPr>
          <p:cNvPr id="10" name="TextBox 9"/>
          <p:cNvSpPr txBox="1"/>
          <p:nvPr/>
        </p:nvSpPr>
        <p:spPr>
          <a:xfrm>
            <a:off x="1280160" y="1280160"/>
            <a:ext cx="15544800" cy="365760"/>
          </a:xfrm>
          <a:prstGeom prst="rect">
            <a:avLst/>
          </a:prstGeom>
          <a:noFill/>
        </p:spPr>
        <p:txBody>
          <a:bodyPr wrap="square" lIns="0" rIns="0" tIns="0" bIns="0" anchor="t"/>
          <a:lstStyle/>
          <a:p>
            <a:pPr algn="l">
              <a:lnSpc>
                <a:spcPct val="120000"/>
              </a:lnSpc>
            </a:pPr>
            <a:r>
              <a:rPr sz="1400" b="0" i="0">
                <a:solidFill>
                  <a:srgbClr val="5C6E84"/>
                </a:solidFill>
                <a:latin typeface="Libre Franklin"/>
              </a:rPr>
              <a:t>INSIGHT 3 · WHEN SOMEONE ELSE OWNS THE INTENT</a:t>
            </a:r>
          </a:p>
        </p:txBody>
      </p:sp>
      <p:sp>
        <p:nvSpPr>
          <p:cNvPr id="11" name="TextBox 10"/>
          <p:cNvSpPr txBox="1"/>
          <p:nvPr/>
        </p:nvSpPr>
        <p:spPr>
          <a:xfrm>
            <a:off x="1280160" y="1737360"/>
            <a:ext cx="15544800" cy="1005840"/>
          </a:xfrm>
          <a:prstGeom prst="rect">
            <a:avLst/>
          </a:prstGeom>
          <a:noFill/>
        </p:spPr>
        <p:txBody>
          <a:bodyPr wrap="square" lIns="0" rIns="0" tIns="0" bIns="0" anchor="t"/>
          <a:lstStyle/>
          <a:p>
            <a:pPr algn="l">
              <a:lnSpc>
                <a:spcPct val="115000"/>
              </a:lnSpc>
            </a:pPr>
            <a:r>
              <a:rPr sz="4400" b="0" i="0">
                <a:solidFill>
                  <a:srgbClr val="041326"/>
                </a:solidFill>
                <a:latin typeface="Libre Franklin"/>
              </a:rPr>
              <a:t>When someone else owns the intent, they capture the relationship.</a:t>
            </a:r>
          </a:p>
        </p:txBody>
      </p:sp>
      <p:sp>
        <p:nvSpPr>
          <p:cNvPr id="12" name="TextBox 11"/>
          <p:cNvSpPr txBox="1"/>
          <p:nvPr/>
        </p:nvSpPr>
        <p:spPr>
          <a:xfrm>
            <a:off x="1280160" y="4206240"/>
            <a:ext cx="4998719" cy="457200"/>
          </a:xfrm>
          <a:prstGeom prst="rect">
            <a:avLst/>
          </a:prstGeom>
          <a:noFill/>
        </p:spPr>
        <p:txBody>
          <a:bodyPr wrap="square" lIns="0" rIns="0" tIns="0" bIns="0" anchor="t"/>
          <a:lstStyle/>
          <a:p>
            <a:pPr algn="l">
              <a:lnSpc>
                <a:spcPct val="120000"/>
              </a:lnSpc>
            </a:pPr>
            <a:r>
              <a:rPr sz="1200" b="1" i="0">
                <a:solidFill>
                  <a:srgbClr val="3366FF"/>
                </a:solidFill>
                <a:latin typeface="Libre Franklin"/>
              </a:rPr>
              <a:t>KLARNA · SWEDEN, 2005 →</a:t>
            </a:r>
          </a:p>
        </p:txBody>
      </p:sp>
      <p:sp>
        <p:nvSpPr>
          <p:cNvPr id="13" name="TextBox 12"/>
          <p:cNvSpPr txBox="1"/>
          <p:nvPr/>
        </p:nvSpPr>
        <p:spPr>
          <a:xfrm>
            <a:off x="1280160" y="4709160"/>
            <a:ext cx="4998719" cy="1280160"/>
          </a:xfrm>
          <a:prstGeom prst="rect">
            <a:avLst/>
          </a:prstGeom>
          <a:noFill/>
        </p:spPr>
        <p:txBody>
          <a:bodyPr wrap="square" lIns="0" rIns="0" tIns="0" bIns="0" anchor="t"/>
          <a:lstStyle/>
          <a:p>
            <a:pPr algn="l">
              <a:lnSpc>
                <a:spcPct val="100000"/>
              </a:lnSpc>
            </a:pPr>
            <a:r>
              <a:rPr sz="5200" b="1" i="0">
                <a:solidFill>
                  <a:srgbClr val="3366FF"/>
                </a:solidFill>
                <a:latin typeface="Libre Franklin"/>
              </a:rPr>
              <a:t>150M</a:t>
            </a:r>
          </a:p>
        </p:txBody>
      </p:sp>
      <p:sp>
        <p:nvSpPr>
          <p:cNvPr id="14" name="TextBox 13"/>
          <p:cNvSpPr txBox="1"/>
          <p:nvPr/>
        </p:nvSpPr>
        <p:spPr>
          <a:xfrm>
            <a:off x="1280160" y="5989320"/>
            <a:ext cx="4998719" cy="731520"/>
          </a:xfrm>
          <a:prstGeom prst="rect">
            <a:avLst/>
          </a:prstGeom>
          <a:noFill/>
        </p:spPr>
        <p:txBody>
          <a:bodyPr wrap="square" lIns="0" rIns="0" tIns="0" bIns="0" anchor="t"/>
          <a:lstStyle/>
          <a:p>
            <a:pPr algn="l">
              <a:lnSpc>
                <a:spcPct val="140000"/>
              </a:lnSpc>
            </a:pPr>
            <a:r>
              <a:rPr sz="1600" b="1" i="0">
                <a:solidFill>
                  <a:srgbClr val="041326"/>
                </a:solidFill>
                <a:latin typeface="Libre Franklin"/>
              </a:rPr>
              <a:t>The shopping agent owned the credit.</a:t>
            </a:r>
          </a:p>
        </p:txBody>
      </p:sp>
      <p:sp>
        <p:nvSpPr>
          <p:cNvPr id="15" name="TextBox 14"/>
          <p:cNvSpPr txBox="1"/>
          <p:nvPr/>
        </p:nvSpPr>
        <p:spPr>
          <a:xfrm>
            <a:off x="1280160" y="6812280"/>
            <a:ext cx="4998719" cy="1600200"/>
          </a:xfrm>
          <a:prstGeom prst="rect">
            <a:avLst/>
          </a:prstGeom>
          <a:noFill/>
        </p:spPr>
        <p:txBody>
          <a:bodyPr wrap="square" lIns="0" rIns="0" tIns="0" bIns="0" anchor="t"/>
          <a:lstStyle/>
          <a:p>
            <a:pPr algn="l">
              <a:lnSpc>
                <a:spcPct val="155000"/>
              </a:lnSpc>
            </a:pPr>
            <a:r>
              <a:rPr sz="1300" b="0" i="0">
                <a:solidFill>
                  <a:srgbClr val="041326"/>
                </a:solidFill>
                <a:latin typeface="Libre Franklin"/>
              </a:rPr>
              <a:t>Klarna owned the checkout moment — the intent layer of consumer commerce. 150M+ consumers globally. The bank extending credit became invisible; Klarna became the brand on the screen.</a:t>
            </a:r>
          </a:p>
        </p:txBody>
      </p:sp>
      <p:sp>
        <p:nvSpPr>
          <p:cNvPr id="16" name="TextBox 15"/>
          <p:cNvSpPr txBox="1"/>
          <p:nvPr/>
        </p:nvSpPr>
        <p:spPr>
          <a:xfrm>
            <a:off x="1280160" y="8595360"/>
            <a:ext cx="4998719" cy="457200"/>
          </a:xfrm>
          <a:prstGeom prst="rect">
            <a:avLst/>
          </a:prstGeom>
          <a:noFill/>
        </p:spPr>
        <p:txBody>
          <a:bodyPr wrap="square" lIns="0" rIns="0" tIns="0" bIns="0" anchor="t"/>
          <a:lstStyle/>
          <a:p>
            <a:pPr algn="l">
              <a:lnSpc>
                <a:spcPct val="145000"/>
              </a:lnSpc>
            </a:pPr>
            <a:r>
              <a:rPr sz="1000" b="0" i="1">
                <a:solidFill>
                  <a:srgbClr val="5C6E84"/>
                </a:solidFill>
                <a:latin typeface="Libre Franklin"/>
              </a:rPr>
              <a:t>Klarna investor materials, 2024; BCG Global Payments Report 2024</a:t>
            </a:r>
          </a:p>
        </p:txBody>
      </p:sp>
      <p:cxnSp>
        <p:nvCxnSpPr>
          <p:cNvPr id="17" name="Connector 16"/>
          <p:cNvCxnSpPr/>
          <p:nvPr/>
        </p:nvCxnSpPr>
        <p:spPr>
          <a:xfrm>
            <a:off x="6416039" y="4206240"/>
            <a:ext cx="0" cy="493776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553199" y="4206240"/>
            <a:ext cx="4998719" cy="457200"/>
          </a:xfrm>
          <a:prstGeom prst="rect">
            <a:avLst/>
          </a:prstGeom>
          <a:noFill/>
        </p:spPr>
        <p:txBody>
          <a:bodyPr wrap="square" lIns="0" rIns="0" tIns="0" bIns="0" anchor="t"/>
          <a:lstStyle/>
          <a:p>
            <a:pPr algn="l">
              <a:lnSpc>
                <a:spcPct val="120000"/>
              </a:lnSpc>
            </a:pPr>
            <a:r>
              <a:rPr sz="1200" b="1" i="0">
                <a:solidFill>
                  <a:srgbClr val="3366FF"/>
                </a:solidFill>
                <a:latin typeface="Libre Franklin"/>
              </a:rPr>
              <a:t>PLAID · US, 2013 →</a:t>
            </a:r>
          </a:p>
        </p:txBody>
      </p:sp>
      <p:sp>
        <p:nvSpPr>
          <p:cNvPr id="19" name="TextBox 18"/>
          <p:cNvSpPr txBox="1"/>
          <p:nvPr/>
        </p:nvSpPr>
        <p:spPr>
          <a:xfrm>
            <a:off x="6553199" y="4709160"/>
            <a:ext cx="4998719" cy="1280160"/>
          </a:xfrm>
          <a:prstGeom prst="rect">
            <a:avLst/>
          </a:prstGeom>
          <a:noFill/>
        </p:spPr>
        <p:txBody>
          <a:bodyPr wrap="square" lIns="0" rIns="0" tIns="0" bIns="0" anchor="t"/>
          <a:lstStyle/>
          <a:p>
            <a:pPr algn="l">
              <a:lnSpc>
                <a:spcPct val="100000"/>
              </a:lnSpc>
            </a:pPr>
            <a:r>
              <a:rPr sz="5200" b="1" i="0">
                <a:solidFill>
                  <a:srgbClr val="3366FF"/>
                </a:solidFill>
                <a:latin typeface="Libre Franklin"/>
              </a:rPr>
              <a:t>1 in 4</a:t>
            </a:r>
          </a:p>
        </p:txBody>
      </p:sp>
      <p:sp>
        <p:nvSpPr>
          <p:cNvPr id="20" name="TextBox 19"/>
          <p:cNvSpPr txBox="1"/>
          <p:nvPr/>
        </p:nvSpPr>
        <p:spPr>
          <a:xfrm>
            <a:off x="6553199" y="5989320"/>
            <a:ext cx="4998719" cy="731520"/>
          </a:xfrm>
          <a:prstGeom prst="rect">
            <a:avLst/>
          </a:prstGeom>
          <a:noFill/>
        </p:spPr>
        <p:txBody>
          <a:bodyPr wrap="square" lIns="0" rIns="0" tIns="0" bIns="0" anchor="t"/>
          <a:lstStyle/>
          <a:p>
            <a:pPr algn="l">
              <a:lnSpc>
                <a:spcPct val="140000"/>
              </a:lnSpc>
            </a:pPr>
            <a:r>
              <a:rPr sz="1600" b="1" i="0">
                <a:solidFill>
                  <a:srgbClr val="041326"/>
                </a:solidFill>
                <a:latin typeface="Libre Franklin"/>
              </a:rPr>
              <a:t>The API between customers and their banks.</a:t>
            </a:r>
          </a:p>
        </p:txBody>
      </p:sp>
      <p:sp>
        <p:nvSpPr>
          <p:cNvPr id="21" name="TextBox 20"/>
          <p:cNvSpPr txBox="1"/>
          <p:nvPr/>
        </p:nvSpPr>
        <p:spPr>
          <a:xfrm>
            <a:off x="6553199" y="6812280"/>
            <a:ext cx="4998719" cy="1600200"/>
          </a:xfrm>
          <a:prstGeom prst="rect">
            <a:avLst/>
          </a:prstGeom>
          <a:noFill/>
        </p:spPr>
        <p:txBody>
          <a:bodyPr wrap="square" lIns="0" rIns="0" tIns="0" bIns="0" anchor="t"/>
          <a:lstStyle/>
          <a:p>
            <a:pPr algn="l">
              <a:lnSpc>
                <a:spcPct val="155000"/>
              </a:lnSpc>
            </a:pPr>
            <a:r>
              <a:rPr sz="1300" b="0" i="0">
                <a:solidFill>
                  <a:srgbClr val="041326"/>
                </a:solidFill>
                <a:latin typeface="Libre Franklin"/>
              </a:rPr>
              <a:t>One in four US adults have connected an account through Plaid. Every consumer-fintech app routes through it; banks became the backend. The intent layer moved to a startup.</a:t>
            </a:r>
          </a:p>
        </p:txBody>
      </p:sp>
      <p:sp>
        <p:nvSpPr>
          <p:cNvPr id="22" name="TextBox 21"/>
          <p:cNvSpPr txBox="1"/>
          <p:nvPr/>
        </p:nvSpPr>
        <p:spPr>
          <a:xfrm>
            <a:off x="6553199" y="8595360"/>
            <a:ext cx="4998719" cy="457200"/>
          </a:xfrm>
          <a:prstGeom prst="rect">
            <a:avLst/>
          </a:prstGeom>
          <a:noFill/>
        </p:spPr>
        <p:txBody>
          <a:bodyPr wrap="square" lIns="0" rIns="0" tIns="0" bIns="0" anchor="t"/>
          <a:lstStyle/>
          <a:p>
            <a:pPr algn="l">
              <a:lnSpc>
                <a:spcPct val="145000"/>
              </a:lnSpc>
            </a:pPr>
            <a:r>
              <a:rPr sz="1000" b="0" i="1">
                <a:solidFill>
                  <a:srgbClr val="5C6E84"/>
                </a:solidFill>
                <a:latin typeface="Libre Franklin"/>
              </a:rPr>
              <a:t>Plaid public statements, 2024; CFPB Section 1033 filings</a:t>
            </a:r>
          </a:p>
        </p:txBody>
      </p:sp>
      <p:cxnSp>
        <p:nvCxnSpPr>
          <p:cNvPr id="23" name="Connector 22"/>
          <p:cNvCxnSpPr/>
          <p:nvPr/>
        </p:nvCxnSpPr>
        <p:spPr>
          <a:xfrm>
            <a:off x="11689078" y="4206240"/>
            <a:ext cx="0" cy="493776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1826238" y="4206240"/>
            <a:ext cx="4998719" cy="457200"/>
          </a:xfrm>
          <a:prstGeom prst="rect">
            <a:avLst/>
          </a:prstGeom>
          <a:noFill/>
        </p:spPr>
        <p:txBody>
          <a:bodyPr wrap="square" lIns="0" rIns="0" tIns="0" bIns="0" anchor="t"/>
          <a:lstStyle/>
          <a:p>
            <a:pPr algn="l">
              <a:lnSpc>
                <a:spcPct val="120000"/>
              </a:lnSpc>
            </a:pPr>
            <a:r>
              <a:rPr sz="1200" b="1" i="0">
                <a:solidFill>
                  <a:srgbClr val="3366FF"/>
                </a:solidFill>
                <a:latin typeface="Libre Franklin"/>
              </a:rPr>
              <a:t>M-PESA · KENYA, 2007 →</a:t>
            </a:r>
          </a:p>
        </p:txBody>
      </p:sp>
      <p:sp>
        <p:nvSpPr>
          <p:cNvPr id="25" name="TextBox 24"/>
          <p:cNvSpPr txBox="1"/>
          <p:nvPr/>
        </p:nvSpPr>
        <p:spPr>
          <a:xfrm>
            <a:off x="11826238" y="4709160"/>
            <a:ext cx="4998719" cy="1280160"/>
          </a:xfrm>
          <a:prstGeom prst="rect">
            <a:avLst/>
          </a:prstGeom>
          <a:noFill/>
        </p:spPr>
        <p:txBody>
          <a:bodyPr wrap="square" lIns="0" rIns="0" tIns="0" bIns="0" anchor="t"/>
          <a:lstStyle/>
          <a:p>
            <a:pPr algn="l">
              <a:lnSpc>
                <a:spcPct val="100000"/>
              </a:lnSpc>
            </a:pPr>
            <a:r>
              <a:rPr sz="5200" b="1" i="0">
                <a:solidFill>
                  <a:srgbClr val="3366FF"/>
                </a:solidFill>
                <a:latin typeface="Libre Franklin"/>
              </a:rPr>
              <a:t>~60%</a:t>
            </a:r>
          </a:p>
        </p:txBody>
      </p:sp>
      <p:sp>
        <p:nvSpPr>
          <p:cNvPr id="26" name="TextBox 25"/>
          <p:cNvSpPr txBox="1"/>
          <p:nvPr/>
        </p:nvSpPr>
        <p:spPr>
          <a:xfrm>
            <a:off x="11826238" y="5989320"/>
            <a:ext cx="4998719" cy="731520"/>
          </a:xfrm>
          <a:prstGeom prst="rect">
            <a:avLst/>
          </a:prstGeom>
          <a:noFill/>
        </p:spPr>
        <p:txBody>
          <a:bodyPr wrap="square" lIns="0" rIns="0" tIns="0" bIns="0" anchor="t"/>
          <a:lstStyle/>
          <a:p>
            <a:pPr algn="l">
              <a:lnSpc>
                <a:spcPct val="140000"/>
              </a:lnSpc>
            </a:pPr>
            <a:r>
              <a:rPr sz="1600" b="1" i="0">
                <a:solidFill>
                  <a:srgbClr val="041326"/>
                </a:solidFill>
                <a:latin typeface="Libre Franklin"/>
              </a:rPr>
              <a:t>A telco became the bank.</a:t>
            </a:r>
          </a:p>
        </p:txBody>
      </p:sp>
      <p:sp>
        <p:nvSpPr>
          <p:cNvPr id="27" name="TextBox 26"/>
          <p:cNvSpPr txBox="1"/>
          <p:nvPr/>
        </p:nvSpPr>
        <p:spPr>
          <a:xfrm>
            <a:off x="11826238" y="6812280"/>
            <a:ext cx="4998719" cy="1600200"/>
          </a:xfrm>
          <a:prstGeom prst="rect">
            <a:avLst/>
          </a:prstGeom>
          <a:noFill/>
        </p:spPr>
        <p:txBody>
          <a:bodyPr wrap="square" lIns="0" rIns="0" tIns="0" bIns="0" anchor="t"/>
          <a:lstStyle/>
          <a:p>
            <a:pPr algn="l">
              <a:lnSpc>
                <a:spcPct val="155000"/>
              </a:lnSpc>
            </a:pPr>
            <a:r>
              <a:rPr sz="1300" b="0" i="0">
                <a:solidFill>
                  <a:srgbClr val="041326"/>
                </a:solidFill>
                <a:latin typeface="Libre Franklin"/>
              </a:rPr>
              <a:t>Safaricom's M-Pesa captured trust + intent before Kenyan banks modernised. It now moves ~60% of Kenya's GDP. Banks remain — they are no longer the primary layer the customer interacts with.</a:t>
            </a:r>
          </a:p>
        </p:txBody>
      </p:sp>
      <p:sp>
        <p:nvSpPr>
          <p:cNvPr id="28" name="TextBox 27"/>
          <p:cNvSpPr txBox="1"/>
          <p:nvPr/>
        </p:nvSpPr>
        <p:spPr>
          <a:xfrm>
            <a:off x="11826238" y="8595360"/>
            <a:ext cx="4998719" cy="457200"/>
          </a:xfrm>
          <a:prstGeom prst="rect">
            <a:avLst/>
          </a:prstGeom>
          <a:noFill/>
        </p:spPr>
        <p:txBody>
          <a:bodyPr wrap="square" lIns="0" rIns="0" tIns="0" bIns="0" anchor="t"/>
          <a:lstStyle/>
          <a:p>
            <a:pPr algn="l">
              <a:lnSpc>
                <a:spcPct val="145000"/>
              </a:lnSpc>
            </a:pPr>
            <a:r>
              <a:rPr sz="1000" b="0" i="1">
                <a:solidFill>
                  <a:srgbClr val="5C6E84"/>
                </a:solidFill>
                <a:latin typeface="Libre Franklin"/>
              </a:rPr>
              <a:t>Safaricom FY24 annual report; CBK National Payments Strategy 2022–25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85216" y="457200"/>
            <a:ext cx="82296"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39496"/>
            <a:ext cx="164592"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0352"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7757648"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86868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0" y="960120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6002000" y="9738360"/>
            <a:ext cx="1463040" cy="365760"/>
          </a:xfrm>
          <a:prstGeom prst="rect">
            <a:avLst/>
          </a:prstGeom>
          <a:noFill/>
        </p:spPr>
        <p:txBody>
          <a:bodyPr wrap="square" lIns="0" rIns="0" tIns="0" bIns="0" anchor="t"/>
          <a:lstStyle/>
          <a:p>
            <a:pPr algn="r">
              <a:lnSpc>
                <a:spcPct val="120000"/>
              </a:lnSpc>
            </a:pPr>
            <a:r>
              <a:rPr sz="1400" b="1" i="0">
                <a:solidFill>
                  <a:srgbClr val="041326"/>
                </a:solidFill>
                <a:latin typeface="Libre Franklin"/>
              </a:rPr>
              <a:t>Backbase</a:t>
            </a:r>
          </a:p>
        </p:txBody>
      </p:sp>
      <p:sp>
        <p:nvSpPr>
          <p:cNvPr id="9" name="TextBox 8"/>
          <p:cNvSpPr txBox="1"/>
          <p:nvPr/>
        </p:nvSpPr>
        <p:spPr>
          <a:xfrm>
            <a:off x="17556480" y="9738360"/>
            <a:ext cx="457200" cy="365760"/>
          </a:xfrm>
          <a:prstGeom prst="rect">
            <a:avLst/>
          </a:prstGeom>
          <a:noFill/>
        </p:spPr>
        <p:txBody>
          <a:bodyPr wrap="square" lIns="0" rIns="0" tIns="0" bIns="0" anchor="t"/>
          <a:lstStyle/>
          <a:p>
            <a:pPr algn="r">
              <a:lnSpc>
                <a:spcPct val="120000"/>
              </a:lnSpc>
            </a:pPr>
            <a:r>
              <a:rPr sz="1000" b="0" i="0">
                <a:solidFill>
                  <a:srgbClr val="041326"/>
                </a:solidFill>
                <a:latin typeface="Libre Franklin"/>
              </a:rPr>
              <a:t>12 / 13</a:t>
            </a:r>
          </a:p>
        </p:txBody>
      </p:sp>
      <p:sp>
        <p:nvSpPr>
          <p:cNvPr id="10" name="TextBox 9"/>
          <p:cNvSpPr txBox="1"/>
          <p:nvPr/>
        </p:nvSpPr>
        <p:spPr>
          <a:xfrm>
            <a:off x="1280160" y="1280160"/>
            <a:ext cx="15544800" cy="365760"/>
          </a:xfrm>
          <a:prstGeom prst="rect">
            <a:avLst/>
          </a:prstGeom>
          <a:noFill/>
        </p:spPr>
        <p:txBody>
          <a:bodyPr wrap="square" lIns="0" rIns="0" tIns="0" bIns="0" anchor="t"/>
          <a:lstStyle/>
          <a:p>
            <a:pPr algn="l">
              <a:lnSpc>
                <a:spcPct val="120000"/>
              </a:lnSpc>
            </a:pPr>
            <a:r>
              <a:rPr sz="1400" b="0" i="0">
                <a:solidFill>
                  <a:srgbClr val="5C6E84"/>
                </a:solidFill>
                <a:latin typeface="Libre Franklin"/>
              </a:rPr>
              <a:t>THE CHOICE · TWO RESPONSES TO AI</a:t>
            </a:r>
          </a:p>
        </p:txBody>
      </p:sp>
      <p:sp>
        <p:nvSpPr>
          <p:cNvPr id="11" name="TextBox 10"/>
          <p:cNvSpPr txBox="1"/>
          <p:nvPr/>
        </p:nvSpPr>
        <p:spPr>
          <a:xfrm>
            <a:off x="1280160" y="1737360"/>
            <a:ext cx="15544800" cy="1005840"/>
          </a:xfrm>
          <a:prstGeom prst="rect">
            <a:avLst/>
          </a:prstGeom>
          <a:noFill/>
        </p:spPr>
        <p:txBody>
          <a:bodyPr wrap="square" lIns="0" rIns="0" tIns="0" bIns="0" anchor="t"/>
          <a:lstStyle/>
          <a:p>
            <a:pPr algn="l">
              <a:lnSpc>
                <a:spcPct val="115000"/>
              </a:lnSpc>
            </a:pPr>
            <a:r>
              <a:rPr sz="4400" b="0" i="0">
                <a:solidFill>
                  <a:srgbClr val="041326"/>
                </a:solidFill>
                <a:latin typeface="Libre Franklin"/>
              </a:rPr>
              <a:t>Bolt-on programmes lose. Re-platforms win.</a:t>
            </a:r>
          </a:p>
        </p:txBody>
      </p:sp>
      <p:sp>
        <p:nvSpPr>
          <p:cNvPr id="12" name="TextBox 11"/>
          <p:cNvSpPr txBox="1"/>
          <p:nvPr/>
        </p:nvSpPr>
        <p:spPr>
          <a:xfrm>
            <a:off x="1280160" y="2834640"/>
            <a:ext cx="15544800" cy="731520"/>
          </a:xfrm>
          <a:prstGeom prst="rect">
            <a:avLst/>
          </a:prstGeom>
          <a:noFill/>
        </p:spPr>
        <p:txBody>
          <a:bodyPr wrap="square" lIns="0" rIns="0" tIns="0" bIns="0" anchor="t"/>
          <a:lstStyle/>
          <a:p>
            <a:pPr algn="l">
              <a:lnSpc>
                <a:spcPct val="145000"/>
              </a:lnSpc>
            </a:pPr>
            <a:r>
              <a:rPr sz="1800" b="0" i="0">
                <a:solidFill>
                  <a:srgbClr val="3366FF"/>
                </a:solidFill>
                <a:latin typeface="Libre Franklin"/>
              </a:rPr>
              <a:t>An identity shift, not a tech upgrade. The decision is not whether to use AI — it is what AI plugs into.</a:t>
            </a:r>
          </a:p>
        </p:txBody>
      </p:sp>
      <p:sp>
        <p:nvSpPr>
          <p:cNvPr id="13" name="Rounded Rectangle 12"/>
          <p:cNvSpPr/>
          <p:nvPr/>
        </p:nvSpPr>
        <p:spPr>
          <a:xfrm>
            <a:off x="1280160" y="4206240"/>
            <a:ext cx="7589520" cy="4206240"/>
          </a:xfrm>
          <a:prstGeom prst="roundRect">
            <a:avLst>
              <a:gd name="adj" fmla="val 3000"/>
            </a:avLst>
          </a:prstGeom>
          <a:solidFill>
            <a:srgbClr val="FA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37160" bIns="137160"/>
          <a:lstStyle/>
          <a:p>
            <a:pPr algn="ctr"/>
          </a:p>
        </p:txBody>
      </p:sp>
      <p:sp>
        <p:nvSpPr>
          <p:cNvPr id="14" name="Rectangle 13"/>
          <p:cNvSpPr/>
          <p:nvPr/>
        </p:nvSpPr>
        <p:spPr>
          <a:xfrm>
            <a:off x="1280160" y="4206240"/>
            <a:ext cx="109728" cy="4206240"/>
          </a:xfrm>
          <a:prstGeom prst="rect">
            <a:avLst/>
          </a:prstGeom>
          <a:solidFill>
            <a:srgbClr val="FF503C"/>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37160" bIns="137160"/>
          <a:lstStyle/>
          <a:p>
            <a:pPr algn="ctr"/>
          </a:p>
        </p:txBody>
      </p:sp>
      <p:sp>
        <p:nvSpPr>
          <p:cNvPr id="15" name="TextBox 14"/>
          <p:cNvSpPr txBox="1"/>
          <p:nvPr/>
        </p:nvSpPr>
        <p:spPr>
          <a:xfrm>
            <a:off x="1691640" y="4572000"/>
            <a:ext cx="6949440" cy="365760"/>
          </a:xfrm>
          <a:prstGeom prst="rect">
            <a:avLst/>
          </a:prstGeom>
          <a:noFill/>
        </p:spPr>
        <p:txBody>
          <a:bodyPr wrap="square" lIns="0" rIns="0" tIns="0" bIns="0" anchor="t"/>
          <a:lstStyle/>
          <a:p>
            <a:pPr algn="l">
              <a:lnSpc>
                <a:spcPct val="120000"/>
              </a:lnSpc>
            </a:pPr>
            <a:r>
              <a:rPr sz="1200" b="1" i="0">
                <a:solidFill>
                  <a:srgbClr val="FF503C"/>
                </a:solidFill>
                <a:latin typeface="Libre Franklin"/>
              </a:rPr>
              <a:t>PATTERN A · BOLT-ON</a:t>
            </a:r>
          </a:p>
        </p:txBody>
      </p:sp>
      <p:sp>
        <p:nvSpPr>
          <p:cNvPr id="16" name="TextBox 15"/>
          <p:cNvSpPr txBox="1"/>
          <p:nvPr/>
        </p:nvSpPr>
        <p:spPr>
          <a:xfrm>
            <a:off x="1691640" y="5074920"/>
            <a:ext cx="6949440" cy="640080"/>
          </a:xfrm>
          <a:prstGeom prst="rect">
            <a:avLst/>
          </a:prstGeom>
          <a:noFill/>
        </p:spPr>
        <p:txBody>
          <a:bodyPr wrap="square" lIns="0" rIns="0" tIns="0" bIns="0" anchor="t"/>
          <a:lstStyle/>
          <a:p>
            <a:pPr algn="l">
              <a:lnSpc>
                <a:spcPct val="130000"/>
              </a:lnSpc>
            </a:pPr>
            <a:r>
              <a:rPr sz="2200" b="1" i="0">
                <a:solidFill>
                  <a:srgbClr val="041326"/>
                </a:solidFill>
                <a:latin typeface="Libre Franklin"/>
              </a:rPr>
              <a:t>AI added to product silos.</a:t>
            </a:r>
          </a:p>
        </p:txBody>
      </p:sp>
      <p:sp>
        <p:nvSpPr>
          <p:cNvPr id="17" name="TextBox 16"/>
          <p:cNvSpPr txBox="1"/>
          <p:nvPr/>
        </p:nvSpPr>
        <p:spPr>
          <a:xfrm>
            <a:off x="1691640" y="5897880"/>
            <a:ext cx="6949440" cy="1645920"/>
          </a:xfrm>
          <a:prstGeom prst="rect">
            <a:avLst/>
          </a:prstGeom>
          <a:noFill/>
        </p:spPr>
        <p:txBody>
          <a:bodyPr wrap="square" lIns="0" rIns="0" tIns="0" bIns="0" anchor="t"/>
          <a:lstStyle/>
          <a:p>
            <a:pPr algn="l">
              <a:lnSpc>
                <a:spcPct val="170000"/>
              </a:lnSpc>
            </a:pPr>
            <a:r>
              <a:rPr sz="1300" b="0" i="0">
                <a:solidFill>
                  <a:srgbClr val="5C6E84"/>
                </a:solidFill>
                <a:latin typeface="Libre Franklin"/>
              </a:rPr>
              <a:t>▸ Channel-by-channel agents, each owned by a different P&amp;L</a:t>
            </a:r>
          </a:p>
          <a:p>
            <a:pPr algn="l">
              <a:lnSpc>
                <a:spcPct val="170000"/>
              </a:lnSpc>
            </a:pPr>
            <a:r>
              <a:rPr sz="1300" b="0" i="0">
                <a:solidFill>
                  <a:srgbClr val="5C6E84"/>
                </a:solidFill>
                <a:latin typeface="Libre Franklin"/>
              </a:rPr>
              <a:t>▸ Five copies of the customer; none authoritative</a:t>
            </a:r>
          </a:p>
          <a:p>
            <a:pPr algn="l">
              <a:lnSpc>
                <a:spcPct val="170000"/>
              </a:lnSpc>
            </a:pPr>
            <a:r>
              <a:rPr sz="1300" b="0" i="0">
                <a:solidFill>
                  <a:srgbClr val="5C6E84"/>
                </a:solidFill>
                <a:latin typeface="Libre Franklin"/>
              </a:rPr>
              <a:t>▸ AI fluent at the front, broken at the back</a:t>
            </a:r>
          </a:p>
          <a:p>
            <a:pPr algn="l">
              <a:lnSpc>
                <a:spcPct val="170000"/>
              </a:lnSpc>
            </a:pPr>
            <a:r>
              <a:rPr sz="1300" b="0" i="0">
                <a:solidFill>
                  <a:srgbClr val="5C6E84"/>
                </a:solidFill>
                <a:latin typeface="Libre Franklin"/>
              </a:rPr>
              <a:t>▸ NPS plateaus; cost-to-serve doesn't move</a:t>
            </a:r>
          </a:p>
        </p:txBody>
      </p:sp>
      <p:sp>
        <p:nvSpPr>
          <p:cNvPr id="18" name="TextBox 17"/>
          <p:cNvSpPr txBox="1"/>
          <p:nvPr/>
        </p:nvSpPr>
        <p:spPr>
          <a:xfrm>
            <a:off x="1691640" y="7818120"/>
            <a:ext cx="6949440" cy="457200"/>
          </a:xfrm>
          <a:prstGeom prst="rect">
            <a:avLst/>
          </a:prstGeom>
          <a:noFill/>
        </p:spPr>
        <p:txBody>
          <a:bodyPr wrap="square" lIns="0" rIns="0" tIns="0" bIns="0" anchor="t"/>
          <a:lstStyle/>
          <a:p>
            <a:pPr algn="l">
              <a:lnSpc>
                <a:spcPct val="120000"/>
              </a:lnSpc>
            </a:pPr>
            <a:r>
              <a:rPr sz="1100" b="0" i="1">
                <a:solidFill>
                  <a:srgbClr val="5C6E84"/>
                </a:solidFill>
                <a:latin typeface="Libre Franklin"/>
              </a:rPr>
              <a:t>"Faster cars on the same broken roads."</a:t>
            </a:r>
          </a:p>
        </p:txBody>
      </p:sp>
      <p:sp>
        <p:nvSpPr>
          <p:cNvPr id="19" name="Rounded Rectangle 18"/>
          <p:cNvSpPr/>
          <p:nvPr/>
        </p:nvSpPr>
        <p:spPr>
          <a:xfrm>
            <a:off x="9235440" y="4206240"/>
            <a:ext cx="7589520" cy="4206240"/>
          </a:xfrm>
          <a:prstGeom prst="roundRect">
            <a:avLst>
              <a:gd name="adj" fmla="val 3000"/>
            </a:avLst>
          </a:prstGeom>
          <a:solidFill>
            <a:srgbClr val="E5E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37160" bIns="137160"/>
          <a:lstStyle/>
          <a:p>
            <a:pPr algn="ctr"/>
          </a:p>
        </p:txBody>
      </p:sp>
      <p:sp>
        <p:nvSpPr>
          <p:cNvPr id="20" name="Rectangle 19"/>
          <p:cNvSpPr/>
          <p:nvPr/>
        </p:nvSpPr>
        <p:spPr>
          <a:xfrm>
            <a:off x="9235440" y="4206240"/>
            <a:ext cx="109728" cy="4206240"/>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37160" bIns="137160"/>
          <a:lstStyle/>
          <a:p>
            <a:pPr algn="ctr"/>
          </a:p>
        </p:txBody>
      </p:sp>
      <p:sp>
        <p:nvSpPr>
          <p:cNvPr id="21" name="TextBox 20"/>
          <p:cNvSpPr txBox="1"/>
          <p:nvPr/>
        </p:nvSpPr>
        <p:spPr>
          <a:xfrm>
            <a:off x="9646920" y="4572000"/>
            <a:ext cx="6949440" cy="365760"/>
          </a:xfrm>
          <a:prstGeom prst="rect">
            <a:avLst/>
          </a:prstGeom>
          <a:noFill/>
        </p:spPr>
        <p:txBody>
          <a:bodyPr wrap="square" lIns="0" rIns="0" tIns="0" bIns="0" anchor="t"/>
          <a:lstStyle/>
          <a:p>
            <a:pPr algn="l">
              <a:lnSpc>
                <a:spcPct val="120000"/>
              </a:lnSpc>
            </a:pPr>
            <a:r>
              <a:rPr sz="1200" b="1" i="0">
                <a:solidFill>
                  <a:srgbClr val="3366FF"/>
                </a:solidFill>
                <a:latin typeface="Libre Franklin"/>
              </a:rPr>
              <a:t>PATTERN B · RE-PLATFORM</a:t>
            </a:r>
          </a:p>
        </p:txBody>
      </p:sp>
      <p:sp>
        <p:nvSpPr>
          <p:cNvPr id="22" name="TextBox 21"/>
          <p:cNvSpPr txBox="1"/>
          <p:nvPr/>
        </p:nvSpPr>
        <p:spPr>
          <a:xfrm>
            <a:off x="9646920" y="5074920"/>
            <a:ext cx="6949440" cy="640080"/>
          </a:xfrm>
          <a:prstGeom prst="rect">
            <a:avLst/>
          </a:prstGeom>
          <a:noFill/>
        </p:spPr>
        <p:txBody>
          <a:bodyPr wrap="square" lIns="0" rIns="0" tIns="0" bIns="0" anchor="t"/>
          <a:lstStyle/>
          <a:p>
            <a:pPr algn="l">
              <a:lnSpc>
                <a:spcPct val="130000"/>
              </a:lnSpc>
            </a:pPr>
            <a:r>
              <a:rPr sz="2200" b="1" i="0">
                <a:solidFill>
                  <a:srgbClr val="041326"/>
                </a:solidFill>
                <a:latin typeface="Libre Franklin"/>
              </a:rPr>
              <a:t>A single fabric for the customer life.</a:t>
            </a:r>
          </a:p>
        </p:txBody>
      </p:sp>
      <p:sp>
        <p:nvSpPr>
          <p:cNvPr id="23" name="TextBox 22"/>
          <p:cNvSpPr txBox="1"/>
          <p:nvPr/>
        </p:nvSpPr>
        <p:spPr>
          <a:xfrm>
            <a:off x="9646920" y="5897880"/>
            <a:ext cx="6949440" cy="1645920"/>
          </a:xfrm>
          <a:prstGeom prst="rect">
            <a:avLst/>
          </a:prstGeom>
          <a:noFill/>
        </p:spPr>
        <p:txBody>
          <a:bodyPr wrap="square" lIns="0" rIns="0" tIns="0" bIns="0" anchor="t"/>
          <a:lstStyle/>
          <a:p>
            <a:pPr algn="l">
              <a:lnSpc>
                <a:spcPct val="170000"/>
              </a:lnSpc>
            </a:pPr>
            <a:r>
              <a:rPr sz="1300" b="0" i="0">
                <a:solidFill>
                  <a:srgbClr val="041326"/>
                </a:solidFill>
                <a:latin typeface="Libre Franklin"/>
              </a:rPr>
              <a:t>▸ One identity, one consent, one customer record</a:t>
            </a:r>
          </a:p>
          <a:p>
            <a:pPr algn="l">
              <a:lnSpc>
                <a:spcPct val="170000"/>
              </a:lnSpc>
            </a:pPr>
            <a:r>
              <a:rPr sz="1300" b="0" i="0">
                <a:solidFill>
                  <a:srgbClr val="041326"/>
                </a:solidFill>
                <a:latin typeface="Libre Franklin"/>
              </a:rPr>
              <a:t>▸ Orchestration layer any AI agent can plug into</a:t>
            </a:r>
          </a:p>
          <a:p>
            <a:pPr algn="l">
              <a:lnSpc>
                <a:spcPct val="170000"/>
              </a:lnSpc>
            </a:pPr>
            <a:r>
              <a:rPr sz="1300" b="0" i="0">
                <a:solidFill>
                  <a:srgbClr val="041326"/>
                </a:solidFill>
                <a:latin typeface="Libre Franklin"/>
              </a:rPr>
              <a:t>▸ Consistent CX from app to branch to advisor</a:t>
            </a:r>
          </a:p>
          <a:p>
            <a:pPr algn="l">
              <a:lnSpc>
                <a:spcPct val="170000"/>
              </a:lnSpc>
            </a:pPr>
            <a:r>
              <a:rPr sz="1300" b="0" i="0">
                <a:solidFill>
                  <a:srgbClr val="041326"/>
                </a:solidFill>
                <a:latin typeface="Libre Franklin"/>
              </a:rPr>
              <a:t>▸ Lift compounds — NPS, NTB, cost and ROE move together</a:t>
            </a:r>
          </a:p>
        </p:txBody>
      </p:sp>
      <p:sp>
        <p:nvSpPr>
          <p:cNvPr id="24" name="TextBox 23"/>
          <p:cNvSpPr txBox="1"/>
          <p:nvPr/>
        </p:nvSpPr>
        <p:spPr>
          <a:xfrm>
            <a:off x="9646920" y="7818120"/>
            <a:ext cx="6949440" cy="457200"/>
          </a:xfrm>
          <a:prstGeom prst="rect">
            <a:avLst/>
          </a:prstGeom>
          <a:noFill/>
        </p:spPr>
        <p:txBody>
          <a:bodyPr wrap="square" lIns="0" rIns="0" tIns="0" bIns="0" anchor="t"/>
          <a:lstStyle/>
          <a:p>
            <a:pPr algn="l">
              <a:lnSpc>
                <a:spcPct val="120000"/>
              </a:lnSpc>
            </a:pPr>
            <a:r>
              <a:rPr sz="1100" b="0" i="1">
                <a:solidFill>
                  <a:srgbClr val="041326"/>
                </a:solidFill>
                <a:latin typeface="Libre Franklin"/>
              </a:rPr>
              <a:t>"One operating fabric for the customer life."</a:t>
            </a:r>
          </a:p>
        </p:txBody>
      </p:sp>
      <p:sp>
        <p:nvSpPr>
          <p:cNvPr id="25" name="Rounded Rectangle 24"/>
          <p:cNvSpPr/>
          <p:nvPr/>
        </p:nvSpPr>
        <p:spPr>
          <a:xfrm>
            <a:off x="1280160" y="8732520"/>
            <a:ext cx="15544800" cy="548640"/>
          </a:xfrm>
          <a:prstGeom prst="roundRect">
            <a:avLst>
              <a:gd name="adj" fmla="val 10000"/>
            </a:avLst>
          </a:prstGeom>
          <a:solidFill>
            <a:srgbClr val="FFFFFF"/>
          </a:solidFill>
          <a:ln w="9525">
            <a:solidFill>
              <a:srgbClr val="CED2D7"/>
            </a:solid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37160" bIns="137160"/>
          <a:lstStyle/>
          <a:p>
            <a:pPr algn="ctr"/>
          </a:p>
        </p:txBody>
      </p:sp>
      <p:sp>
        <p:nvSpPr>
          <p:cNvPr id="26" name="Rectangle 25"/>
          <p:cNvSpPr/>
          <p:nvPr/>
        </p:nvSpPr>
        <p:spPr>
          <a:xfrm>
            <a:off x="1280160" y="8732520"/>
            <a:ext cx="109728" cy="548640"/>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37160" bIns="137160"/>
          <a:lstStyle/>
          <a:p>
            <a:pPr algn="ctr"/>
          </a:p>
        </p:txBody>
      </p:sp>
      <p:sp>
        <p:nvSpPr>
          <p:cNvPr id="27" name="TextBox 26"/>
          <p:cNvSpPr txBox="1"/>
          <p:nvPr/>
        </p:nvSpPr>
        <p:spPr>
          <a:xfrm>
            <a:off x="1691640" y="8869680"/>
            <a:ext cx="15087600" cy="365760"/>
          </a:xfrm>
          <a:prstGeom prst="rect">
            <a:avLst/>
          </a:prstGeom>
          <a:noFill/>
        </p:spPr>
        <p:txBody>
          <a:bodyPr wrap="square" lIns="0" rIns="0" tIns="0" bIns="0" anchor="t"/>
          <a:lstStyle/>
          <a:p>
            <a:pPr algn="l">
              <a:lnSpc>
                <a:spcPct val="120000"/>
              </a:lnSpc>
            </a:pPr>
            <a:r>
              <a:rPr sz="1200" b="0" i="1">
                <a:solidFill>
                  <a:srgbClr val="041326"/>
                </a:solidFill>
                <a:latin typeface="Libre Franklin"/>
              </a:rPr>
              <a:t>The decision is not whether to use AI. It is what AI plugs into. — A bolt-on programme adds intelligence to silos. A re-platform turns the bank into the platform.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85216" y="457200"/>
            <a:ext cx="82296"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39496"/>
            <a:ext cx="164592" cy="8229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30352"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7757648" y="0"/>
            <a:ext cx="0" cy="1028700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86868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0" y="9601200"/>
            <a:ext cx="18288000" cy="0"/>
          </a:xfrm>
          <a:prstGeom prst="line">
            <a:avLst/>
          </a:prstGeom>
          <a:ln w="6350">
            <a:solidFill>
              <a:srgbClr val="CED2D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6002000" y="9738360"/>
            <a:ext cx="1463040" cy="365760"/>
          </a:xfrm>
          <a:prstGeom prst="rect">
            <a:avLst/>
          </a:prstGeom>
          <a:noFill/>
        </p:spPr>
        <p:txBody>
          <a:bodyPr wrap="square" lIns="0" rIns="0" tIns="0" bIns="0" anchor="t"/>
          <a:lstStyle/>
          <a:p>
            <a:pPr algn="r">
              <a:lnSpc>
                <a:spcPct val="120000"/>
              </a:lnSpc>
            </a:pPr>
            <a:r>
              <a:rPr sz="1400" b="1" i="0">
                <a:solidFill>
                  <a:srgbClr val="041326"/>
                </a:solidFill>
                <a:latin typeface="Libre Franklin"/>
              </a:rPr>
              <a:t>Backbase</a:t>
            </a:r>
          </a:p>
        </p:txBody>
      </p:sp>
      <p:sp>
        <p:nvSpPr>
          <p:cNvPr id="9" name="TextBox 8"/>
          <p:cNvSpPr txBox="1"/>
          <p:nvPr/>
        </p:nvSpPr>
        <p:spPr>
          <a:xfrm>
            <a:off x="17556480" y="9738360"/>
            <a:ext cx="457200" cy="365760"/>
          </a:xfrm>
          <a:prstGeom prst="rect">
            <a:avLst/>
          </a:prstGeom>
          <a:noFill/>
        </p:spPr>
        <p:txBody>
          <a:bodyPr wrap="square" lIns="0" rIns="0" tIns="0" bIns="0" anchor="t"/>
          <a:lstStyle/>
          <a:p>
            <a:pPr algn="r">
              <a:lnSpc>
                <a:spcPct val="120000"/>
              </a:lnSpc>
            </a:pPr>
            <a:r>
              <a:rPr sz="1000" b="0" i="0">
                <a:solidFill>
                  <a:srgbClr val="041326"/>
                </a:solidFill>
                <a:latin typeface="Libre Franklin"/>
              </a:rPr>
              <a:t>13 / 13</a:t>
            </a:r>
          </a:p>
        </p:txBody>
      </p:sp>
      <p:sp>
        <p:nvSpPr>
          <p:cNvPr id="10" name="Rectangle 9"/>
          <p:cNvSpPr/>
          <p:nvPr/>
        </p:nvSpPr>
        <p:spPr>
          <a:xfrm>
            <a:off x="914400" y="3200400"/>
            <a:ext cx="16459200" cy="4114800"/>
          </a:xfrm>
          <a:prstGeom prst="rect">
            <a:avLst/>
          </a:prstGeom>
          <a:solidFill>
            <a:srgbClr val="E5E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37160" bIns="137160"/>
          <a:lstStyle/>
          <a:p>
            <a:pPr algn="ctr"/>
          </a:p>
        </p:txBody>
      </p:sp>
      <p:sp>
        <p:nvSpPr>
          <p:cNvPr id="11" name="TextBox 10"/>
          <p:cNvSpPr txBox="1"/>
          <p:nvPr/>
        </p:nvSpPr>
        <p:spPr>
          <a:xfrm>
            <a:off x="1280160" y="3566160"/>
            <a:ext cx="15544800" cy="457200"/>
          </a:xfrm>
          <a:prstGeom prst="rect">
            <a:avLst/>
          </a:prstGeom>
          <a:noFill/>
        </p:spPr>
        <p:txBody>
          <a:bodyPr wrap="square" lIns="0" rIns="0" tIns="0" bIns="0" anchor="t"/>
          <a:lstStyle/>
          <a:p>
            <a:pPr algn="l">
              <a:lnSpc>
                <a:spcPct val="120000"/>
              </a:lnSpc>
            </a:pPr>
            <a:r>
              <a:rPr sz="1400" b="0" i="0">
                <a:solidFill>
                  <a:srgbClr val="5C6E84"/>
                </a:solidFill>
                <a:latin typeface="Libre Franklin"/>
              </a:rPr>
              <a:t>THE TAKE-HOME</a:t>
            </a:r>
          </a:p>
        </p:txBody>
      </p:sp>
      <p:sp>
        <p:nvSpPr>
          <p:cNvPr id="12" name="TextBox 11"/>
          <p:cNvSpPr txBox="1"/>
          <p:nvPr/>
        </p:nvSpPr>
        <p:spPr>
          <a:xfrm>
            <a:off x="1280160" y="4297680"/>
            <a:ext cx="15544800" cy="2743200"/>
          </a:xfrm>
          <a:prstGeom prst="rect">
            <a:avLst/>
          </a:prstGeom>
          <a:noFill/>
        </p:spPr>
        <p:txBody>
          <a:bodyPr wrap="square" lIns="0" rIns="0" tIns="0" bIns="0" anchor="t"/>
          <a:lstStyle/>
          <a:p>
            <a:pPr algn="l">
              <a:lnSpc>
                <a:spcPct val="140000"/>
              </a:lnSpc>
            </a:pPr>
            <a:r>
              <a:rPr sz="3600" b="0" i="0">
                <a:solidFill>
                  <a:srgbClr val="041326"/>
                </a:solidFill>
                <a:latin typeface="Libre Franklin"/>
              </a:rPr>
              <a:t>The bank that orchestrates </a:t>
            </a:r>
            <a:r>
              <a:rPr sz="3600" b="0" i="0">
                <a:solidFill>
                  <a:srgbClr val="3366FF"/>
                </a:solidFill>
                <a:latin typeface="Libre Franklin"/>
              </a:rPr>
              <a:t>trust and intent</a:t>
            </a:r>
            <a:r>
              <a:rPr sz="3600" b="0" i="0">
                <a:solidFill>
                  <a:srgbClr val="041326"/>
                </a:solidFill>
                <a:latin typeface="Libre Franklin"/>
              </a:rPr>
              <a:t> wins the agent's choice — and the customer's wallet.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