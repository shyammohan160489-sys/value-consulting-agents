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HOUR: 10 min this deck, 10 min the playbook short version, 40 min working the asks. This deck answers who is asking; the playbook answers what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DEFENSE: nothing on this slide is aspiration; each bullet is a shipped artifact Tim can be shown live. The three-altitude framing is the leadership claim: account operator, category voice, systems builder at once.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“why did you build 57 slides for a talent programme”: because I build the system, not the meeting. The playbook runs without me in the room;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forward-looking slide Tim asked the objectives question about. DEFENSE: these are theses, not forecasts; each is falsifiable and each already has a funded first step in the execution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OF THE HOUR. The ask ladder is deliberate: ownership is the development goal, sponsorship is Tim’s currency, the seed is the smallest and easiest yes. Leave the playbook as the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a:effectLst/>
        </p:spPr>
        <p:txBody>
          <a:bodyPr rtlCol="0" anchor="ctr"/>
          <a:lstStyle/>
          <a:p>
            <a:pPr algn="ctr"/>
          </a:p>
        </p:txBody>
      </p:sp>
      <p:sp>
        <p:nvSpPr>
          <p:cNvPr id="3" name="Rectangle 2"/>
          <p:cNvSpPr/>
          <p:nvPr/>
        </p:nvSpPr>
        <p:spPr>
          <a:xfrm>
            <a:off x="5486400" y="-2011680"/>
            <a:ext cx="8686800" cy="4754880"/>
          </a:xfrm>
          <a:prstGeom prst="rect">
            <a:avLst/>
          </a:prstGeom>
          <a:solidFill>
            <a:srgbClr val="142A6E"/>
          </a:solidFill>
          <a:ln>
            <a:noFill/>
          </a:ln>
          <a:effectLst/>
        </p:spPr>
        <p:txBody>
          <a:bodyPr rtlCol="0" anchor="ctr"/>
          <a:lstStyle/>
          <a:p>
            <a:pPr algn="ctr"/>
          </a:p>
        </p:txBody>
      </p:sp>
      <p:sp>
        <p:nvSpPr>
          <p:cNvPr id="4" name="Rectangle 3"/>
          <p:cNvSpPr/>
          <p:nvPr/>
        </p:nvSpPr>
        <p:spPr>
          <a:xfrm>
            <a:off x="7498079" y="-1280160"/>
            <a:ext cx="5669280" cy="2926080"/>
          </a:xfrm>
          <a:prstGeom prst="rect">
            <a:avLst/>
          </a:prstGeom>
          <a:solidFill>
            <a:srgbClr val="1B3894"/>
          </a:solidFill>
          <a:ln>
            <a:noFill/>
          </a:ln>
          <a:effectLst/>
        </p:spPr>
        <p:txBody>
          <a:bodyPr rtlCol="0" anchor="ctr"/>
          <a:lstStyle/>
          <a:p>
            <a:pPr algn="ctr"/>
          </a:p>
        </p:txBody>
      </p:sp>
      <p:sp>
        <p:nvSpPr>
          <p:cNvPr id="5" name="Freeform 4"/>
          <p:cNvSpPr/>
          <p:nvPr/>
        </p:nvSpPr>
        <p:spPr>
          <a:xfrm>
            <a:off x="371246" y="371246"/>
            <a:ext cx="152705" cy="151790"/>
          </a:xfrm>
          <a:custGeom>
            <a:avLst/>
            <a:gdLst/>
            <a:ahLst/>
            <a:cxnLst/>
            <a:rect l="l" t="t" r="r" b="b"/>
            <a:pathLst>
              <a:path w="9168" h="9096">
                <a:moveTo>
                  <a:pt x="19" y="4762"/>
                </a:moveTo>
                <a:lnTo>
                  <a:pt x="4567" y="4762"/>
                </a:lnTo>
                <a:lnTo>
                  <a:pt x="4566" y="0"/>
                </a:lnTo>
                <a:lnTo>
                  <a:pt x="9168" y="0"/>
                </a:lnTo>
                <a:lnTo>
                  <a:pt x="9168" y="9096"/>
                </a:lnTo>
                <a:lnTo>
                  <a:pt x="0" y="9096"/>
                </a:lnTo>
                <a:close/>
              </a:path>
            </a:pathLst>
          </a:custGeom>
          <a:solidFill>
            <a:srgbClr val="93FBFE"/>
          </a:solidFill>
          <a:ln>
            <a:noFill/>
          </a:ln>
          <a:effectLst/>
        </p:spPr>
        <p:txBody>
          <a:bodyPr rtlCol="0" anchor="ctr"/>
          <a:lstStyle/>
          <a:p>
            <a:pPr algn="ctr"/>
          </a:p>
        </p:txBody>
      </p:sp>
      <p:sp>
        <p:nvSpPr>
          <p:cNvPr id="6" name="TextBox 5"/>
          <p:cNvSpPr txBox="1"/>
          <p:nvPr/>
        </p:nvSpPr>
        <p:spPr>
          <a:xfrm>
            <a:off x="914400" y="1828800"/>
            <a:ext cx="10058400" cy="320040"/>
          </a:xfrm>
          <a:prstGeom prst="rect">
            <a:avLst/>
          </a:prstGeom>
          <a:noFill/>
          <a:effectLst/>
        </p:spPr>
        <p:txBody>
          <a:bodyPr wrap="square" anchor="t" lIns="0" rIns="0" tIns="0" bIns="0">
            <a:spAutoFit/>
          </a:bodyPr>
          <a:lstStyle/>
          <a:p>
            <a:pPr algn="l">
              <a:lnSpc>
                <a:spcPct val="100000"/>
              </a:lnSpc>
              <a:spcAft>
                <a:spcPts val="200"/>
              </a:spcAft>
            </a:pPr>
            <a:r>
              <a:rPr sz="1250" b="1">
                <a:solidFill>
                  <a:srgbClr val="93FBFE"/>
                </a:solidFill>
                <a:latin typeface="Libre Franklin"/>
              </a:rPr>
              <a:t>TALENT PROGRAMME · SHYAM × TIM RUTTNER · ONE HOUR</a:t>
            </a:r>
          </a:p>
        </p:txBody>
      </p:sp>
      <p:sp>
        <p:nvSpPr>
          <p:cNvPr id="7" name="TextBox 6"/>
          <p:cNvSpPr txBox="1"/>
          <p:nvPr/>
        </p:nvSpPr>
        <p:spPr>
          <a:xfrm>
            <a:off x="914400" y="2240280"/>
            <a:ext cx="10424160" cy="1737360"/>
          </a:xfrm>
          <a:prstGeom prst="rect">
            <a:avLst/>
          </a:prstGeom>
          <a:noFill/>
          <a:effectLst/>
        </p:spPr>
        <p:txBody>
          <a:bodyPr wrap="square" anchor="t" lIns="0" rIns="0" tIns="0" bIns="0">
            <a:spAutoFit/>
          </a:bodyPr>
          <a:lstStyle/>
          <a:p>
            <a:pPr algn="l">
              <a:lnSpc>
                <a:spcPct val="105000"/>
              </a:lnSpc>
              <a:spcAft>
                <a:spcPts val="200"/>
              </a:spcAft>
            </a:pPr>
            <a:r>
              <a:rPr sz="4400" b="0">
                <a:solidFill>
                  <a:srgbClr val="FFFFFF"/>
                </a:solidFill>
                <a:latin typeface="Libre Franklin"/>
              </a:rPr>
              <a:t>The operator behind</a:t>
            </a:r>
          </a:p>
          <a:p>
            <a:pPr algn="l">
              <a:lnSpc>
                <a:spcPct val="105000"/>
              </a:lnSpc>
              <a:spcAft>
                <a:spcPts val="200"/>
              </a:spcAft>
            </a:pPr>
            <a:r>
              <a:rPr sz="4400" b="1">
                <a:solidFill>
                  <a:srgbClr val="FFFFFF"/>
                </a:solidFill>
                <a:latin typeface="Libre Franklin"/>
              </a:rPr>
              <a:t>the playbook.</a:t>
            </a:r>
          </a:p>
        </p:txBody>
      </p:sp>
      <p:sp>
        <p:nvSpPr>
          <p:cNvPr id="8" name="TextBox 7"/>
          <p:cNvSpPr txBox="1"/>
          <p:nvPr/>
        </p:nvSpPr>
        <p:spPr>
          <a:xfrm>
            <a:off x="914400" y="3977639"/>
            <a:ext cx="8412480" cy="822960"/>
          </a:xfrm>
          <a:prstGeom prst="rect">
            <a:avLst/>
          </a:prstGeom>
          <a:noFill/>
          <a:effectLst/>
        </p:spPr>
        <p:txBody>
          <a:bodyPr wrap="square" anchor="t" lIns="0" rIns="0" tIns="0" bIns="0">
            <a:spAutoFit/>
          </a:bodyPr>
          <a:lstStyle/>
          <a:p>
            <a:pPr algn="l">
              <a:lnSpc>
                <a:spcPct val="125000"/>
              </a:lnSpc>
              <a:spcAft>
                <a:spcPts val="200"/>
              </a:spcAft>
            </a:pPr>
            <a:r>
              <a:rPr sz="1500" b="0">
                <a:solidFill>
                  <a:srgbClr val="C1C4C8"/>
                </a:solidFill>
                <a:latin typeface="Libre Franklin"/>
              </a:rPr>
              <a:t>Where I already operate, the philosophy the 57 slides are written in, what I see coming for the industry, and what I am asking this programme for.</a:t>
            </a:r>
          </a:p>
        </p:txBody>
      </p:sp>
      <p:sp>
        <p:nvSpPr>
          <p:cNvPr id="9" name="TextBox 8"/>
          <p:cNvSpPr txBox="1"/>
          <p:nvPr/>
        </p:nvSpPr>
        <p:spPr>
          <a:xfrm>
            <a:off x="914400" y="5806440"/>
            <a:ext cx="8229600" cy="274320"/>
          </a:xfrm>
          <a:prstGeom prst="rect">
            <a:avLst/>
          </a:prstGeom>
          <a:noFill/>
          <a:effectLst/>
        </p:spPr>
        <p:txBody>
          <a:bodyPr wrap="square" anchor="t" lIns="0" rIns="0" tIns="0" bIns="0">
            <a:spAutoFit/>
          </a:bodyPr>
          <a:lstStyle/>
          <a:p>
            <a:pPr algn="l">
              <a:lnSpc>
                <a:spcPct val="100000"/>
              </a:lnSpc>
              <a:spcAft>
                <a:spcPts val="200"/>
              </a:spcAft>
            </a:pPr>
            <a:r>
              <a:rPr sz="1100" b="0">
                <a:solidFill>
                  <a:srgbClr val="6A717C"/>
                </a:solidFill>
                <a:latin typeface="Libre Franklin"/>
              </a:rPr>
              <a:t>Shyam · July 2026 · companion to the Product Factory execution playbook</a:t>
            </a:r>
          </a:p>
        </p:txBody>
      </p:sp>
      <p:sp>
        <p:nvSpPr>
          <p:cNvPr id="10" name="TextBox 9"/>
          <p:cNvSpPr txBox="1"/>
          <p:nvPr/>
        </p:nvSpPr>
        <p:spPr>
          <a:xfrm>
            <a:off x="10698480" y="6446520"/>
            <a:ext cx="969264" cy="274320"/>
          </a:xfrm>
          <a:prstGeom prst="rect">
            <a:avLst/>
          </a:prstGeom>
          <a:noFill/>
          <a:effectLst/>
        </p:spPr>
        <p:txBody>
          <a:bodyPr wrap="square" anchor="t" lIns="0" rIns="0" tIns="0" bIns="0">
            <a:spAutoFit/>
          </a:bodyPr>
          <a:lstStyle/>
          <a:p>
            <a:pPr algn="r">
              <a:lnSpc>
                <a:spcPct val="100000"/>
              </a:lnSpc>
              <a:spcAft>
                <a:spcPts val="200"/>
              </a:spcAft>
            </a:pPr>
            <a:r>
              <a:rPr sz="1100" b="1">
                <a:solidFill>
                  <a:srgbClr val="FFFFFF"/>
                </a:solidFill>
                <a:latin typeface="Libre Franklin"/>
              </a:rPr>
              <a:t>Backbase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0" y="523951"/>
            <a:ext cx="12191695" cy="0"/>
          </a:xfrm>
          <a:prstGeom prst="line">
            <a:avLst/>
          </a:prstGeom>
          <a:ln w="9525">
            <a:solidFill>
              <a:srgbClr val="D2D4D8"/>
            </a:solidFill>
          </a:ln>
          <a:effectLst/>
          <a:effectLst/>
        </p:spPr>
      </p:cxnSp>
      <p:cxnSp>
        <p:nvCxnSpPr>
          <p:cNvPr id="3" name="Connector 2"/>
          <p:cNvCxnSpPr/>
          <p:nvPr/>
        </p:nvCxnSpPr>
        <p:spPr>
          <a:xfrm>
            <a:off x="523951" y="0"/>
            <a:ext cx="0" cy="6439204"/>
          </a:xfrm>
          <a:prstGeom prst="line">
            <a:avLst/>
          </a:prstGeom>
          <a:ln w="9525">
            <a:solidFill>
              <a:srgbClr val="D2D4D8"/>
            </a:solidFill>
          </a:ln>
          <a:effectLst/>
          <a:effectLst/>
        </p:spPr>
      </p:cxnSp>
      <p:cxnSp>
        <p:nvCxnSpPr>
          <p:cNvPr id="4" name="Connector 3"/>
          <p:cNvCxnSpPr/>
          <p:nvPr/>
        </p:nvCxnSpPr>
        <p:spPr>
          <a:xfrm>
            <a:off x="11667744" y="0"/>
            <a:ext cx="0" cy="6439204"/>
          </a:xfrm>
          <a:prstGeom prst="line">
            <a:avLst/>
          </a:prstGeom>
          <a:ln w="9525">
            <a:solidFill>
              <a:srgbClr val="D2D4D8"/>
            </a:solidFill>
          </a:ln>
          <a:effectLst/>
          <a:effectLst/>
        </p:spPr>
      </p:cxnSp>
      <p:cxnSp>
        <p:nvCxnSpPr>
          <p:cNvPr id="5" name="Connector 4"/>
          <p:cNvCxnSpPr/>
          <p:nvPr/>
        </p:nvCxnSpPr>
        <p:spPr>
          <a:xfrm>
            <a:off x="0" y="6439204"/>
            <a:ext cx="12191695" cy="0"/>
          </a:xfrm>
          <a:prstGeom prst="line">
            <a:avLst/>
          </a:prstGeom>
          <a:ln w="9525">
            <a:solidFill>
              <a:srgbClr val="D2D4D8"/>
            </a:solidFill>
          </a:ln>
          <a:effectLst/>
          <a:effectLst/>
        </p:spPr>
      </p:cxnSp>
      <p:sp>
        <p:nvSpPr>
          <p:cNvPr id="6" name="Freeform 5"/>
          <p:cNvSpPr/>
          <p:nvPr/>
        </p:nvSpPr>
        <p:spPr>
          <a:xfrm>
            <a:off x="371246" y="371246"/>
            <a:ext cx="152705" cy="151790"/>
          </a:xfrm>
          <a:custGeom>
            <a:avLst/>
            <a:gdLst/>
            <a:ahLst/>
            <a:cxnLst/>
            <a:rect l="l" t="t" r="r" b="b"/>
            <a:pathLst>
              <a:path w="9168" h="9096">
                <a:moveTo>
                  <a:pt x="19" y="4762"/>
                </a:moveTo>
                <a:lnTo>
                  <a:pt x="4567" y="4762"/>
                </a:lnTo>
                <a:lnTo>
                  <a:pt x="4566" y="0"/>
                </a:lnTo>
                <a:lnTo>
                  <a:pt x="9168" y="0"/>
                </a:lnTo>
                <a:lnTo>
                  <a:pt x="9168" y="9096"/>
                </a:lnTo>
                <a:lnTo>
                  <a:pt x="0" y="9096"/>
                </a:lnTo>
                <a:close/>
              </a:path>
            </a:pathLst>
          </a:custGeom>
          <a:solidFill>
            <a:srgbClr val="4066F5"/>
          </a:solidFill>
          <a:ln>
            <a:noFill/>
          </a:ln>
          <a:effectLst/>
        </p:spPr>
        <p:txBody>
          <a:bodyPr rtlCol="0" anchor="ctr"/>
          <a:lstStyle/>
          <a:p>
            <a:pPr algn="ctr"/>
          </a:p>
        </p:txBody>
      </p:sp>
      <p:sp>
        <p:nvSpPr>
          <p:cNvPr id="7" name="TextBox 6"/>
          <p:cNvSpPr txBox="1"/>
          <p:nvPr/>
        </p:nvSpPr>
        <p:spPr>
          <a:xfrm>
            <a:off x="914400" y="742492"/>
            <a:ext cx="9528048" cy="228600"/>
          </a:xfrm>
          <a:prstGeom prst="rect">
            <a:avLst/>
          </a:prstGeom>
          <a:noFill/>
          <a:effectLst/>
        </p:spPr>
        <p:txBody>
          <a:bodyPr wrap="square" anchor="t" lIns="0" rIns="0" tIns="0" bIns="0">
            <a:spAutoFit/>
          </a:bodyPr>
          <a:lstStyle/>
          <a:p>
            <a:pPr algn="l">
              <a:lnSpc>
                <a:spcPct val="100000"/>
              </a:lnSpc>
              <a:spcAft>
                <a:spcPts val="200"/>
              </a:spcAft>
            </a:pPr>
            <a:r>
              <a:rPr sz="1350" b="0" spc="120">
                <a:solidFill>
                  <a:srgbClr val="4066F5"/>
                </a:solidFill>
                <a:latin typeface="Libre Franklin"/>
              </a:rPr>
              <a:t>THE RECORD · WHERE I OPERATE</a:t>
            </a:r>
          </a:p>
        </p:txBody>
      </p:sp>
      <p:sp>
        <p:nvSpPr>
          <p:cNvPr id="8" name="TextBox 7"/>
          <p:cNvSpPr txBox="1"/>
          <p:nvPr/>
        </p:nvSpPr>
        <p:spPr>
          <a:xfrm>
            <a:off x="914400" y="1009497"/>
            <a:ext cx="10003536" cy="960120"/>
          </a:xfrm>
          <a:prstGeom prst="rect">
            <a:avLst/>
          </a:prstGeom>
          <a:noFill/>
          <a:effectLst/>
        </p:spPr>
        <p:txBody>
          <a:bodyPr wrap="square" anchor="t" lIns="0" rIns="0" tIns="0" bIns="0">
            <a:spAutoFit/>
          </a:bodyPr>
          <a:lstStyle/>
          <a:p>
            <a:pPr algn="l">
              <a:lnSpc>
                <a:spcPct val="104000"/>
              </a:lnSpc>
              <a:spcAft>
                <a:spcPts val="200"/>
              </a:spcAft>
            </a:pPr>
            <a:r>
              <a:rPr sz="2500" b="1">
                <a:solidFill>
                  <a:srgbClr val="071224"/>
                </a:solidFill>
                <a:latin typeface="Libre Franklin"/>
              </a:rPr>
              <a:t>I already run at three altitudes: accounts, market, machine.</a:t>
            </a:r>
          </a:p>
        </p:txBody>
      </p:sp>
      <p:pic>
        <p:nvPicPr>
          <p:cNvPr id="9" name="Picture 8" descr="backbase_logo_black.png"/>
          <p:cNvPicPr>
            <a:picLocks noChangeAspect="1"/>
          </p:cNvPicPr>
          <p:nvPr/>
        </p:nvPicPr>
        <p:blipFill>
          <a:blip r:embed="rId2"/>
          <a:stretch>
            <a:fillRect/>
          </a:stretch>
        </p:blipFill>
        <p:spPr>
          <a:xfrm>
            <a:off x="10637215" y="6569964"/>
            <a:ext cx="975664" cy="158191"/>
          </a:xfrm>
          <a:prstGeom prst="rect">
            <a:avLst/>
          </a:prstGeom>
          <a:effectLst/>
        </p:spPr>
      </p:pic>
      <p:cxnSp>
        <p:nvCxnSpPr>
          <p:cNvPr id="10" name="Connector 9"/>
          <p:cNvCxnSpPr/>
          <p:nvPr/>
        </p:nvCxnSpPr>
        <p:spPr>
          <a:xfrm>
            <a:off x="11706148" y="6508699"/>
            <a:ext cx="0" cy="227685"/>
          </a:xfrm>
          <a:prstGeom prst="line">
            <a:avLst/>
          </a:prstGeom>
          <a:ln w="11430">
            <a:solidFill>
              <a:srgbClr val="9A9EA6"/>
            </a:solidFill>
          </a:ln>
          <a:effectLst/>
          <a:effectLst/>
        </p:spPr>
      </p:cxnSp>
      <p:sp>
        <p:nvSpPr>
          <p:cNvPr id="11" name="TextBox 10"/>
          <p:cNvSpPr txBox="1"/>
          <p:nvPr/>
        </p:nvSpPr>
        <p:spPr>
          <a:xfrm>
            <a:off x="11770156" y="6508699"/>
            <a:ext cx="384048" cy="227685"/>
          </a:xfrm>
          <a:prstGeom prst="rect">
            <a:avLst/>
          </a:prstGeom>
          <a:noFill/>
          <a:effectLst/>
        </p:spPr>
        <p:txBody>
          <a:bodyPr wrap="none" anchor="ctr" lIns="0" rIns="0" tIns="0" bIns="0">
            <a:spAutoFit/>
          </a:bodyPr>
          <a:lstStyle/>
          <a:p>
            <a:fld id="{B7A1C0DE-2026-4728-8000-000000000002}" type="slidenum">
              <a:rPr lang="en-US" sz="1275" b="1" dirty="0">
                <a:solidFill>
                  <a:srgbClr val="000000"/>
                </a:solidFill>
                <a:latin typeface="Libre Franklin"/>
              </a:rPr>
              <a:t>2</a:t>
            </a:fld>
          </a:p>
        </p:txBody>
      </p:sp>
      <p:sp>
        <p:nvSpPr>
          <p:cNvPr id="12" name="Rounded Rectangle 11"/>
          <p:cNvSpPr/>
          <p:nvPr/>
        </p:nvSpPr>
        <p:spPr>
          <a:xfrm>
            <a:off x="914400" y="1783080"/>
            <a:ext cx="3447288" cy="3291840"/>
          </a:xfrm>
          <a:prstGeom prst="roundRect">
            <a:avLst>
              <a:gd name="adj" fmla="val 8000"/>
            </a:avLst>
          </a:prstGeom>
          <a:solidFill>
            <a:srgbClr val="F5F6FA"/>
          </a:solidFill>
          <a:ln>
            <a:noFill/>
          </a:ln>
          <a:effectLst/>
        </p:spPr>
        <p:txBody>
          <a:bodyPr rtlCol="0" anchor="ctr"/>
          <a:lstStyle/>
          <a:p>
            <a:pPr algn="ctr"/>
          </a:p>
        </p:txBody>
      </p:sp>
      <p:sp>
        <p:nvSpPr>
          <p:cNvPr id="13" name="Rounded Rectangle 12"/>
          <p:cNvSpPr/>
          <p:nvPr/>
        </p:nvSpPr>
        <p:spPr>
          <a:xfrm>
            <a:off x="914400" y="1783080"/>
            <a:ext cx="3447288" cy="310896"/>
          </a:xfrm>
          <a:prstGeom prst="roundRect">
            <a:avLst>
              <a:gd name="adj" fmla="val 8000"/>
            </a:avLst>
          </a:prstGeom>
          <a:solidFill>
            <a:srgbClr val="4066F5"/>
          </a:solidFill>
          <a:ln>
            <a:noFill/>
          </a:ln>
          <a:effectLst/>
        </p:spPr>
        <p:txBody>
          <a:bodyPr rtlCol="0" anchor="ctr"/>
          <a:lstStyle/>
          <a:p>
            <a:pPr algn="ctr"/>
          </a:p>
        </p:txBody>
      </p:sp>
      <p:sp>
        <p:nvSpPr>
          <p:cNvPr id="14" name="TextBox 13"/>
          <p:cNvSpPr txBox="1"/>
          <p:nvPr/>
        </p:nvSpPr>
        <p:spPr>
          <a:xfrm>
            <a:off x="1060704" y="1837943"/>
            <a:ext cx="3172968" cy="219456"/>
          </a:xfrm>
          <a:prstGeom prst="rect">
            <a:avLst/>
          </a:prstGeom>
          <a:noFill/>
          <a:effectLst/>
        </p:spPr>
        <p:txBody>
          <a:bodyPr wrap="square" anchor="t" lIns="0" rIns="0" tIns="0" bIns="0">
            <a:spAutoFit/>
          </a:bodyPr>
          <a:lstStyle/>
          <a:p>
            <a:pPr algn="l">
              <a:lnSpc>
                <a:spcPct val="100000"/>
              </a:lnSpc>
              <a:spcAft>
                <a:spcPts val="200"/>
              </a:spcAft>
            </a:pPr>
            <a:r>
              <a:rPr sz="950" b="1">
                <a:solidFill>
                  <a:srgbClr val="FFFFFF"/>
                </a:solidFill>
                <a:latin typeface="Libre Franklin"/>
              </a:rPr>
              <a:t>ACCOUNTS &amp; PURSUITS</a:t>
            </a:r>
          </a:p>
        </p:txBody>
      </p:sp>
      <p:sp>
        <p:nvSpPr>
          <p:cNvPr id="15" name="TextBox 14"/>
          <p:cNvSpPr txBox="1"/>
          <p:nvPr/>
        </p:nvSpPr>
        <p:spPr>
          <a:xfrm>
            <a:off x="1078992" y="2203704"/>
            <a:ext cx="3118104" cy="256032"/>
          </a:xfrm>
          <a:prstGeom prst="rect">
            <a:avLst/>
          </a:prstGeom>
          <a:noFill/>
          <a:effectLst/>
        </p:spPr>
        <p:txBody>
          <a:bodyPr wrap="square" anchor="t" lIns="0" rIns="0" tIns="0" bIns="0">
            <a:spAutoFit/>
          </a:bodyPr>
          <a:lstStyle/>
          <a:p>
            <a:pPr algn="l">
              <a:lnSpc>
                <a:spcPct val="105000"/>
              </a:lnSpc>
              <a:spcAft>
                <a:spcPts val="200"/>
              </a:spcAft>
            </a:pPr>
            <a:r>
              <a:rPr sz="1200" b="1">
                <a:solidFill>
                  <a:srgbClr val="071224"/>
                </a:solidFill>
                <a:latin typeface="Libre Franklin"/>
              </a:rPr>
              <a:t>Deals shaped and closed</a:t>
            </a:r>
          </a:p>
        </p:txBody>
      </p:sp>
      <p:sp>
        <p:nvSpPr>
          <p:cNvPr id="16" name="TextBox 15"/>
          <p:cNvSpPr txBox="1"/>
          <p:nvPr/>
        </p:nvSpPr>
        <p:spPr>
          <a:xfrm>
            <a:off x="1078992" y="2551176"/>
            <a:ext cx="3118104" cy="2011680"/>
          </a:xfrm>
          <a:prstGeom prst="rect">
            <a:avLst/>
          </a:prstGeom>
          <a:noFill/>
          <a:effectLst/>
        </p:spPr>
        <p:txBody>
          <a:bodyPr wrap="square" anchor="t" lIns="0" rIns="0" tIns="0" bIns="0">
            <a:spAutoFit/>
          </a:bodyPr>
          <a:lstStyle/>
          <a:p>
            <a:pPr algn="l">
              <a:lnSpc>
                <a:spcPct val="120000"/>
              </a:lnSpc>
              <a:spcAft>
                <a:spcPts val="300"/>
              </a:spcAft>
            </a:pPr>
            <a:r>
              <a:rPr sz="950" b="0">
                <a:solidFill>
                  <a:srgbClr val="071224"/>
                </a:solidFill>
                <a:latin typeface="Libre Franklin"/>
              </a:rPr>
              <a:t>· SNB Capital: the 37-slide VC-track + journey maps that set the team’s deck standard</a:t>
            </a:r>
          </a:p>
          <a:p>
            <a:pPr algn="l">
              <a:lnSpc>
                <a:spcPct val="120000"/>
              </a:lnSpc>
              <a:spcAft>
                <a:spcPts val="300"/>
              </a:spcAft>
            </a:pPr>
            <a:r>
              <a:rPr sz="950" b="0">
                <a:solidFill>
                  <a:srgbClr val="071224"/>
                </a:solidFill>
                <a:latin typeface="Libre Franklin"/>
              </a:rPr>
              <a:t>· BACB: pre-RFP pursuit run on a 24-hour loop, close deck delivered</a:t>
            </a:r>
          </a:p>
          <a:p>
            <a:pPr algn="l">
              <a:lnSpc>
                <a:spcPct val="120000"/>
              </a:lnSpc>
              <a:spcAft>
                <a:spcPts val="300"/>
              </a:spcAft>
            </a:pPr>
            <a:r>
              <a:rPr sz="950" b="0">
                <a:solidFill>
                  <a:srgbClr val="071224"/>
                </a:solidFill>
                <a:latin typeface="Libre Franklin"/>
              </a:rPr>
              <a:t>· ABSA: five parallel workstreams, strategy to toolkit</a:t>
            </a:r>
          </a:p>
          <a:p>
            <a:pPr algn="l">
              <a:lnSpc>
                <a:spcPct val="120000"/>
              </a:lnSpc>
              <a:spcAft>
                <a:spcPts val="300"/>
              </a:spcAft>
            </a:pPr>
            <a:r>
              <a:rPr sz="950" b="0">
                <a:solidFill>
                  <a:srgbClr val="071224"/>
                </a:solidFill>
                <a:latin typeface="Libre Franklin"/>
              </a:rPr>
              <a:t>· HSBC agentic frontline · Schroders · SEB · NFIS and the ROI validation cohort</a:t>
            </a:r>
          </a:p>
        </p:txBody>
      </p:sp>
      <p:sp>
        <p:nvSpPr>
          <p:cNvPr id="17" name="TextBox 16"/>
          <p:cNvSpPr txBox="1"/>
          <p:nvPr/>
        </p:nvSpPr>
        <p:spPr>
          <a:xfrm>
            <a:off x="1078992" y="4636008"/>
            <a:ext cx="3118104" cy="384048"/>
          </a:xfrm>
          <a:prstGeom prst="rect">
            <a:avLst/>
          </a:prstGeom>
          <a:noFill/>
          <a:effectLst/>
        </p:spPr>
        <p:txBody>
          <a:bodyPr wrap="square" anchor="t" lIns="0" rIns="0" tIns="0" bIns="0">
            <a:spAutoFit/>
          </a:bodyPr>
          <a:lstStyle/>
          <a:p>
            <a:pPr algn="l">
              <a:lnSpc>
                <a:spcPct val="110000"/>
              </a:lnSpc>
              <a:spcAft>
                <a:spcPts val="200"/>
              </a:spcAft>
            </a:pPr>
            <a:r>
              <a:rPr sz="950" b="1">
                <a:solidFill>
                  <a:srgbClr val="1F3799"/>
                </a:solidFill>
                <a:latin typeface="Libre Franklin"/>
              </a:rPr>
              <a:t>Pattern: pursuit artifacts that become the client’s own decision documents.</a:t>
            </a:r>
          </a:p>
        </p:txBody>
      </p:sp>
      <p:sp>
        <p:nvSpPr>
          <p:cNvPr id="18" name="Rounded Rectangle 17"/>
          <p:cNvSpPr/>
          <p:nvPr/>
        </p:nvSpPr>
        <p:spPr>
          <a:xfrm>
            <a:off x="4544568" y="1783080"/>
            <a:ext cx="3447288" cy="3291840"/>
          </a:xfrm>
          <a:prstGeom prst="roundRect">
            <a:avLst>
              <a:gd name="adj" fmla="val 8000"/>
            </a:avLst>
          </a:prstGeom>
          <a:solidFill>
            <a:srgbClr val="F5F6FA"/>
          </a:solidFill>
          <a:ln>
            <a:noFill/>
          </a:ln>
          <a:effectLst/>
        </p:spPr>
        <p:txBody>
          <a:bodyPr rtlCol="0" anchor="ctr"/>
          <a:lstStyle/>
          <a:p>
            <a:pPr algn="ctr"/>
          </a:p>
        </p:txBody>
      </p:sp>
      <p:sp>
        <p:nvSpPr>
          <p:cNvPr id="19" name="Rounded Rectangle 18"/>
          <p:cNvSpPr/>
          <p:nvPr/>
        </p:nvSpPr>
        <p:spPr>
          <a:xfrm>
            <a:off x="4544568" y="1783080"/>
            <a:ext cx="3447288" cy="310896"/>
          </a:xfrm>
          <a:prstGeom prst="roundRect">
            <a:avLst>
              <a:gd name="adj" fmla="val 8000"/>
            </a:avLst>
          </a:prstGeom>
          <a:solidFill>
            <a:srgbClr val="1F3799"/>
          </a:solidFill>
          <a:ln>
            <a:noFill/>
          </a:ln>
          <a:effectLst/>
        </p:spPr>
        <p:txBody>
          <a:bodyPr rtlCol="0" anchor="ctr"/>
          <a:lstStyle/>
          <a:p>
            <a:pPr algn="ctr"/>
          </a:p>
        </p:txBody>
      </p:sp>
      <p:sp>
        <p:nvSpPr>
          <p:cNvPr id="20" name="TextBox 19"/>
          <p:cNvSpPr txBox="1"/>
          <p:nvPr/>
        </p:nvSpPr>
        <p:spPr>
          <a:xfrm>
            <a:off x="4690872" y="1837943"/>
            <a:ext cx="3172968" cy="219456"/>
          </a:xfrm>
          <a:prstGeom prst="rect">
            <a:avLst/>
          </a:prstGeom>
          <a:noFill/>
          <a:effectLst/>
        </p:spPr>
        <p:txBody>
          <a:bodyPr wrap="square" anchor="t" lIns="0" rIns="0" tIns="0" bIns="0">
            <a:spAutoFit/>
          </a:bodyPr>
          <a:lstStyle/>
          <a:p>
            <a:pPr algn="l">
              <a:lnSpc>
                <a:spcPct val="100000"/>
              </a:lnSpc>
              <a:spcAft>
                <a:spcPts val="200"/>
              </a:spcAft>
            </a:pPr>
            <a:r>
              <a:rPr sz="950" b="1">
                <a:solidFill>
                  <a:srgbClr val="FFFFFF"/>
                </a:solidFill>
                <a:latin typeface="Libre Franklin"/>
              </a:rPr>
              <a:t>MARKET &amp; CATEGORY</a:t>
            </a:r>
          </a:p>
        </p:txBody>
      </p:sp>
      <p:sp>
        <p:nvSpPr>
          <p:cNvPr id="21" name="TextBox 20"/>
          <p:cNvSpPr txBox="1"/>
          <p:nvPr/>
        </p:nvSpPr>
        <p:spPr>
          <a:xfrm>
            <a:off x="4709159" y="2203704"/>
            <a:ext cx="3118104" cy="256032"/>
          </a:xfrm>
          <a:prstGeom prst="rect">
            <a:avLst/>
          </a:prstGeom>
          <a:noFill/>
          <a:effectLst/>
        </p:spPr>
        <p:txBody>
          <a:bodyPr wrap="square" anchor="t" lIns="0" rIns="0" tIns="0" bIns="0">
            <a:spAutoFit/>
          </a:bodyPr>
          <a:lstStyle/>
          <a:p>
            <a:pPr algn="l">
              <a:lnSpc>
                <a:spcPct val="105000"/>
              </a:lnSpc>
              <a:spcAft>
                <a:spcPts val="200"/>
              </a:spcAft>
            </a:pPr>
            <a:r>
              <a:rPr sz="1200" b="1">
                <a:solidFill>
                  <a:srgbClr val="071224"/>
                </a:solidFill>
                <a:latin typeface="Libre Franklin"/>
              </a:rPr>
              <a:t>A public point of view</a:t>
            </a:r>
          </a:p>
        </p:txBody>
      </p:sp>
      <p:sp>
        <p:nvSpPr>
          <p:cNvPr id="22" name="TextBox 21"/>
          <p:cNvSpPr txBox="1"/>
          <p:nvPr/>
        </p:nvSpPr>
        <p:spPr>
          <a:xfrm>
            <a:off x="4709159" y="2551176"/>
            <a:ext cx="3118104" cy="2011680"/>
          </a:xfrm>
          <a:prstGeom prst="rect">
            <a:avLst/>
          </a:prstGeom>
          <a:noFill/>
          <a:effectLst/>
        </p:spPr>
        <p:txBody>
          <a:bodyPr wrap="square" anchor="t" lIns="0" rIns="0" tIns="0" bIns="0">
            <a:spAutoFit/>
          </a:bodyPr>
          <a:lstStyle/>
          <a:p>
            <a:pPr algn="l">
              <a:lnSpc>
                <a:spcPct val="120000"/>
              </a:lnSpc>
              <a:spcAft>
                <a:spcPts val="300"/>
              </a:spcAft>
            </a:pPr>
            <a:r>
              <a:rPr sz="950" b="0">
                <a:solidFill>
                  <a:srgbClr val="071224"/>
                </a:solidFill>
                <a:latin typeface="Libre Franklin"/>
              </a:rPr>
              <a:t>· Nordic FinTech Forum 2026: opening POV, “Differentiation in the Age of AI”</a:t>
            </a:r>
          </a:p>
          <a:p>
            <a:pPr algn="l">
              <a:lnSpc>
                <a:spcPct val="120000"/>
              </a:lnSpc>
              <a:spcAft>
                <a:spcPts val="300"/>
              </a:spcAft>
            </a:pPr>
            <a:r>
              <a:rPr sz="950" b="0">
                <a:solidFill>
                  <a:srgbClr val="071224"/>
                </a:solidFill>
                <a:latin typeface="Libre Franklin"/>
              </a:rPr>
              <a:t>· The Advisor Cockpit POV: a Backbase position, authored</a:t>
            </a:r>
          </a:p>
          <a:p>
            <a:pPr algn="l">
              <a:lnSpc>
                <a:spcPct val="120000"/>
              </a:lnSpc>
              <a:spcAft>
                <a:spcPts val="300"/>
              </a:spcAft>
            </a:pPr>
            <a:r>
              <a:rPr sz="950" b="0">
                <a:solidFill>
                  <a:srgbClr val="071224"/>
                </a:solidFill>
                <a:latin typeface="Libre Franklin"/>
              </a:rPr>
              <a:t>· The exhibit design language: validated on live decks, ratified as the team default</a:t>
            </a:r>
          </a:p>
          <a:p>
            <a:pPr algn="l">
              <a:lnSpc>
                <a:spcPct val="120000"/>
              </a:lnSpc>
              <a:spcAft>
                <a:spcPts val="300"/>
              </a:spcAft>
            </a:pPr>
            <a:r>
              <a:rPr sz="950" b="0">
                <a:solidFill>
                  <a:srgbClr val="071224"/>
                </a:solidFill>
                <a:latin typeface="Libre Franklin"/>
              </a:rPr>
              <a:t>· Autonomy framework: the value-side twin of the conversational cost model</a:t>
            </a:r>
          </a:p>
        </p:txBody>
      </p:sp>
      <p:sp>
        <p:nvSpPr>
          <p:cNvPr id="23" name="TextBox 22"/>
          <p:cNvSpPr txBox="1"/>
          <p:nvPr/>
        </p:nvSpPr>
        <p:spPr>
          <a:xfrm>
            <a:off x="4709159" y="4636008"/>
            <a:ext cx="3118104" cy="384048"/>
          </a:xfrm>
          <a:prstGeom prst="rect">
            <a:avLst/>
          </a:prstGeom>
          <a:noFill/>
          <a:effectLst/>
        </p:spPr>
        <p:txBody>
          <a:bodyPr wrap="square" anchor="t" lIns="0" rIns="0" tIns="0" bIns="0">
            <a:spAutoFit/>
          </a:bodyPr>
          <a:lstStyle/>
          <a:p>
            <a:pPr algn="l">
              <a:lnSpc>
                <a:spcPct val="110000"/>
              </a:lnSpc>
              <a:spcAft>
                <a:spcPts val="200"/>
              </a:spcAft>
            </a:pPr>
            <a:r>
              <a:rPr sz="950" b="1">
                <a:solidFill>
                  <a:srgbClr val="1F3799"/>
                </a:solidFill>
                <a:latin typeface="Libre Franklin"/>
              </a:rPr>
              <a:t>Pattern: opinions strong enough to carry a stage, grounded enough to survive one.</a:t>
            </a:r>
          </a:p>
        </p:txBody>
      </p:sp>
      <p:sp>
        <p:nvSpPr>
          <p:cNvPr id="24" name="Rounded Rectangle 23"/>
          <p:cNvSpPr/>
          <p:nvPr/>
        </p:nvSpPr>
        <p:spPr>
          <a:xfrm>
            <a:off x="8174736" y="1783080"/>
            <a:ext cx="3447288" cy="3291840"/>
          </a:xfrm>
          <a:prstGeom prst="roundRect">
            <a:avLst>
              <a:gd name="adj" fmla="val 8000"/>
            </a:avLst>
          </a:prstGeom>
          <a:solidFill>
            <a:srgbClr val="F5F6FA"/>
          </a:solidFill>
          <a:ln>
            <a:noFill/>
          </a:ln>
          <a:effectLst/>
        </p:spPr>
        <p:txBody>
          <a:bodyPr rtlCol="0" anchor="ctr"/>
          <a:lstStyle/>
          <a:p>
            <a:pPr algn="ctr"/>
          </a:p>
        </p:txBody>
      </p:sp>
      <p:sp>
        <p:nvSpPr>
          <p:cNvPr id="25" name="Rounded Rectangle 24"/>
          <p:cNvSpPr/>
          <p:nvPr/>
        </p:nvSpPr>
        <p:spPr>
          <a:xfrm>
            <a:off x="8174736" y="1783080"/>
            <a:ext cx="3447288" cy="310896"/>
          </a:xfrm>
          <a:prstGeom prst="roundRect">
            <a:avLst>
              <a:gd name="adj" fmla="val 8000"/>
            </a:avLst>
          </a:prstGeom>
          <a:solidFill>
            <a:srgbClr val="071224"/>
          </a:solidFill>
          <a:ln>
            <a:noFill/>
          </a:ln>
          <a:effectLst/>
        </p:spPr>
        <p:txBody>
          <a:bodyPr rtlCol="0" anchor="ctr"/>
          <a:lstStyle/>
          <a:p>
            <a:pPr algn="ctr"/>
          </a:p>
        </p:txBody>
      </p:sp>
      <p:sp>
        <p:nvSpPr>
          <p:cNvPr id="26" name="TextBox 25"/>
          <p:cNvSpPr txBox="1"/>
          <p:nvPr/>
        </p:nvSpPr>
        <p:spPr>
          <a:xfrm>
            <a:off x="8321040" y="1837943"/>
            <a:ext cx="3172968" cy="219456"/>
          </a:xfrm>
          <a:prstGeom prst="rect">
            <a:avLst/>
          </a:prstGeom>
          <a:noFill/>
          <a:effectLst/>
        </p:spPr>
        <p:txBody>
          <a:bodyPr wrap="square" anchor="t" lIns="0" rIns="0" tIns="0" bIns="0">
            <a:spAutoFit/>
          </a:bodyPr>
          <a:lstStyle/>
          <a:p>
            <a:pPr algn="l">
              <a:lnSpc>
                <a:spcPct val="100000"/>
              </a:lnSpc>
              <a:spcAft>
                <a:spcPts val="200"/>
              </a:spcAft>
            </a:pPr>
            <a:r>
              <a:rPr sz="950" b="1">
                <a:solidFill>
                  <a:srgbClr val="FFFFFF"/>
                </a:solidFill>
                <a:latin typeface="Libre Franklin"/>
              </a:rPr>
              <a:t>THE MACHINE</a:t>
            </a:r>
          </a:p>
        </p:txBody>
      </p:sp>
      <p:sp>
        <p:nvSpPr>
          <p:cNvPr id="27" name="TextBox 26"/>
          <p:cNvSpPr txBox="1"/>
          <p:nvPr/>
        </p:nvSpPr>
        <p:spPr>
          <a:xfrm>
            <a:off x="8339327" y="2203704"/>
            <a:ext cx="3118104" cy="256032"/>
          </a:xfrm>
          <a:prstGeom prst="rect">
            <a:avLst/>
          </a:prstGeom>
          <a:noFill/>
          <a:effectLst/>
        </p:spPr>
        <p:txBody>
          <a:bodyPr wrap="square" anchor="t" lIns="0" rIns="0" tIns="0" bIns="0">
            <a:spAutoFit/>
          </a:bodyPr>
          <a:lstStyle/>
          <a:p>
            <a:pPr algn="l">
              <a:lnSpc>
                <a:spcPct val="105000"/>
              </a:lnSpc>
              <a:spcAft>
                <a:spcPts val="200"/>
              </a:spcAft>
            </a:pPr>
            <a:r>
              <a:rPr sz="1200" b="1">
                <a:solidFill>
                  <a:srgbClr val="071224"/>
                </a:solidFill>
                <a:latin typeface="Libre Franklin"/>
              </a:rPr>
              <a:t>Systems the team runs</a:t>
            </a:r>
          </a:p>
        </p:txBody>
      </p:sp>
      <p:sp>
        <p:nvSpPr>
          <p:cNvPr id="28" name="TextBox 27"/>
          <p:cNvSpPr txBox="1"/>
          <p:nvPr/>
        </p:nvSpPr>
        <p:spPr>
          <a:xfrm>
            <a:off x="8339327" y="2551176"/>
            <a:ext cx="3118104" cy="2011680"/>
          </a:xfrm>
          <a:prstGeom prst="rect">
            <a:avLst/>
          </a:prstGeom>
          <a:noFill/>
          <a:effectLst/>
        </p:spPr>
        <p:txBody>
          <a:bodyPr wrap="square" anchor="t" lIns="0" rIns="0" tIns="0" bIns="0">
            <a:spAutoFit/>
          </a:bodyPr>
          <a:lstStyle/>
          <a:p>
            <a:pPr algn="l">
              <a:lnSpc>
                <a:spcPct val="120000"/>
              </a:lnSpc>
              <a:spcAft>
                <a:spcPts val="300"/>
              </a:spcAft>
            </a:pPr>
            <a:r>
              <a:rPr sz="950" b="0">
                <a:solidFill>
                  <a:srgbClr val="071224"/>
                </a:solidFill>
                <a:latin typeface="Libre Franklin"/>
              </a:rPr>
              <a:t>· Cortex: the VC AgenticOS, launched — agents, skills, telemetry, governance</a:t>
            </a:r>
          </a:p>
          <a:p>
            <a:pPr algn="l">
              <a:lnSpc>
                <a:spcPct val="120000"/>
              </a:lnSpc>
              <a:spcAft>
                <a:spcPts val="300"/>
              </a:spcAft>
            </a:pPr>
            <a:r>
              <a:rPr sz="950" b="0">
                <a:solidFill>
                  <a:srgbClr val="071224"/>
                </a:solidFill>
                <a:latin typeface="Libre Franklin"/>
              </a:rPr>
              <a:t>· The Flywheel: engagements feed telemetry; fixes ship themselves for approval</a:t>
            </a:r>
          </a:p>
          <a:p>
            <a:pPr algn="l">
              <a:lnSpc>
                <a:spcPct val="120000"/>
              </a:lnSpc>
              <a:spcAft>
                <a:spcPts val="300"/>
              </a:spcAft>
            </a:pPr>
            <a:r>
              <a:rPr sz="950" b="0">
                <a:solidFill>
                  <a:srgbClr val="071224"/>
                </a:solidFill>
                <a:latin typeface="Libre Franklin"/>
              </a:rPr>
              <a:t>· The Pursuit Loop, codified so any consultant or agent can run it</a:t>
            </a:r>
          </a:p>
          <a:p>
            <a:pPr algn="l">
              <a:lnSpc>
                <a:spcPct val="120000"/>
              </a:lnSpc>
              <a:spcAft>
                <a:spcPts val="300"/>
              </a:spcAft>
            </a:pPr>
            <a:r>
              <a:rPr sz="950" b="0">
                <a:solidFill>
                  <a:srgbClr val="071224"/>
                </a:solidFill>
                <a:latin typeface="Libre Franklin"/>
              </a:rPr>
              <a:t>· Peers enabled: ROI improvement guide, publish-without-git protocol</a:t>
            </a:r>
          </a:p>
        </p:txBody>
      </p:sp>
      <p:sp>
        <p:nvSpPr>
          <p:cNvPr id="29" name="TextBox 28"/>
          <p:cNvSpPr txBox="1"/>
          <p:nvPr/>
        </p:nvSpPr>
        <p:spPr>
          <a:xfrm>
            <a:off x="8339327" y="4636008"/>
            <a:ext cx="3118104" cy="384048"/>
          </a:xfrm>
          <a:prstGeom prst="rect">
            <a:avLst/>
          </a:prstGeom>
          <a:noFill/>
          <a:effectLst/>
        </p:spPr>
        <p:txBody>
          <a:bodyPr wrap="square" anchor="t" lIns="0" rIns="0" tIns="0" bIns="0">
            <a:spAutoFit/>
          </a:bodyPr>
          <a:lstStyle/>
          <a:p>
            <a:pPr algn="l">
              <a:lnSpc>
                <a:spcPct val="110000"/>
              </a:lnSpc>
              <a:spcAft>
                <a:spcPts val="200"/>
              </a:spcAft>
            </a:pPr>
            <a:r>
              <a:rPr sz="950" b="1">
                <a:solidFill>
                  <a:srgbClr val="1F3799"/>
                </a:solidFill>
                <a:latin typeface="Libre Franklin"/>
              </a:rPr>
              <a:t>Pattern: everything I touch becomes a system someone else can run.</a:t>
            </a:r>
          </a:p>
        </p:txBody>
      </p:sp>
      <p:cxnSp>
        <p:nvCxnSpPr>
          <p:cNvPr id="30" name="Connector 29"/>
          <p:cNvCxnSpPr/>
          <p:nvPr/>
        </p:nvCxnSpPr>
        <p:spPr>
          <a:xfrm>
            <a:off x="914400" y="5998464"/>
            <a:ext cx="10705795" cy="0"/>
          </a:xfrm>
          <a:prstGeom prst="line">
            <a:avLst/>
          </a:prstGeom>
          <a:ln w="9525">
            <a:solidFill>
              <a:srgbClr val="D2D4D8"/>
            </a:solidFill>
          </a:ln>
          <a:effectLst/>
          <a:effectLst/>
        </p:spPr>
      </p:cxnSp>
      <p:sp>
        <p:nvSpPr>
          <p:cNvPr id="31" name="TextBox 30"/>
          <p:cNvSpPr txBox="1"/>
          <p:nvPr/>
        </p:nvSpPr>
        <p:spPr>
          <a:xfrm>
            <a:off x="914400" y="6071616"/>
            <a:ext cx="10705795" cy="365760"/>
          </a:xfrm>
          <a:prstGeom prst="rect">
            <a:avLst/>
          </a:prstGeom>
          <a:noFill/>
          <a:effectLst/>
        </p:spPr>
        <p:txBody>
          <a:bodyPr wrap="square" anchor="t" lIns="0" rIns="0" tIns="0" bIns="0">
            <a:spAutoFit/>
          </a:bodyPr>
          <a:lstStyle/>
          <a:p>
            <a:pPr algn="l">
              <a:lnSpc>
                <a:spcPct val="115000"/>
              </a:lnSpc>
              <a:spcAft>
                <a:spcPts val="200"/>
              </a:spcAft>
            </a:pPr>
            <a:r>
              <a:rPr sz="950" b="0">
                <a:solidFill>
                  <a:srgbClr val="8F949C"/>
                </a:solidFill>
                <a:latin typeface="Libre Franklin"/>
              </a:rPr>
              <a:t>Every line traces to a repo artifact: engagement outputs, learnings, methods and launch records in the Cortex repository.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0" y="523951"/>
            <a:ext cx="12191695" cy="0"/>
          </a:xfrm>
          <a:prstGeom prst="line">
            <a:avLst/>
          </a:prstGeom>
          <a:ln w="9525">
            <a:solidFill>
              <a:srgbClr val="D2D4D8"/>
            </a:solidFill>
          </a:ln>
          <a:effectLst/>
          <a:effectLst/>
        </p:spPr>
      </p:cxnSp>
      <p:cxnSp>
        <p:nvCxnSpPr>
          <p:cNvPr id="3" name="Connector 2"/>
          <p:cNvCxnSpPr/>
          <p:nvPr/>
        </p:nvCxnSpPr>
        <p:spPr>
          <a:xfrm>
            <a:off x="523951" y="0"/>
            <a:ext cx="0" cy="6439204"/>
          </a:xfrm>
          <a:prstGeom prst="line">
            <a:avLst/>
          </a:prstGeom>
          <a:ln w="9525">
            <a:solidFill>
              <a:srgbClr val="D2D4D8"/>
            </a:solidFill>
          </a:ln>
          <a:effectLst/>
          <a:effectLst/>
        </p:spPr>
      </p:cxnSp>
      <p:cxnSp>
        <p:nvCxnSpPr>
          <p:cNvPr id="4" name="Connector 3"/>
          <p:cNvCxnSpPr/>
          <p:nvPr/>
        </p:nvCxnSpPr>
        <p:spPr>
          <a:xfrm>
            <a:off x="11667744" y="0"/>
            <a:ext cx="0" cy="6439204"/>
          </a:xfrm>
          <a:prstGeom prst="line">
            <a:avLst/>
          </a:prstGeom>
          <a:ln w="9525">
            <a:solidFill>
              <a:srgbClr val="D2D4D8"/>
            </a:solidFill>
          </a:ln>
          <a:effectLst/>
          <a:effectLst/>
        </p:spPr>
      </p:cxnSp>
      <p:cxnSp>
        <p:nvCxnSpPr>
          <p:cNvPr id="5" name="Connector 4"/>
          <p:cNvCxnSpPr/>
          <p:nvPr/>
        </p:nvCxnSpPr>
        <p:spPr>
          <a:xfrm>
            <a:off x="0" y="6439204"/>
            <a:ext cx="12191695" cy="0"/>
          </a:xfrm>
          <a:prstGeom prst="line">
            <a:avLst/>
          </a:prstGeom>
          <a:ln w="9525">
            <a:solidFill>
              <a:srgbClr val="D2D4D8"/>
            </a:solidFill>
          </a:ln>
          <a:effectLst/>
          <a:effectLst/>
        </p:spPr>
      </p:cxnSp>
      <p:sp>
        <p:nvSpPr>
          <p:cNvPr id="6" name="Freeform 5"/>
          <p:cNvSpPr/>
          <p:nvPr/>
        </p:nvSpPr>
        <p:spPr>
          <a:xfrm>
            <a:off x="371246" y="371246"/>
            <a:ext cx="152705" cy="151790"/>
          </a:xfrm>
          <a:custGeom>
            <a:avLst/>
            <a:gdLst/>
            <a:ahLst/>
            <a:cxnLst/>
            <a:rect l="l" t="t" r="r" b="b"/>
            <a:pathLst>
              <a:path w="9168" h="9096">
                <a:moveTo>
                  <a:pt x="19" y="4762"/>
                </a:moveTo>
                <a:lnTo>
                  <a:pt x="4567" y="4762"/>
                </a:lnTo>
                <a:lnTo>
                  <a:pt x="4566" y="0"/>
                </a:lnTo>
                <a:lnTo>
                  <a:pt x="9168" y="0"/>
                </a:lnTo>
                <a:lnTo>
                  <a:pt x="9168" y="9096"/>
                </a:lnTo>
                <a:lnTo>
                  <a:pt x="0" y="9096"/>
                </a:lnTo>
                <a:close/>
              </a:path>
            </a:pathLst>
          </a:custGeom>
          <a:solidFill>
            <a:srgbClr val="4066F5"/>
          </a:solidFill>
          <a:ln>
            <a:noFill/>
          </a:ln>
          <a:effectLst/>
        </p:spPr>
        <p:txBody>
          <a:bodyPr rtlCol="0" anchor="ctr"/>
          <a:lstStyle/>
          <a:p>
            <a:pPr algn="ctr"/>
          </a:p>
        </p:txBody>
      </p:sp>
      <p:sp>
        <p:nvSpPr>
          <p:cNvPr id="7" name="TextBox 6"/>
          <p:cNvSpPr txBox="1"/>
          <p:nvPr/>
        </p:nvSpPr>
        <p:spPr>
          <a:xfrm>
            <a:off x="914400" y="742492"/>
            <a:ext cx="9528048" cy="228600"/>
          </a:xfrm>
          <a:prstGeom prst="rect">
            <a:avLst/>
          </a:prstGeom>
          <a:noFill/>
          <a:effectLst/>
        </p:spPr>
        <p:txBody>
          <a:bodyPr wrap="square" anchor="t" lIns="0" rIns="0" tIns="0" bIns="0">
            <a:spAutoFit/>
          </a:bodyPr>
          <a:lstStyle/>
          <a:p>
            <a:pPr algn="l">
              <a:lnSpc>
                <a:spcPct val="100000"/>
              </a:lnSpc>
              <a:spcAft>
                <a:spcPts val="200"/>
              </a:spcAft>
            </a:pPr>
            <a:r>
              <a:rPr sz="1350" b="0" spc="120">
                <a:solidFill>
                  <a:srgbClr val="4066F5"/>
                </a:solidFill>
                <a:latin typeface="Libre Franklin"/>
              </a:rPr>
              <a:t>THE PHILOSOPHY · WHY 57 SLIDES</a:t>
            </a:r>
          </a:p>
        </p:txBody>
      </p:sp>
      <p:sp>
        <p:nvSpPr>
          <p:cNvPr id="8" name="TextBox 7"/>
          <p:cNvSpPr txBox="1"/>
          <p:nvPr/>
        </p:nvSpPr>
        <p:spPr>
          <a:xfrm>
            <a:off x="914400" y="1009497"/>
            <a:ext cx="10003536" cy="960120"/>
          </a:xfrm>
          <a:prstGeom prst="rect">
            <a:avLst/>
          </a:prstGeom>
          <a:noFill/>
          <a:effectLst/>
        </p:spPr>
        <p:txBody>
          <a:bodyPr wrap="square" anchor="t" lIns="0" rIns="0" tIns="0" bIns="0">
            <a:spAutoFit/>
          </a:bodyPr>
          <a:lstStyle/>
          <a:p>
            <a:pPr algn="l">
              <a:lnSpc>
                <a:spcPct val="104000"/>
              </a:lnSpc>
              <a:spcAft>
                <a:spcPts val="200"/>
              </a:spcAft>
            </a:pPr>
            <a:r>
              <a:rPr sz="2500" b="1">
                <a:solidFill>
                  <a:srgbClr val="071224"/>
                </a:solidFill>
                <a:latin typeface="Libre Franklin"/>
              </a:rPr>
              <a:t>The playbook is how I lead: systems that outlive the meeting.</a:t>
            </a:r>
          </a:p>
        </p:txBody>
      </p:sp>
      <p:pic>
        <p:nvPicPr>
          <p:cNvPr id="9" name="Picture 8" descr="backbase_logo_black.png"/>
          <p:cNvPicPr>
            <a:picLocks noChangeAspect="1"/>
          </p:cNvPicPr>
          <p:nvPr/>
        </p:nvPicPr>
        <p:blipFill>
          <a:blip r:embed="rId2"/>
          <a:stretch>
            <a:fillRect/>
          </a:stretch>
        </p:blipFill>
        <p:spPr>
          <a:xfrm>
            <a:off x="10637215" y="6569964"/>
            <a:ext cx="975664" cy="158191"/>
          </a:xfrm>
          <a:prstGeom prst="rect">
            <a:avLst/>
          </a:prstGeom>
          <a:effectLst/>
        </p:spPr>
      </p:pic>
      <p:cxnSp>
        <p:nvCxnSpPr>
          <p:cNvPr id="10" name="Connector 9"/>
          <p:cNvCxnSpPr/>
          <p:nvPr/>
        </p:nvCxnSpPr>
        <p:spPr>
          <a:xfrm>
            <a:off x="11706148" y="6508699"/>
            <a:ext cx="0" cy="227685"/>
          </a:xfrm>
          <a:prstGeom prst="line">
            <a:avLst/>
          </a:prstGeom>
          <a:ln w="11430">
            <a:solidFill>
              <a:srgbClr val="9A9EA6"/>
            </a:solidFill>
          </a:ln>
          <a:effectLst/>
          <a:effectLst/>
        </p:spPr>
      </p:cxnSp>
      <p:sp>
        <p:nvSpPr>
          <p:cNvPr id="11" name="TextBox 10"/>
          <p:cNvSpPr txBox="1"/>
          <p:nvPr/>
        </p:nvSpPr>
        <p:spPr>
          <a:xfrm>
            <a:off x="11770156" y="6508699"/>
            <a:ext cx="384048" cy="227685"/>
          </a:xfrm>
          <a:prstGeom prst="rect">
            <a:avLst/>
          </a:prstGeom>
          <a:noFill/>
          <a:effectLst/>
        </p:spPr>
        <p:txBody>
          <a:bodyPr wrap="none" anchor="ctr" lIns="0" rIns="0" tIns="0" bIns="0">
            <a:spAutoFit/>
          </a:bodyPr>
          <a:lstStyle/>
          <a:p>
            <a:fld id="{B7A1C0DE-2026-4728-8000-000000000003}" type="slidenum">
              <a:rPr lang="en-US" sz="1275" b="1" dirty="0">
                <a:solidFill>
                  <a:srgbClr val="000000"/>
                </a:solidFill>
                <a:latin typeface="Libre Franklin"/>
              </a:rPr>
              <a:t>3</a:t>
            </a:fld>
          </a:p>
        </p:txBody>
      </p:sp>
      <p:sp>
        <p:nvSpPr>
          <p:cNvPr id="12" name="Rounded Rectangle 11"/>
          <p:cNvSpPr/>
          <p:nvPr/>
        </p:nvSpPr>
        <p:spPr>
          <a:xfrm>
            <a:off x="914400" y="1783080"/>
            <a:ext cx="5257800" cy="1353312"/>
          </a:xfrm>
          <a:prstGeom prst="roundRect">
            <a:avLst>
              <a:gd name="adj" fmla="val 8000"/>
            </a:avLst>
          </a:prstGeom>
          <a:solidFill>
            <a:srgbClr val="F5F6FA"/>
          </a:solidFill>
          <a:ln>
            <a:noFill/>
          </a:ln>
          <a:effectLst/>
        </p:spPr>
        <p:txBody>
          <a:bodyPr rtlCol="0" anchor="ctr"/>
          <a:lstStyle/>
          <a:p>
            <a:pPr algn="ctr"/>
          </a:p>
        </p:txBody>
      </p:sp>
      <p:sp>
        <p:nvSpPr>
          <p:cNvPr id="13" name="Rectangle 12"/>
          <p:cNvSpPr/>
          <p:nvPr/>
        </p:nvSpPr>
        <p:spPr>
          <a:xfrm>
            <a:off x="914400" y="1856231"/>
            <a:ext cx="41148" cy="1207008"/>
          </a:xfrm>
          <a:prstGeom prst="rect">
            <a:avLst/>
          </a:prstGeom>
          <a:solidFill>
            <a:srgbClr val="4066F5"/>
          </a:solidFill>
          <a:ln>
            <a:noFill/>
          </a:ln>
          <a:effectLst/>
        </p:spPr>
        <p:txBody>
          <a:bodyPr rtlCol="0" anchor="ctr"/>
          <a:lstStyle/>
          <a:p>
            <a:pPr algn="ctr"/>
          </a:p>
        </p:txBody>
      </p:sp>
      <p:sp>
        <p:nvSpPr>
          <p:cNvPr id="14" name="TextBox 13"/>
          <p:cNvSpPr txBox="1"/>
          <p:nvPr/>
        </p:nvSpPr>
        <p:spPr>
          <a:xfrm>
            <a:off x="1115568" y="1901952"/>
            <a:ext cx="4846320" cy="201168"/>
          </a:xfrm>
          <a:prstGeom prst="rect">
            <a:avLst/>
          </a:prstGeom>
          <a:noFill/>
          <a:effectLst/>
        </p:spPr>
        <p:txBody>
          <a:bodyPr wrap="square" anchor="t" lIns="0" rIns="0" tIns="0" bIns="0">
            <a:spAutoFit/>
          </a:bodyPr>
          <a:lstStyle/>
          <a:p>
            <a:pPr algn="l">
              <a:lnSpc>
                <a:spcPct val="100000"/>
              </a:lnSpc>
              <a:spcAft>
                <a:spcPts val="200"/>
              </a:spcAft>
            </a:pPr>
            <a:r>
              <a:rPr sz="1000" b="1">
                <a:solidFill>
                  <a:srgbClr val="1F3799"/>
                </a:solidFill>
                <a:latin typeface="Libre Franklin"/>
              </a:rPr>
              <a:t>SHIP INSTALLATIONS, NEVER REPORTS</a:t>
            </a:r>
          </a:p>
        </p:txBody>
      </p:sp>
      <p:sp>
        <p:nvSpPr>
          <p:cNvPr id="15" name="TextBox 14"/>
          <p:cNvSpPr txBox="1"/>
          <p:nvPr/>
        </p:nvSpPr>
        <p:spPr>
          <a:xfrm>
            <a:off x="1115568" y="2167128"/>
            <a:ext cx="4892040" cy="914400"/>
          </a:xfrm>
          <a:prstGeom prst="rect">
            <a:avLst/>
          </a:prstGeom>
          <a:noFill/>
          <a:effectLst/>
        </p:spPr>
        <p:txBody>
          <a:bodyPr wrap="square" anchor="t" lIns="0" rIns="0" tIns="0" bIns="0">
            <a:spAutoFit/>
          </a:bodyPr>
          <a:lstStyle/>
          <a:p>
            <a:pPr algn="l">
              <a:lnSpc>
                <a:spcPct val="122000"/>
              </a:lnSpc>
              <a:spcAft>
                <a:spcPts val="200"/>
              </a:spcAft>
            </a:pPr>
            <a:r>
              <a:rPr sz="1050" b="0">
                <a:solidFill>
                  <a:srgbClr val="071224"/>
                </a:solidFill>
                <a:latin typeface="Libre Franklin"/>
              </a:rPr>
              <a:t>Every artifact is written as the entry contract of the next step: the wedge ladder, the pursuit loop, the specimen packs. A deliverable that only informs is a miss.</a:t>
            </a:r>
          </a:p>
        </p:txBody>
      </p:sp>
      <p:sp>
        <p:nvSpPr>
          <p:cNvPr id="16" name="Rounded Rectangle 15"/>
          <p:cNvSpPr/>
          <p:nvPr/>
        </p:nvSpPr>
        <p:spPr>
          <a:xfrm>
            <a:off x="6355080" y="1783080"/>
            <a:ext cx="5257800" cy="1353312"/>
          </a:xfrm>
          <a:prstGeom prst="roundRect">
            <a:avLst>
              <a:gd name="adj" fmla="val 8000"/>
            </a:avLst>
          </a:prstGeom>
          <a:solidFill>
            <a:srgbClr val="F5F6FA"/>
          </a:solidFill>
          <a:ln>
            <a:noFill/>
          </a:ln>
          <a:effectLst/>
        </p:spPr>
        <p:txBody>
          <a:bodyPr rtlCol="0" anchor="ctr"/>
          <a:lstStyle/>
          <a:p>
            <a:pPr algn="ctr"/>
          </a:p>
        </p:txBody>
      </p:sp>
      <p:sp>
        <p:nvSpPr>
          <p:cNvPr id="17" name="Rectangle 16"/>
          <p:cNvSpPr/>
          <p:nvPr/>
        </p:nvSpPr>
        <p:spPr>
          <a:xfrm>
            <a:off x="6355080" y="1856231"/>
            <a:ext cx="41148" cy="1207008"/>
          </a:xfrm>
          <a:prstGeom prst="rect">
            <a:avLst/>
          </a:prstGeom>
          <a:solidFill>
            <a:srgbClr val="4066F5"/>
          </a:solidFill>
          <a:ln>
            <a:noFill/>
          </a:ln>
          <a:effectLst/>
        </p:spPr>
        <p:txBody>
          <a:bodyPr rtlCol="0" anchor="ctr"/>
          <a:lstStyle/>
          <a:p>
            <a:pPr algn="ctr"/>
          </a:p>
        </p:txBody>
      </p:sp>
      <p:sp>
        <p:nvSpPr>
          <p:cNvPr id="18" name="TextBox 17"/>
          <p:cNvSpPr txBox="1"/>
          <p:nvPr/>
        </p:nvSpPr>
        <p:spPr>
          <a:xfrm>
            <a:off x="6556248" y="1901952"/>
            <a:ext cx="4846320" cy="201168"/>
          </a:xfrm>
          <a:prstGeom prst="rect">
            <a:avLst/>
          </a:prstGeom>
          <a:noFill/>
          <a:effectLst/>
        </p:spPr>
        <p:txBody>
          <a:bodyPr wrap="square" anchor="t" lIns="0" rIns="0" tIns="0" bIns="0">
            <a:spAutoFit/>
          </a:bodyPr>
          <a:lstStyle/>
          <a:p>
            <a:pPr algn="l">
              <a:lnSpc>
                <a:spcPct val="100000"/>
              </a:lnSpc>
              <a:spcAft>
                <a:spcPts val="200"/>
              </a:spcAft>
            </a:pPr>
            <a:r>
              <a:rPr sz="1000" b="1">
                <a:solidFill>
                  <a:srgbClr val="1F3799"/>
                </a:solidFill>
                <a:latin typeface="Libre Franklin"/>
              </a:rPr>
              <a:t>CODIFY EVERYTHING</a:t>
            </a:r>
          </a:p>
        </p:txBody>
      </p:sp>
      <p:sp>
        <p:nvSpPr>
          <p:cNvPr id="19" name="TextBox 18"/>
          <p:cNvSpPr txBox="1"/>
          <p:nvPr/>
        </p:nvSpPr>
        <p:spPr>
          <a:xfrm>
            <a:off x="6556248" y="2167128"/>
            <a:ext cx="4892040" cy="914400"/>
          </a:xfrm>
          <a:prstGeom prst="rect">
            <a:avLst/>
          </a:prstGeom>
          <a:noFill/>
          <a:effectLst/>
        </p:spPr>
        <p:txBody>
          <a:bodyPr wrap="square" anchor="t" lIns="0" rIns="0" tIns="0" bIns="0">
            <a:spAutoFit/>
          </a:bodyPr>
          <a:lstStyle/>
          <a:p>
            <a:pPr algn="l">
              <a:lnSpc>
                <a:spcPct val="122000"/>
              </a:lnSpc>
              <a:spcAft>
                <a:spcPts val="200"/>
              </a:spcAft>
            </a:pPr>
            <a:r>
              <a:rPr sz="1050" b="0">
                <a:solidFill>
                  <a:srgbClr val="071224"/>
                </a:solidFill>
                <a:latin typeface="Libre Franklin"/>
              </a:rPr>
              <a:t>Methods become files, decks become engines, engagements become learnings. The next person starts where I finished; that is the only compounding asset a services team has.</a:t>
            </a:r>
          </a:p>
        </p:txBody>
      </p:sp>
      <p:sp>
        <p:nvSpPr>
          <p:cNvPr id="20" name="Rounded Rectangle 19"/>
          <p:cNvSpPr/>
          <p:nvPr/>
        </p:nvSpPr>
        <p:spPr>
          <a:xfrm>
            <a:off x="914400" y="3264408"/>
            <a:ext cx="5257800" cy="1353312"/>
          </a:xfrm>
          <a:prstGeom prst="roundRect">
            <a:avLst>
              <a:gd name="adj" fmla="val 8000"/>
            </a:avLst>
          </a:prstGeom>
          <a:solidFill>
            <a:srgbClr val="F5F6FA"/>
          </a:solidFill>
          <a:ln>
            <a:noFill/>
          </a:ln>
          <a:effectLst/>
        </p:spPr>
        <p:txBody>
          <a:bodyPr rtlCol="0" anchor="ctr"/>
          <a:lstStyle/>
          <a:p>
            <a:pPr algn="ctr"/>
          </a:p>
        </p:txBody>
      </p:sp>
      <p:sp>
        <p:nvSpPr>
          <p:cNvPr id="21" name="Rectangle 20"/>
          <p:cNvSpPr/>
          <p:nvPr/>
        </p:nvSpPr>
        <p:spPr>
          <a:xfrm>
            <a:off x="914400" y="3337560"/>
            <a:ext cx="41148" cy="1207008"/>
          </a:xfrm>
          <a:prstGeom prst="rect">
            <a:avLst/>
          </a:prstGeom>
          <a:solidFill>
            <a:srgbClr val="4066F5"/>
          </a:solidFill>
          <a:ln>
            <a:noFill/>
          </a:ln>
          <a:effectLst/>
        </p:spPr>
        <p:txBody>
          <a:bodyPr rtlCol="0" anchor="ctr"/>
          <a:lstStyle/>
          <a:p>
            <a:pPr algn="ctr"/>
          </a:p>
        </p:txBody>
      </p:sp>
      <p:sp>
        <p:nvSpPr>
          <p:cNvPr id="22" name="TextBox 21"/>
          <p:cNvSpPr txBox="1"/>
          <p:nvPr/>
        </p:nvSpPr>
        <p:spPr>
          <a:xfrm>
            <a:off x="1115568" y="3383280"/>
            <a:ext cx="4846320" cy="201168"/>
          </a:xfrm>
          <a:prstGeom prst="rect">
            <a:avLst/>
          </a:prstGeom>
          <a:noFill/>
          <a:effectLst/>
        </p:spPr>
        <p:txBody>
          <a:bodyPr wrap="square" anchor="t" lIns="0" rIns="0" tIns="0" bIns="0">
            <a:spAutoFit/>
          </a:bodyPr>
          <a:lstStyle/>
          <a:p>
            <a:pPr algn="l">
              <a:lnSpc>
                <a:spcPct val="100000"/>
              </a:lnSpc>
              <a:spcAft>
                <a:spcPts val="200"/>
              </a:spcAft>
            </a:pPr>
            <a:r>
              <a:rPr sz="1000" b="1">
                <a:solidFill>
                  <a:srgbClr val="1F3799"/>
                </a:solidFill>
                <a:latin typeface="Libre Franklin"/>
              </a:rPr>
              <a:t>EVIDENCE OVER ENTHUSIASM</a:t>
            </a:r>
          </a:p>
        </p:txBody>
      </p:sp>
      <p:sp>
        <p:nvSpPr>
          <p:cNvPr id="23" name="TextBox 22"/>
          <p:cNvSpPr txBox="1"/>
          <p:nvPr/>
        </p:nvSpPr>
        <p:spPr>
          <a:xfrm>
            <a:off x="1115568" y="3648456"/>
            <a:ext cx="4892040" cy="914400"/>
          </a:xfrm>
          <a:prstGeom prst="rect">
            <a:avLst/>
          </a:prstGeom>
          <a:noFill/>
          <a:effectLst/>
        </p:spPr>
        <p:txBody>
          <a:bodyPr wrap="square" anchor="t" lIns="0" rIns="0" tIns="0" bIns="0">
            <a:spAutoFit/>
          </a:bodyPr>
          <a:lstStyle/>
          <a:p>
            <a:pPr algn="l">
              <a:lnSpc>
                <a:spcPct val="122000"/>
              </a:lnSpc>
              <a:spcAft>
                <a:spcPts val="200"/>
              </a:spcAft>
            </a:pPr>
            <a:r>
              <a:rPr sz="1050" b="0">
                <a:solidFill>
                  <a:srgbClr val="071224"/>
                </a:solidFill>
                <a:latin typeface="Libre Franklin"/>
              </a:rPr>
              <a:t>Every number is tagged known, assumed or ask. The playbook critiques its own capacity math before anyone else can, and phases year one down to what 1.5 FTE can actually deliver.</a:t>
            </a:r>
          </a:p>
        </p:txBody>
      </p:sp>
      <p:sp>
        <p:nvSpPr>
          <p:cNvPr id="24" name="Rounded Rectangle 23"/>
          <p:cNvSpPr/>
          <p:nvPr/>
        </p:nvSpPr>
        <p:spPr>
          <a:xfrm>
            <a:off x="6355080" y="3264408"/>
            <a:ext cx="5257800" cy="1353312"/>
          </a:xfrm>
          <a:prstGeom prst="roundRect">
            <a:avLst>
              <a:gd name="adj" fmla="val 8000"/>
            </a:avLst>
          </a:prstGeom>
          <a:solidFill>
            <a:srgbClr val="F5F6FA"/>
          </a:solidFill>
          <a:ln>
            <a:noFill/>
          </a:ln>
          <a:effectLst/>
        </p:spPr>
        <p:txBody>
          <a:bodyPr rtlCol="0" anchor="ctr"/>
          <a:lstStyle/>
          <a:p>
            <a:pPr algn="ctr"/>
          </a:p>
        </p:txBody>
      </p:sp>
      <p:sp>
        <p:nvSpPr>
          <p:cNvPr id="25" name="Rectangle 24"/>
          <p:cNvSpPr/>
          <p:nvPr/>
        </p:nvSpPr>
        <p:spPr>
          <a:xfrm>
            <a:off x="6355080" y="3337560"/>
            <a:ext cx="41148" cy="1207008"/>
          </a:xfrm>
          <a:prstGeom prst="rect">
            <a:avLst/>
          </a:prstGeom>
          <a:solidFill>
            <a:srgbClr val="4066F5"/>
          </a:solidFill>
          <a:ln>
            <a:noFill/>
          </a:ln>
          <a:effectLst/>
        </p:spPr>
        <p:txBody>
          <a:bodyPr rtlCol="0" anchor="ctr"/>
          <a:lstStyle/>
          <a:p>
            <a:pPr algn="ctr"/>
          </a:p>
        </p:txBody>
      </p:sp>
      <p:sp>
        <p:nvSpPr>
          <p:cNvPr id="26" name="TextBox 25"/>
          <p:cNvSpPr txBox="1"/>
          <p:nvPr/>
        </p:nvSpPr>
        <p:spPr>
          <a:xfrm>
            <a:off x="6556248" y="3383280"/>
            <a:ext cx="4846320" cy="201168"/>
          </a:xfrm>
          <a:prstGeom prst="rect">
            <a:avLst/>
          </a:prstGeom>
          <a:noFill/>
          <a:effectLst/>
        </p:spPr>
        <p:txBody>
          <a:bodyPr wrap="square" anchor="t" lIns="0" rIns="0" tIns="0" bIns="0">
            <a:spAutoFit/>
          </a:bodyPr>
          <a:lstStyle/>
          <a:p>
            <a:pPr algn="l">
              <a:lnSpc>
                <a:spcPct val="100000"/>
              </a:lnSpc>
              <a:spcAft>
                <a:spcPts val="200"/>
              </a:spcAft>
            </a:pPr>
            <a:r>
              <a:rPr sz="1000" b="1">
                <a:solidFill>
                  <a:srgbClr val="1F3799"/>
                </a:solidFill>
                <a:latin typeface="Libre Franklin"/>
              </a:rPr>
              <a:t>DIVERGE FREELY, CONVERGE ON THE PLATFORM</a:t>
            </a:r>
          </a:p>
        </p:txBody>
      </p:sp>
      <p:sp>
        <p:nvSpPr>
          <p:cNvPr id="27" name="TextBox 26"/>
          <p:cNvSpPr txBox="1"/>
          <p:nvPr/>
        </p:nvSpPr>
        <p:spPr>
          <a:xfrm>
            <a:off x="6556248" y="3648456"/>
            <a:ext cx="4892040" cy="914400"/>
          </a:xfrm>
          <a:prstGeom prst="rect">
            <a:avLst/>
          </a:prstGeom>
          <a:noFill/>
          <a:effectLst/>
        </p:spPr>
        <p:txBody>
          <a:bodyPr wrap="square" anchor="t" lIns="0" rIns="0" tIns="0" bIns="0">
            <a:spAutoFit/>
          </a:bodyPr>
          <a:lstStyle/>
          <a:p>
            <a:pPr algn="l">
              <a:lnSpc>
                <a:spcPct val="122000"/>
              </a:lnSpc>
              <a:spcAft>
                <a:spcPts val="200"/>
              </a:spcAft>
            </a:pPr>
            <a:r>
              <a:rPr sz="1050" b="0">
                <a:solidFill>
                  <a:srgbClr val="071224"/>
                </a:solidFill>
                <a:latin typeface="Libre Franklin"/>
              </a:rPr>
              <a:t>Think as wide as org design, FinOps and co-innovation programs; land every thread on Banking OS. Free-spirited in the room, ruthless at the point of convergence.</a:t>
            </a:r>
          </a:p>
        </p:txBody>
      </p:sp>
      <p:sp>
        <p:nvSpPr>
          <p:cNvPr id="28" name="Rounded Rectangle 27"/>
          <p:cNvSpPr/>
          <p:nvPr/>
        </p:nvSpPr>
        <p:spPr>
          <a:xfrm>
            <a:off x="914400" y="5138928"/>
            <a:ext cx="10705795" cy="437997"/>
          </a:xfrm>
          <a:prstGeom prst="roundRect">
            <a:avLst>
              <a:gd name="adj" fmla="val 8000"/>
            </a:avLst>
          </a:prstGeom>
          <a:solidFill>
            <a:srgbClr val="071224"/>
          </a:solidFill>
          <a:ln>
            <a:noFill/>
          </a:ln>
          <a:effectLst/>
        </p:spPr>
        <p:txBody>
          <a:bodyPr rtlCol="0" anchor="ctr"/>
          <a:lstStyle/>
          <a:p>
            <a:pPr algn="ctr"/>
          </a:p>
        </p:txBody>
      </p:sp>
      <p:sp>
        <p:nvSpPr>
          <p:cNvPr id="29" name="TextBox 28"/>
          <p:cNvSpPr txBox="1"/>
          <p:nvPr/>
        </p:nvSpPr>
        <p:spPr>
          <a:xfrm>
            <a:off x="1143000" y="5253228"/>
            <a:ext cx="10248595" cy="256032"/>
          </a:xfrm>
          <a:prstGeom prst="rect">
            <a:avLst/>
          </a:prstGeom>
          <a:noFill/>
          <a:effectLst/>
        </p:spPr>
        <p:txBody>
          <a:bodyPr wrap="square" anchor="t" lIns="0" rIns="0" tIns="0" bIns="0">
            <a:spAutoFit/>
          </a:bodyPr>
          <a:lstStyle/>
          <a:p>
            <a:pPr algn="l">
              <a:lnSpc>
                <a:spcPct val="100000"/>
              </a:lnSpc>
              <a:spcAft>
                <a:spcPts val="200"/>
              </a:spcAft>
            </a:pPr>
            <a:r>
              <a:rPr sz="1350" b="1">
                <a:solidFill>
                  <a:srgbClr val="93FBFE"/>
                </a:solidFill>
                <a:latin typeface="Libre Franklin"/>
              </a:rPr>
              <a:t>The 57 slides are that style, written down: </a:t>
            </a:r>
            <a:r>
              <a:rPr sz="1350" b="0">
                <a:solidFill>
                  <a:srgbClr val="FFFFFF"/>
                </a:solidFill>
                <a:latin typeface="Libre Franklin"/>
              </a:rPr>
              <a:t>an operating system for a business line, not a deck.</a:t>
            </a:r>
          </a:p>
        </p:txBody>
      </p:sp>
      <p:cxnSp>
        <p:nvCxnSpPr>
          <p:cNvPr id="30" name="Connector 29"/>
          <p:cNvCxnSpPr/>
          <p:nvPr/>
        </p:nvCxnSpPr>
        <p:spPr>
          <a:xfrm>
            <a:off x="914400" y="5998464"/>
            <a:ext cx="10705795" cy="0"/>
          </a:xfrm>
          <a:prstGeom prst="line">
            <a:avLst/>
          </a:prstGeom>
          <a:ln w="9525">
            <a:solidFill>
              <a:srgbClr val="D2D4D8"/>
            </a:solidFill>
          </a:ln>
          <a:effectLst/>
          <a:effectLst/>
        </p:spPr>
      </p:cxnSp>
      <p:sp>
        <p:nvSpPr>
          <p:cNvPr id="31" name="TextBox 30"/>
          <p:cNvSpPr txBox="1"/>
          <p:nvPr/>
        </p:nvSpPr>
        <p:spPr>
          <a:xfrm>
            <a:off x="914400" y="6071616"/>
            <a:ext cx="10705795" cy="365760"/>
          </a:xfrm>
          <a:prstGeom prst="rect">
            <a:avLst/>
          </a:prstGeom>
          <a:noFill/>
          <a:effectLst/>
        </p:spPr>
        <p:txBody>
          <a:bodyPr wrap="square" anchor="t" lIns="0" rIns="0" tIns="0" bIns="0">
            <a:spAutoFit/>
          </a:bodyPr>
          <a:lstStyle/>
          <a:p>
            <a:pPr algn="l">
              <a:lnSpc>
                <a:spcPct val="115000"/>
              </a:lnSpc>
              <a:spcAft>
                <a:spcPts val="200"/>
              </a:spcAft>
            </a:pPr>
            <a:r>
              <a:rPr sz="950" b="0">
                <a:solidFill>
                  <a:srgbClr val="8F949C"/>
                </a:solidFill>
                <a:latin typeface="Libre Franklin"/>
              </a:rPr>
              <a:t>The same four principles produced Cortex, the Pursuit Loop and the exhibit engine before they produced the playbook.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0" y="523951"/>
            <a:ext cx="12191695" cy="0"/>
          </a:xfrm>
          <a:prstGeom prst="line">
            <a:avLst/>
          </a:prstGeom>
          <a:ln w="9525">
            <a:solidFill>
              <a:srgbClr val="D2D4D8"/>
            </a:solidFill>
          </a:ln>
          <a:effectLst/>
          <a:effectLst/>
        </p:spPr>
      </p:cxnSp>
      <p:cxnSp>
        <p:nvCxnSpPr>
          <p:cNvPr id="3" name="Connector 2"/>
          <p:cNvCxnSpPr/>
          <p:nvPr/>
        </p:nvCxnSpPr>
        <p:spPr>
          <a:xfrm>
            <a:off x="523951" y="0"/>
            <a:ext cx="0" cy="6439204"/>
          </a:xfrm>
          <a:prstGeom prst="line">
            <a:avLst/>
          </a:prstGeom>
          <a:ln w="9525">
            <a:solidFill>
              <a:srgbClr val="D2D4D8"/>
            </a:solidFill>
          </a:ln>
          <a:effectLst/>
          <a:effectLst/>
        </p:spPr>
      </p:cxnSp>
      <p:cxnSp>
        <p:nvCxnSpPr>
          <p:cNvPr id="4" name="Connector 3"/>
          <p:cNvCxnSpPr/>
          <p:nvPr/>
        </p:nvCxnSpPr>
        <p:spPr>
          <a:xfrm>
            <a:off x="11667744" y="0"/>
            <a:ext cx="0" cy="6439204"/>
          </a:xfrm>
          <a:prstGeom prst="line">
            <a:avLst/>
          </a:prstGeom>
          <a:ln w="9525">
            <a:solidFill>
              <a:srgbClr val="D2D4D8"/>
            </a:solidFill>
          </a:ln>
          <a:effectLst/>
          <a:effectLst/>
        </p:spPr>
      </p:cxnSp>
      <p:cxnSp>
        <p:nvCxnSpPr>
          <p:cNvPr id="5" name="Connector 4"/>
          <p:cNvCxnSpPr/>
          <p:nvPr/>
        </p:nvCxnSpPr>
        <p:spPr>
          <a:xfrm>
            <a:off x="0" y="6439204"/>
            <a:ext cx="12191695" cy="0"/>
          </a:xfrm>
          <a:prstGeom prst="line">
            <a:avLst/>
          </a:prstGeom>
          <a:ln w="9525">
            <a:solidFill>
              <a:srgbClr val="D2D4D8"/>
            </a:solidFill>
          </a:ln>
          <a:effectLst/>
          <a:effectLst/>
        </p:spPr>
      </p:cxnSp>
      <p:sp>
        <p:nvSpPr>
          <p:cNvPr id="6" name="Freeform 5"/>
          <p:cNvSpPr/>
          <p:nvPr/>
        </p:nvSpPr>
        <p:spPr>
          <a:xfrm>
            <a:off x="371246" y="371246"/>
            <a:ext cx="152705" cy="151790"/>
          </a:xfrm>
          <a:custGeom>
            <a:avLst/>
            <a:gdLst/>
            <a:ahLst/>
            <a:cxnLst/>
            <a:rect l="l" t="t" r="r" b="b"/>
            <a:pathLst>
              <a:path w="9168" h="9096">
                <a:moveTo>
                  <a:pt x="19" y="4762"/>
                </a:moveTo>
                <a:lnTo>
                  <a:pt x="4567" y="4762"/>
                </a:lnTo>
                <a:lnTo>
                  <a:pt x="4566" y="0"/>
                </a:lnTo>
                <a:lnTo>
                  <a:pt x="9168" y="0"/>
                </a:lnTo>
                <a:lnTo>
                  <a:pt x="9168" y="9096"/>
                </a:lnTo>
                <a:lnTo>
                  <a:pt x="0" y="9096"/>
                </a:lnTo>
                <a:close/>
              </a:path>
            </a:pathLst>
          </a:custGeom>
          <a:solidFill>
            <a:srgbClr val="4066F5"/>
          </a:solidFill>
          <a:ln>
            <a:noFill/>
          </a:ln>
          <a:effectLst/>
        </p:spPr>
        <p:txBody>
          <a:bodyPr rtlCol="0" anchor="ctr"/>
          <a:lstStyle/>
          <a:p>
            <a:pPr algn="ctr"/>
          </a:p>
        </p:txBody>
      </p:sp>
      <p:sp>
        <p:nvSpPr>
          <p:cNvPr id="7" name="TextBox 6"/>
          <p:cNvSpPr txBox="1"/>
          <p:nvPr/>
        </p:nvSpPr>
        <p:spPr>
          <a:xfrm>
            <a:off x="914400" y="742492"/>
            <a:ext cx="9528048" cy="228600"/>
          </a:xfrm>
          <a:prstGeom prst="rect">
            <a:avLst/>
          </a:prstGeom>
          <a:noFill/>
          <a:effectLst/>
        </p:spPr>
        <p:txBody>
          <a:bodyPr wrap="square" anchor="t" lIns="0" rIns="0" tIns="0" bIns="0">
            <a:spAutoFit/>
          </a:bodyPr>
          <a:lstStyle/>
          <a:p>
            <a:pPr algn="l">
              <a:lnSpc>
                <a:spcPct val="100000"/>
              </a:lnSpc>
              <a:spcAft>
                <a:spcPts val="200"/>
              </a:spcAft>
            </a:pPr>
            <a:r>
              <a:rPr sz="1350" b="0" spc="120">
                <a:solidFill>
                  <a:srgbClr val="4066F5"/>
                </a:solidFill>
                <a:latin typeface="Libre Franklin"/>
              </a:rPr>
              <a:t>THE FUTURE · WHAT I AM THINKING ABOUT</a:t>
            </a:r>
          </a:p>
        </p:txBody>
      </p:sp>
      <p:sp>
        <p:nvSpPr>
          <p:cNvPr id="8" name="TextBox 7"/>
          <p:cNvSpPr txBox="1"/>
          <p:nvPr/>
        </p:nvSpPr>
        <p:spPr>
          <a:xfrm>
            <a:off x="914400" y="1009497"/>
            <a:ext cx="10003536" cy="960120"/>
          </a:xfrm>
          <a:prstGeom prst="rect">
            <a:avLst/>
          </a:prstGeom>
          <a:noFill/>
          <a:effectLst/>
        </p:spPr>
        <p:txBody>
          <a:bodyPr wrap="square" anchor="t" lIns="0" rIns="0" tIns="0" bIns="0">
            <a:spAutoFit/>
          </a:bodyPr>
          <a:lstStyle/>
          <a:p>
            <a:pPr algn="l">
              <a:lnSpc>
                <a:spcPct val="104000"/>
              </a:lnSpc>
              <a:spcAft>
                <a:spcPts val="200"/>
              </a:spcAft>
            </a:pPr>
            <a:r>
              <a:rPr sz="2500" b="1">
                <a:solidFill>
                  <a:srgbClr val="071224"/>
                </a:solidFill>
                <a:latin typeface="Libre Franklin"/>
              </a:rPr>
              <a:t>The next decade is operating models; I want us ahead of it.</a:t>
            </a:r>
          </a:p>
        </p:txBody>
      </p:sp>
      <p:pic>
        <p:nvPicPr>
          <p:cNvPr id="9" name="Picture 8" descr="backbase_logo_black.png"/>
          <p:cNvPicPr>
            <a:picLocks noChangeAspect="1"/>
          </p:cNvPicPr>
          <p:nvPr/>
        </p:nvPicPr>
        <p:blipFill>
          <a:blip r:embed="rId2"/>
          <a:stretch>
            <a:fillRect/>
          </a:stretch>
        </p:blipFill>
        <p:spPr>
          <a:xfrm>
            <a:off x="10637215" y="6569964"/>
            <a:ext cx="975664" cy="158191"/>
          </a:xfrm>
          <a:prstGeom prst="rect">
            <a:avLst/>
          </a:prstGeom>
          <a:effectLst/>
        </p:spPr>
      </p:pic>
      <p:cxnSp>
        <p:nvCxnSpPr>
          <p:cNvPr id="10" name="Connector 9"/>
          <p:cNvCxnSpPr/>
          <p:nvPr/>
        </p:nvCxnSpPr>
        <p:spPr>
          <a:xfrm>
            <a:off x="11706148" y="6508699"/>
            <a:ext cx="0" cy="227685"/>
          </a:xfrm>
          <a:prstGeom prst="line">
            <a:avLst/>
          </a:prstGeom>
          <a:ln w="11430">
            <a:solidFill>
              <a:srgbClr val="9A9EA6"/>
            </a:solidFill>
          </a:ln>
          <a:effectLst/>
          <a:effectLst/>
        </p:spPr>
      </p:cxnSp>
      <p:sp>
        <p:nvSpPr>
          <p:cNvPr id="11" name="TextBox 10"/>
          <p:cNvSpPr txBox="1"/>
          <p:nvPr/>
        </p:nvSpPr>
        <p:spPr>
          <a:xfrm>
            <a:off x="11770156" y="6508699"/>
            <a:ext cx="384048" cy="227685"/>
          </a:xfrm>
          <a:prstGeom prst="rect">
            <a:avLst/>
          </a:prstGeom>
          <a:noFill/>
          <a:effectLst/>
        </p:spPr>
        <p:txBody>
          <a:bodyPr wrap="none" anchor="ctr" lIns="0" rIns="0" tIns="0" bIns="0">
            <a:spAutoFit/>
          </a:bodyPr>
          <a:lstStyle/>
          <a:p>
            <a:fld id="{B7A1C0DE-2026-4728-8000-000000000004}" type="slidenum">
              <a:rPr lang="en-US" sz="1275" b="1" dirty="0">
                <a:solidFill>
                  <a:srgbClr val="000000"/>
                </a:solidFill>
                <a:latin typeface="Libre Franklin"/>
              </a:rPr>
              <a:t>4</a:t>
            </a:fld>
          </a:p>
        </p:txBody>
      </p:sp>
      <p:sp>
        <p:nvSpPr>
          <p:cNvPr id="12" name="Rounded Rectangle 11"/>
          <p:cNvSpPr/>
          <p:nvPr/>
        </p:nvSpPr>
        <p:spPr>
          <a:xfrm>
            <a:off x="914400" y="1783080"/>
            <a:ext cx="3447288" cy="3154680"/>
          </a:xfrm>
          <a:prstGeom prst="roundRect">
            <a:avLst>
              <a:gd name="adj" fmla="val 8000"/>
            </a:avLst>
          </a:prstGeom>
          <a:solidFill>
            <a:srgbClr val="F5F6FA"/>
          </a:solidFill>
          <a:ln>
            <a:noFill/>
          </a:ln>
          <a:effectLst/>
        </p:spPr>
        <p:txBody>
          <a:bodyPr rtlCol="0" anchor="ctr"/>
          <a:lstStyle/>
          <a:p>
            <a:pPr algn="ctr"/>
          </a:p>
        </p:txBody>
      </p:sp>
      <p:sp>
        <p:nvSpPr>
          <p:cNvPr id="13" name="Rounded Rectangle 12"/>
          <p:cNvSpPr/>
          <p:nvPr/>
        </p:nvSpPr>
        <p:spPr>
          <a:xfrm>
            <a:off x="914400" y="1783080"/>
            <a:ext cx="3447288" cy="310896"/>
          </a:xfrm>
          <a:prstGeom prst="roundRect">
            <a:avLst>
              <a:gd name="adj" fmla="val 8000"/>
            </a:avLst>
          </a:prstGeom>
          <a:solidFill>
            <a:srgbClr val="4066F5"/>
          </a:solidFill>
          <a:ln>
            <a:noFill/>
          </a:ln>
          <a:effectLst/>
        </p:spPr>
        <p:txBody>
          <a:bodyPr rtlCol="0" anchor="ctr"/>
          <a:lstStyle/>
          <a:p>
            <a:pPr algn="ctr"/>
          </a:p>
        </p:txBody>
      </p:sp>
      <p:sp>
        <p:nvSpPr>
          <p:cNvPr id="14" name="TextBox 13"/>
          <p:cNvSpPr txBox="1"/>
          <p:nvPr/>
        </p:nvSpPr>
        <p:spPr>
          <a:xfrm>
            <a:off x="1060704" y="1837943"/>
            <a:ext cx="3200400" cy="219456"/>
          </a:xfrm>
          <a:prstGeom prst="rect">
            <a:avLst/>
          </a:prstGeom>
          <a:noFill/>
          <a:effectLst/>
        </p:spPr>
        <p:txBody>
          <a:bodyPr wrap="square" anchor="t" lIns="0" rIns="0" tIns="0" bIns="0">
            <a:spAutoFit/>
          </a:bodyPr>
          <a:lstStyle/>
          <a:p>
            <a:pPr algn="l">
              <a:lnSpc>
                <a:spcPct val="100000"/>
              </a:lnSpc>
              <a:spcAft>
                <a:spcPts val="200"/>
              </a:spcAft>
            </a:pPr>
            <a:r>
              <a:rPr sz="950" b="1">
                <a:solidFill>
                  <a:srgbClr val="FFFFFF"/>
                </a:solidFill>
                <a:latin typeface="Libre Franklin"/>
              </a:rPr>
              <a:t>COST PER OUTCOME</a:t>
            </a:r>
          </a:p>
        </p:txBody>
      </p:sp>
      <p:sp>
        <p:nvSpPr>
          <p:cNvPr id="15" name="TextBox 14"/>
          <p:cNvSpPr txBox="1"/>
          <p:nvPr/>
        </p:nvSpPr>
        <p:spPr>
          <a:xfrm>
            <a:off x="1078992" y="2212848"/>
            <a:ext cx="3108960" cy="457200"/>
          </a:xfrm>
          <a:prstGeom prst="rect">
            <a:avLst/>
          </a:prstGeom>
          <a:noFill/>
          <a:effectLst/>
        </p:spPr>
        <p:txBody>
          <a:bodyPr wrap="square" anchor="t" lIns="0" rIns="0" tIns="0" bIns="0">
            <a:spAutoFit/>
          </a:bodyPr>
          <a:lstStyle/>
          <a:p>
            <a:pPr algn="l">
              <a:lnSpc>
                <a:spcPct val="108000"/>
              </a:lnSpc>
              <a:spcAft>
                <a:spcPts val="200"/>
              </a:spcAft>
            </a:pPr>
            <a:r>
              <a:rPr sz="1200" b="1">
                <a:solidFill>
                  <a:srgbClr val="071224"/>
                </a:solidFill>
                <a:latin typeface="Libre Franklin"/>
              </a:rPr>
              <a:t>becomes the number that matters</a:t>
            </a:r>
          </a:p>
        </p:txBody>
      </p:sp>
      <p:sp>
        <p:nvSpPr>
          <p:cNvPr id="16" name="TextBox 15"/>
          <p:cNvSpPr txBox="1"/>
          <p:nvPr/>
        </p:nvSpPr>
        <p:spPr>
          <a:xfrm>
            <a:off x="1078992" y="2724912"/>
            <a:ext cx="3108960" cy="1371600"/>
          </a:xfrm>
          <a:prstGeom prst="rect">
            <a:avLst/>
          </a:prstGeom>
          <a:noFill/>
          <a:effectLst/>
        </p:spPr>
        <p:txBody>
          <a:bodyPr wrap="square" anchor="t" lIns="0" rIns="0" tIns="0" bIns="0">
            <a:spAutoFit/>
          </a:bodyPr>
          <a:lstStyle/>
          <a:p>
            <a:pPr algn="l">
              <a:lnSpc>
                <a:spcPct val="122000"/>
              </a:lnSpc>
              <a:spcAft>
                <a:spcPts val="200"/>
              </a:spcAft>
            </a:pPr>
            <a:r>
              <a:rPr sz="1000" b="0">
                <a:solidFill>
                  <a:srgbClr val="071224"/>
                </a:solidFill>
                <a:latin typeface="Libre Franklin"/>
              </a:rPr>
              <a:t>Boards will stop asking “do we have AI” and start asking what a resolved outcome costs. Whoever measures it owns the renewal conversation.</a:t>
            </a:r>
          </a:p>
        </p:txBody>
      </p:sp>
      <p:sp>
        <p:nvSpPr>
          <p:cNvPr id="17" name="TextBox 16"/>
          <p:cNvSpPr txBox="1"/>
          <p:nvPr/>
        </p:nvSpPr>
        <p:spPr>
          <a:xfrm>
            <a:off x="1078992" y="4224528"/>
            <a:ext cx="3108960" cy="621792"/>
          </a:xfrm>
          <a:prstGeom prst="rect">
            <a:avLst/>
          </a:prstGeom>
          <a:noFill/>
          <a:effectLst/>
        </p:spPr>
        <p:txBody>
          <a:bodyPr wrap="square" anchor="t" lIns="0" rIns="0" tIns="0" bIns="0">
            <a:spAutoFit/>
          </a:bodyPr>
          <a:lstStyle/>
          <a:p>
            <a:pPr algn="l">
              <a:lnSpc>
                <a:spcPct val="115000"/>
              </a:lnSpc>
              <a:spcAft>
                <a:spcPts val="200"/>
              </a:spcAft>
            </a:pPr>
            <a:r>
              <a:rPr sz="950" b="1">
                <a:solidFill>
                  <a:srgbClr val="1F3799"/>
                </a:solidFill>
                <a:latin typeface="Libre Franklin"/>
              </a:rPr>
              <a:t>My move: the keystone model with Deepak, Value Telemetry, gain-share pricing.</a:t>
            </a:r>
          </a:p>
        </p:txBody>
      </p:sp>
      <p:sp>
        <p:nvSpPr>
          <p:cNvPr id="18" name="Rounded Rectangle 17"/>
          <p:cNvSpPr/>
          <p:nvPr/>
        </p:nvSpPr>
        <p:spPr>
          <a:xfrm>
            <a:off x="4544568" y="1783080"/>
            <a:ext cx="3447288" cy="3154680"/>
          </a:xfrm>
          <a:prstGeom prst="roundRect">
            <a:avLst>
              <a:gd name="adj" fmla="val 8000"/>
            </a:avLst>
          </a:prstGeom>
          <a:solidFill>
            <a:srgbClr val="F5F6FA"/>
          </a:solidFill>
          <a:ln>
            <a:noFill/>
          </a:ln>
          <a:effectLst/>
        </p:spPr>
        <p:txBody>
          <a:bodyPr rtlCol="0" anchor="ctr"/>
          <a:lstStyle/>
          <a:p>
            <a:pPr algn="ctr"/>
          </a:p>
        </p:txBody>
      </p:sp>
      <p:sp>
        <p:nvSpPr>
          <p:cNvPr id="19" name="Rounded Rectangle 18"/>
          <p:cNvSpPr/>
          <p:nvPr/>
        </p:nvSpPr>
        <p:spPr>
          <a:xfrm>
            <a:off x="4544568" y="1783080"/>
            <a:ext cx="3447288" cy="310896"/>
          </a:xfrm>
          <a:prstGeom prst="roundRect">
            <a:avLst>
              <a:gd name="adj" fmla="val 8000"/>
            </a:avLst>
          </a:prstGeom>
          <a:solidFill>
            <a:srgbClr val="1F3799"/>
          </a:solidFill>
          <a:ln>
            <a:noFill/>
          </a:ln>
          <a:effectLst/>
        </p:spPr>
        <p:txBody>
          <a:bodyPr rtlCol="0" anchor="ctr"/>
          <a:lstStyle/>
          <a:p>
            <a:pPr algn="ctr"/>
          </a:p>
        </p:txBody>
      </p:sp>
      <p:sp>
        <p:nvSpPr>
          <p:cNvPr id="20" name="TextBox 19"/>
          <p:cNvSpPr txBox="1"/>
          <p:nvPr/>
        </p:nvSpPr>
        <p:spPr>
          <a:xfrm>
            <a:off x="4690872" y="1837943"/>
            <a:ext cx="3200400" cy="219456"/>
          </a:xfrm>
          <a:prstGeom prst="rect">
            <a:avLst/>
          </a:prstGeom>
          <a:noFill/>
          <a:effectLst/>
        </p:spPr>
        <p:txBody>
          <a:bodyPr wrap="square" anchor="t" lIns="0" rIns="0" tIns="0" bIns="0">
            <a:spAutoFit/>
          </a:bodyPr>
          <a:lstStyle/>
          <a:p>
            <a:pPr algn="l">
              <a:lnSpc>
                <a:spcPct val="100000"/>
              </a:lnSpc>
              <a:spcAft>
                <a:spcPts val="200"/>
              </a:spcAft>
            </a:pPr>
            <a:r>
              <a:rPr sz="950" b="1">
                <a:solidFill>
                  <a:srgbClr val="FFFFFF"/>
                </a:solidFill>
                <a:latin typeface="Libre Franklin"/>
              </a:rPr>
              <a:t>ORGS FOLLOW THE AUTONOMY CURVE</a:t>
            </a:r>
          </a:p>
        </p:txBody>
      </p:sp>
      <p:sp>
        <p:nvSpPr>
          <p:cNvPr id="21" name="TextBox 20"/>
          <p:cNvSpPr txBox="1"/>
          <p:nvPr/>
        </p:nvSpPr>
        <p:spPr>
          <a:xfrm>
            <a:off x="4709160" y="2212848"/>
            <a:ext cx="3108960" cy="457200"/>
          </a:xfrm>
          <a:prstGeom prst="rect">
            <a:avLst/>
          </a:prstGeom>
          <a:noFill/>
          <a:effectLst/>
        </p:spPr>
        <p:txBody>
          <a:bodyPr wrap="square" anchor="t" lIns="0" rIns="0" tIns="0" bIns="0">
            <a:spAutoFit/>
          </a:bodyPr>
          <a:lstStyle/>
          <a:p>
            <a:pPr algn="l">
              <a:lnSpc>
                <a:spcPct val="108000"/>
              </a:lnSpc>
              <a:spcAft>
                <a:spcPts val="200"/>
              </a:spcAft>
            </a:pPr>
            <a:r>
              <a:rPr sz="1200" b="1">
                <a:solidFill>
                  <a:srgbClr val="071224"/>
                </a:solidFill>
                <a:latin typeface="Libre Franklin"/>
              </a:rPr>
              <a:t>the chart is the next battleground</a:t>
            </a:r>
          </a:p>
        </p:txBody>
      </p:sp>
      <p:sp>
        <p:nvSpPr>
          <p:cNvPr id="22" name="TextBox 21"/>
          <p:cNvSpPr txBox="1"/>
          <p:nvPr/>
        </p:nvSpPr>
        <p:spPr>
          <a:xfrm>
            <a:off x="4709160" y="2724912"/>
            <a:ext cx="3108960" cy="1371600"/>
          </a:xfrm>
          <a:prstGeom prst="rect">
            <a:avLst/>
          </a:prstGeom>
          <a:noFill/>
          <a:effectLst/>
        </p:spPr>
        <p:txBody>
          <a:bodyPr wrap="square" anchor="t" lIns="0" rIns="0" tIns="0" bIns="0">
            <a:spAutoFit/>
          </a:bodyPr>
          <a:lstStyle/>
          <a:p>
            <a:pPr algn="l">
              <a:lnSpc>
                <a:spcPct val="122000"/>
              </a:lnSpc>
              <a:spcAft>
                <a:spcPts val="200"/>
              </a:spcAft>
            </a:pPr>
            <a:r>
              <a:rPr sz="1000" b="0">
                <a:solidFill>
                  <a:srgbClr val="071224"/>
                </a:solidFill>
                <a:latin typeface="Libre Franklin"/>
              </a:rPr>
              <a:t>In, on and above the loop become org-design vocabulary. Banks will redraw their pyramids into thin judgment layers over agent workforces, and they will pay whoever holds the evidence.</a:t>
            </a:r>
          </a:p>
        </p:txBody>
      </p:sp>
      <p:sp>
        <p:nvSpPr>
          <p:cNvPr id="23" name="TextBox 22"/>
          <p:cNvSpPr txBox="1"/>
          <p:nvPr/>
        </p:nvSpPr>
        <p:spPr>
          <a:xfrm>
            <a:off x="4709160" y="4224528"/>
            <a:ext cx="3108960" cy="621792"/>
          </a:xfrm>
          <a:prstGeom prst="rect">
            <a:avLst/>
          </a:prstGeom>
          <a:noFill/>
          <a:effectLst/>
        </p:spPr>
        <p:txBody>
          <a:bodyPr wrap="square" anchor="t" lIns="0" rIns="0" tIns="0" bIns="0">
            <a:spAutoFit/>
          </a:bodyPr>
          <a:lstStyle/>
          <a:p>
            <a:pPr algn="l">
              <a:lnSpc>
                <a:spcPct val="115000"/>
              </a:lnSpc>
              <a:spcAft>
                <a:spcPts val="200"/>
              </a:spcAft>
            </a:pPr>
            <a:r>
              <a:rPr sz="950" b="1">
                <a:solidFill>
                  <a:srgbClr val="1F3799"/>
                </a:solidFill>
                <a:latin typeface="Libre Franklin"/>
              </a:rPr>
              <a:t>My move: AI-Native Org Design on Engine A evidence; the CEO and CHRO door.</a:t>
            </a:r>
          </a:p>
        </p:txBody>
      </p:sp>
      <p:sp>
        <p:nvSpPr>
          <p:cNvPr id="24" name="Rounded Rectangle 23"/>
          <p:cNvSpPr/>
          <p:nvPr/>
        </p:nvSpPr>
        <p:spPr>
          <a:xfrm>
            <a:off x="8174736" y="1783080"/>
            <a:ext cx="3447288" cy="3154680"/>
          </a:xfrm>
          <a:prstGeom prst="roundRect">
            <a:avLst>
              <a:gd name="adj" fmla="val 8000"/>
            </a:avLst>
          </a:prstGeom>
          <a:solidFill>
            <a:srgbClr val="F5F6FA"/>
          </a:solidFill>
          <a:ln>
            <a:noFill/>
          </a:ln>
          <a:effectLst/>
        </p:spPr>
        <p:txBody>
          <a:bodyPr rtlCol="0" anchor="ctr"/>
          <a:lstStyle/>
          <a:p>
            <a:pPr algn="ctr"/>
          </a:p>
        </p:txBody>
      </p:sp>
      <p:sp>
        <p:nvSpPr>
          <p:cNvPr id="25" name="Rounded Rectangle 24"/>
          <p:cNvSpPr/>
          <p:nvPr/>
        </p:nvSpPr>
        <p:spPr>
          <a:xfrm>
            <a:off x="8174736" y="1783080"/>
            <a:ext cx="3447288" cy="310896"/>
          </a:xfrm>
          <a:prstGeom prst="roundRect">
            <a:avLst>
              <a:gd name="adj" fmla="val 8000"/>
            </a:avLst>
          </a:prstGeom>
          <a:solidFill>
            <a:srgbClr val="071224"/>
          </a:solidFill>
          <a:ln>
            <a:noFill/>
          </a:ln>
          <a:effectLst/>
        </p:spPr>
        <p:txBody>
          <a:bodyPr rtlCol="0" anchor="ctr"/>
          <a:lstStyle/>
          <a:p>
            <a:pPr algn="ctr"/>
          </a:p>
        </p:txBody>
      </p:sp>
      <p:sp>
        <p:nvSpPr>
          <p:cNvPr id="26" name="TextBox 25"/>
          <p:cNvSpPr txBox="1"/>
          <p:nvPr/>
        </p:nvSpPr>
        <p:spPr>
          <a:xfrm>
            <a:off x="8321040" y="1837943"/>
            <a:ext cx="3200400" cy="219456"/>
          </a:xfrm>
          <a:prstGeom prst="rect">
            <a:avLst/>
          </a:prstGeom>
          <a:noFill/>
          <a:effectLst/>
        </p:spPr>
        <p:txBody>
          <a:bodyPr wrap="square" anchor="t" lIns="0" rIns="0" tIns="0" bIns="0">
            <a:spAutoFit/>
          </a:bodyPr>
          <a:lstStyle/>
          <a:p>
            <a:pPr algn="l">
              <a:lnSpc>
                <a:spcPct val="100000"/>
              </a:lnSpc>
              <a:spcAft>
                <a:spcPts val="200"/>
              </a:spcAft>
            </a:pPr>
            <a:r>
              <a:rPr sz="950" b="1">
                <a:solidFill>
                  <a:srgbClr val="FFFFFF"/>
                </a:solidFill>
                <a:latin typeface="Libre Franklin"/>
              </a:rPr>
              <a:t>VENDORS WIN BY INSTALLING</a:t>
            </a:r>
          </a:p>
        </p:txBody>
      </p:sp>
      <p:sp>
        <p:nvSpPr>
          <p:cNvPr id="27" name="TextBox 26"/>
          <p:cNvSpPr txBox="1"/>
          <p:nvPr/>
        </p:nvSpPr>
        <p:spPr>
          <a:xfrm>
            <a:off x="8339328" y="2212848"/>
            <a:ext cx="3108960" cy="457200"/>
          </a:xfrm>
          <a:prstGeom prst="rect">
            <a:avLst/>
          </a:prstGeom>
          <a:noFill/>
          <a:effectLst/>
        </p:spPr>
        <p:txBody>
          <a:bodyPr wrap="square" anchor="t" lIns="0" rIns="0" tIns="0" bIns="0">
            <a:spAutoFit/>
          </a:bodyPr>
          <a:lstStyle/>
          <a:p>
            <a:pPr algn="l">
              <a:lnSpc>
                <a:spcPct val="108000"/>
              </a:lnSpc>
              <a:spcAft>
                <a:spcPts val="200"/>
              </a:spcAft>
            </a:pPr>
            <a:r>
              <a:rPr sz="1200" b="1">
                <a:solidFill>
                  <a:srgbClr val="071224"/>
                </a:solidFill>
                <a:latin typeface="Libre Franklin"/>
              </a:rPr>
              <a:t>the pitch deck era is ending</a:t>
            </a:r>
          </a:p>
        </p:txBody>
      </p:sp>
      <p:sp>
        <p:nvSpPr>
          <p:cNvPr id="28" name="TextBox 27"/>
          <p:cNvSpPr txBox="1"/>
          <p:nvPr/>
        </p:nvSpPr>
        <p:spPr>
          <a:xfrm>
            <a:off x="8339328" y="2724912"/>
            <a:ext cx="3108960" cy="1371600"/>
          </a:xfrm>
          <a:prstGeom prst="rect">
            <a:avLst/>
          </a:prstGeom>
          <a:noFill/>
          <a:effectLst/>
        </p:spPr>
        <p:txBody>
          <a:bodyPr wrap="square" anchor="t" lIns="0" rIns="0" tIns="0" bIns="0">
            <a:spAutoFit/>
          </a:bodyPr>
          <a:lstStyle/>
          <a:p>
            <a:pPr algn="l">
              <a:lnSpc>
                <a:spcPct val="122000"/>
              </a:lnSpc>
              <a:spcAft>
                <a:spcPts val="200"/>
              </a:spcAft>
            </a:pPr>
            <a:r>
              <a:rPr sz="1000" b="0">
                <a:solidFill>
                  <a:srgbClr val="071224"/>
                </a:solidFill>
                <a:latin typeface="Libre Franklin"/>
              </a:rPr>
              <a:t>Paid diagnostics that leave working components will beat capability decks everywhere. Co-innovation programs replace tenders for the banks that matter.</a:t>
            </a:r>
          </a:p>
        </p:txBody>
      </p:sp>
      <p:sp>
        <p:nvSpPr>
          <p:cNvPr id="29" name="TextBox 28"/>
          <p:cNvSpPr txBox="1"/>
          <p:nvPr/>
        </p:nvSpPr>
        <p:spPr>
          <a:xfrm>
            <a:off x="8339328" y="4224528"/>
            <a:ext cx="3108960" cy="621792"/>
          </a:xfrm>
          <a:prstGeom prst="rect">
            <a:avLst/>
          </a:prstGeom>
          <a:noFill/>
          <a:effectLst/>
        </p:spPr>
        <p:txBody>
          <a:bodyPr wrap="square" anchor="t" lIns="0" rIns="0" tIns="0" bIns="0">
            <a:spAutoFit/>
          </a:bodyPr>
          <a:lstStyle/>
          <a:p>
            <a:pPr algn="l">
              <a:lnSpc>
                <a:spcPct val="115000"/>
              </a:lnSpc>
              <a:spcAft>
                <a:spcPts val="200"/>
              </a:spcAft>
            </a:pPr>
            <a:r>
              <a:rPr sz="950" b="1">
                <a:solidFill>
                  <a:srgbClr val="1F3799"/>
                </a:solidFill>
                <a:latin typeface="Libre Franklin"/>
              </a:rPr>
              <a:t>My move: the wedge ladder, the Early Access route, product-led growth for Banking OS.</a:t>
            </a:r>
          </a:p>
        </p:txBody>
      </p:sp>
      <p:cxnSp>
        <p:nvCxnSpPr>
          <p:cNvPr id="30" name="Connector 29"/>
          <p:cNvCxnSpPr/>
          <p:nvPr/>
        </p:nvCxnSpPr>
        <p:spPr>
          <a:xfrm>
            <a:off x="914400" y="5998464"/>
            <a:ext cx="10705795" cy="0"/>
          </a:xfrm>
          <a:prstGeom prst="line">
            <a:avLst/>
          </a:prstGeom>
          <a:ln w="9525">
            <a:solidFill>
              <a:srgbClr val="D2D4D8"/>
            </a:solidFill>
          </a:ln>
          <a:effectLst/>
          <a:effectLst/>
        </p:spPr>
      </p:cxnSp>
      <p:sp>
        <p:nvSpPr>
          <p:cNvPr id="31" name="TextBox 30"/>
          <p:cNvSpPr txBox="1"/>
          <p:nvPr/>
        </p:nvSpPr>
        <p:spPr>
          <a:xfrm>
            <a:off x="914400" y="6071616"/>
            <a:ext cx="10705795" cy="365760"/>
          </a:xfrm>
          <a:prstGeom prst="rect">
            <a:avLst/>
          </a:prstGeom>
          <a:noFill/>
          <a:effectLst/>
        </p:spPr>
        <p:txBody>
          <a:bodyPr wrap="square" anchor="t" lIns="0" rIns="0" tIns="0" bIns="0">
            <a:spAutoFit/>
          </a:bodyPr>
          <a:lstStyle/>
          <a:p>
            <a:pPr algn="l">
              <a:lnSpc>
                <a:spcPct val="115000"/>
              </a:lnSpc>
              <a:spcAft>
                <a:spcPts val="200"/>
              </a:spcAft>
            </a:pPr>
            <a:r>
              <a:rPr sz="950" b="0">
                <a:solidFill>
                  <a:srgbClr val="8F949C"/>
                </a:solidFill>
                <a:latin typeface="Libre Franklin"/>
              </a:rPr>
              <a:t>Each horizon already has a live thread in the playbook: Telemetry (ch 02), the operating model (ch 03), the wedge ladder and EAP (ch 01,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0" y="523951"/>
            <a:ext cx="12191695" cy="0"/>
          </a:xfrm>
          <a:prstGeom prst="line">
            <a:avLst/>
          </a:prstGeom>
          <a:ln w="9525">
            <a:solidFill>
              <a:srgbClr val="D2D4D8"/>
            </a:solidFill>
          </a:ln>
          <a:effectLst/>
          <a:effectLst/>
        </p:spPr>
      </p:cxnSp>
      <p:cxnSp>
        <p:nvCxnSpPr>
          <p:cNvPr id="3" name="Connector 2"/>
          <p:cNvCxnSpPr/>
          <p:nvPr/>
        </p:nvCxnSpPr>
        <p:spPr>
          <a:xfrm>
            <a:off x="523951" y="0"/>
            <a:ext cx="0" cy="6439204"/>
          </a:xfrm>
          <a:prstGeom prst="line">
            <a:avLst/>
          </a:prstGeom>
          <a:ln w="9525">
            <a:solidFill>
              <a:srgbClr val="D2D4D8"/>
            </a:solidFill>
          </a:ln>
          <a:effectLst/>
          <a:effectLst/>
        </p:spPr>
      </p:cxnSp>
      <p:cxnSp>
        <p:nvCxnSpPr>
          <p:cNvPr id="4" name="Connector 3"/>
          <p:cNvCxnSpPr/>
          <p:nvPr/>
        </p:nvCxnSpPr>
        <p:spPr>
          <a:xfrm>
            <a:off x="11667744" y="0"/>
            <a:ext cx="0" cy="6439204"/>
          </a:xfrm>
          <a:prstGeom prst="line">
            <a:avLst/>
          </a:prstGeom>
          <a:ln w="9525">
            <a:solidFill>
              <a:srgbClr val="D2D4D8"/>
            </a:solidFill>
          </a:ln>
          <a:effectLst/>
          <a:effectLst/>
        </p:spPr>
      </p:cxnSp>
      <p:cxnSp>
        <p:nvCxnSpPr>
          <p:cNvPr id="5" name="Connector 4"/>
          <p:cNvCxnSpPr/>
          <p:nvPr/>
        </p:nvCxnSpPr>
        <p:spPr>
          <a:xfrm>
            <a:off x="0" y="6439204"/>
            <a:ext cx="12191695" cy="0"/>
          </a:xfrm>
          <a:prstGeom prst="line">
            <a:avLst/>
          </a:prstGeom>
          <a:ln w="9525">
            <a:solidFill>
              <a:srgbClr val="D2D4D8"/>
            </a:solidFill>
          </a:ln>
          <a:effectLst/>
          <a:effectLst/>
        </p:spPr>
      </p:cxnSp>
      <p:sp>
        <p:nvSpPr>
          <p:cNvPr id="6" name="Freeform 5"/>
          <p:cNvSpPr/>
          <p:nvPr/>
        </p:nvSpPr>
        <p:spPr>
          <a:xfrm>
            <a:off x="371246" y="371246"/>
            <a:ext cx="152705" cy="151790"/>
          </a:xfrm>
          <a:custGeom>
            <a:avLst/>
            <a:gdLst/>
            <a:ahLst/>
            <a:cxnLst/>
            <a:rect l="l" t="t" r="r" b="b"/>
            <a:pathLst>
              <a:path w="9168" h="9096">
                <a:moveTo>
                  <a:pt x="19" y="4762"/>
                </a:moveTo>
                <a:lnTo>
                  <a:pt x="4567" y="4762"/>
                </a:lnTo>
                <a:lnTo>
                  <a:pt x="4566" y="0"/>
                </a:lnTo>
                <a:lnTo>
                  <a:pt x="9168" y="0"/>
                </a:lnTo>
                <a:lnTo>
                  <a:pt x="9168" y="9096"/>
                </a:lnTo>
                <a:lnTo>
                  <a:pt x="0" y="9096"/>
                </a:lnTo>
                <a:close/>
              </a:path>
            </a:pathLst>
          </a:custGeom>
          <a:solidFill>
            <a:srgbClr val="4066F5"/>
          </a:solidFill>
          <a:ln>
            <a:noFill/>
          </a:ln>
          <a:effectLst/>
        </p:spPr>
        <p:txBody>
          <a:bodyPr rtlCol="0" anchor="ctr"/>
          <a:lstStyle/>
          <a:p>
            <a:pPr algn="ctr"/>
          </a:p>
        </p:txBody>
      </p:sp>
      <p:sp>
        <p:nvSpPr>
          <p:cNvPr id="7" name="TextBox 6"/>
          <p:cNvSpPr txBox="1"/>
          <p:nvPr/>
        </p:nvSpPr>
        <p:spPr>
          <a:xfrm>
            <a:off x="914400" y="742492"/>
            <a:ext cx="9528048" cy="228600"/>
          </a:xfrm>
          <a:prstGeom prst="rect">
            <a:avLst/>
          </a:prstGeom>
          <a:noFill/>
          <a:effectLst/>
        </p:spPr>
        <p:txBody>
          <a:bodyPr wrap="square" anchor="t" lIns="0" rIns="0" tIns="0" bIns="0">
            <a:spAutoFit/>
          </a:bodyPr>
          <a:lstStyle/>
          <a:p>
            <a:pPr algn="l">
              <a:lnSpc>
                <a:spcPct val="100000"/>
              </a:lnSpc>
              <a:spcAft>
                <a:spcPts val="200"/>
              </a:spcAft>
            </a:pPr>
            <a:r>
              <a:rPr sz="1350" b="0" spc="120">
                <a:solidFill>
                  <a:srgbClr val="4066F5"/>
                </a:solidFill>
                <a:latin typeface="Libre Franklin"/>
              </a:rPr>
              <a:t>THE ASK · WHERE THIS GOES</a:t>
            </a:r>
          </a:p>
        </p:txBody>
      </p:sp>
      <p:sp>
        <p:nvSpPr>
          <p:cNvPr id="8" name="TextBox 7"/>
          <p:cNvSpPr txBox="1"/>
          <p:nvPr/>
        </p:nvSpPr>
        <p:spPr>
          <a:xfrm>
            <a:off x="914400" y="1009497"/>
            <a:ext cx="10003536" cy="960120"/>
          </a:xfrm>
          <a:prstGeom prst="rect">
            <a:avLst/>
          </a:prstGeom>
          <a:noFill/>
          <a:effectLst/>
        </p:spPr>
        <p:txBody>
          <a:bodyPr wrap="square" anchor="t" lIns="0" rIns="0" tIns="0" bIns="0">
            <a:spAutoFit/>
          </a:bodyPr>
          <a:lstStyle/>
          <a:p>
            <a:pPr algn="l">
              <a:lnSpc>
                <a:spcPct val="104000"/>
              </a:lnSpc>
              <a:spcAft>
                <a:spcPts val="200"/>
              </a:spcAft>
            </a:pPr>
            <a:r>
              <a:rPr sz="2500" b="1">
                <a:solidFill>
                  <a:srgbClr val="071224"/>
                </a:solidFill>
                <a:latin typeface="Libre Franklin"/>
              </a:rPr>
              <a:t>I am asking for ownership, sponsorship and a seed, in order.</a:t>
            </a:r>
          </a:p>
        </p:txBody>
      </p:sp>
      <p:pic>
        <p:nvPicPr>
          <p:cNvPr id="9" name="Picture 8" descr="backbase_logo_black.png"/>
          <p:cNvPicPr>
            <a:picLocks noChangeAspect="1"/>
          </p:cNvPicPr>
          <p:nvPr/>
        </p:nvPicPr>
        <p:blipFill>
          <a:blip r:embed="rId2"/>
          <a:stretch>
            <a:fillRect/>
          </a:stretch>
        </p:blipFill>
        <p:spPr>
          <a:xfrm>
            <a:off x="10637215" y="6569964"/>
            <a:ext cx="975664" cy="158191"/>
          </a:xfrm>
          <a:prstGeom prst="rect">
            <a:avLst/>
          </a:prstGeom>
          <a:effectLst/>
        </p:spPr>
      </p:pic>
      <p:cxnSp>
        <p:nvCxnSpPr>
          <p:cNvPr id="10" name="Connector 9"/>
          <p:cNvCxnSpPr/>
          <p:nvPr/>
        </p:nvCxnSpPr>
        <p:spPr>
          <a:xfrm>
            <a:off x="11706148" y="6508699"/>
            <a:ext cx="0" cy="227685"/>
          </a:xfrm>
          <a:prstGeom prst="line">
            <a:avLst/>
          </a:prstGeom>
          <a:ln w="11430">
            <a:solidFill>
              <a:srgbClr val="9A9EA6"/>
            </a:solidFill>
          </a:ln>
          <a:effectLst/>
          <a:effectLst/>
        </p:spPr>
      </p:cxnSp>
      <p:sp>
        <p:nvSpPr>
          <p:cNvPr id="11" name="TextBox 10"/>
          <p:cNvSpPr txBox="1"/>
          <p:nvPr/>
        </p:nvSpPr>
        <p:spPr>
          <a:xfrm>
            <a:off x="11770156" y="6508699"/>
            <a:ext cx="384048" cy="227685"/>
          </a:xfrm>
          <a:prstGeom prst="rect">
            <a:avLst/>
          </a:prstGeom>
          <a:noFill/>
          <a:effectLst/>
        </p:spPr>
        <p:txBody>
          <a:bodyPr wrap="none" anchor="ctr" lIns="0" rIns="0" tIns="0" bIns="0">
            <a:spAutoFit/>
          </a:bodyPr>
          <a:lstStyle/>
          <a:p>
            <a:fld id="{B7A1C0DE-2026-4728-8000-000000000005}" type="slidenum">
              <a:rPr lang="en-US" sz="1275" b="1" dirty="0">
                <a:solidFill>
                  <a:srgbClr val="000000"/>
                </a:solidFill>
                <a:latin typeface="Libre Franklin"/>
              </a:rPr>
              <a:t>5</a:t>
            </a:fld>
          </a:p>
        </p:txBody>
      </p:sp>
      <p:sp>
        <p:nvSpPr>
          <p:cNvPr id="12" name="TextBox 11"/>
          <p:cNvSpPr txBox="1"/>
          <p:nvPr/>
        </p:nvSpPr>
        <p:spPr>
          <a:xfrm>
            <a:off x="914400" y="1783080"/>
            <a:ext cx="4572000" cy="219456"/>
          </a:xfrm>
          <a:prstGeom prst="rect">
            <a:avLst/>
          </a:prstGeom>
          <a:noFill/>
          <a:effectLst/>
        </p:spPr>
        <p:txBody>
          <a:bodyPr wrap="square" anchor="t" lIns="0" rIns="0" tIns="0" bIns="0">
            <a:spAutoFit/>
          </a:bodyPr>
          <a:lstStyle/>
          <a:p>
            <a:pPr algn="l">
              <a:lnSpc>
                <a:spcPct val="100000"/>
              </a:lnSpc>
              <a:spcAft>
                <a:spcPts val="200"/>
              </a:spcAft>
            </a:pPr>
            <a:r>
              <a:rPr sz="1000" b="1" spc="100">
                <a:solidFill>
                  <a:srgbClr val="6A717C"/>
                </a:solidFill>
                <a:latin typeface="Libre Franklin"/>
              </a:rPr>
              <a:t>THE MOVE I AM MAKING</a:t>
            </a:r>
          </a:p>
        </p:txBody>
      </p:sp>
      <p:sp>
        <p:nvSpPr>
          <p:cNvPr id="13" name="Rounded Rectangle 12"/>
          <p:cNvSpPr/>
          <p:nvPr/>
        </p:nvSpPr>
        <p:spPr>
          <a:xfrm>
            <a:off x="914400" y="2084831"/>
            <a:ext cx="2537460" cy="1106424"/>
          </a:xfrm>
          <a:prstGeom prst="roundRect">
            <a:avLst>
              <a:gd name="adj" fmla="val 8000"/>
            </a:avLst>
          </a:prstGeom>
          <a:solidFill>
            <a:srgbClr val="E6EBFE"/>
          </a:solidFill>
          <a:ln>
            <a:noFill/>
          </a:ln>
          <a:effectLst/>
        </p:spPr>
        <p:txBody>
          <a:bodyPr rtlCol="0" anchor="ctr"/>
          <a:lstStyle/>
          <a:p>
            <a:pPr algn="ctr"/>
          </a:p>
        </p:txBody>
      </p:sp>
      <p:sp>
        <p:nvSpPr>
          <p:cNvPr id="14" name="TextBox 13"/>
          <p:cNvSpPr txBox="1"/>
          <p:nvPr/>
        </p:nvSpPr>
        <p:spPr>
          <a:xfrm>
            <a:off x="1078992" y="2203703"/>
            <a:ext cx="2208276" cy="219456"/>
          </a:xfrm>
          <a:prstGeom prst="rect">
            <a:avLst/>
          </a:prstGeom>
          <a:noFill/>
          <a:effectLst/>
        </p:spPr>
        <p:txBody>
          <a:bodyPr wrap="square" anchor="t" lIns="0" rIns="0" tIns="0" bIns="0">
            <a:spAutoFit/>
          </a:bodyPr>
          <a:lstStyle/>
          <a:p>
            <a:pPr algn="l">
              <a:lnSpc>
                <a:spcPct val="100000"/>
              </a:lnSpc>
              <a:spcAft>
                <a:spcPts val="200"/>
              </a:spcAft>
            </a:pPr>
            <a:r>
              <a:rPr sz="1150" b="0">
                <a:solidFill>
                  <a:srgbClr val="6A717C"/>
                </a:solidFill>
                <a:latin typeface="Libre Franklin"/>
              </a:rPr>
              <a:t>senior consultant  →</a:t>
            </a:r>
          </a:p>
        </p:txBody>
      </p:sp>
      <p:sp>
        <p:nvSpPr>
          <p:cNvPr id="15" name="TextBox 14"/>
          <p:cNvSpPr txBox="1"/>
          <p:nvPr/>
        </p:nvSpPr>
        <p:spPr>
          <a:xfrm>
            <a:off x="1078992" y="2450591"/>
            <a:ext cx="2208276" cy="438912"/>
          </a:xfrm>
          <a:prstGeom prst="rect">
            <a:avLst/>
          </a:prstGeom>
          <a:noFill/>
          <a:effectLst/>
        </p:spPr>
        <p:txBody>
          <a:bodyPr wrap="square" anchor="t" lIns="0" rIns="0" tIns="0" bIns="0">
            <a:spAutoFit/>
          </a:bodyPr>
          <a:lstStyle/>
          <a:p>
            <a:pPr algn="l">
              <a:lnSpc>
                <a:spcPct val="100000"/>
              </a:lnSpc>
              <a:spcAft>
                <a:spcPts val="200"/>
              </a:spcAft>
            </a:pPr>
            <a:r>
              <a:rPr sz="3000" b="1">
                <a:solidFill>
                  <a:srgbClr val="1F3799"/>
                </a:solidFill>
                <a:latin typeface="Libre Franklin"/>
              </a:rPr>
              <a:t>Line P&amp;L</a:t>
            </a:r>
          </a:p>
        </p:txBody>
      </p:sp>
      <p:sp>
        <p:nvSpPr>
          <p:cNvPr id="16" name="TextBox 15"/>
          <p:cNvSpPr txBox="1"/>
          <p:nvPr/>
        </p:nvSpPr>
        <p:spPr>
          <a:xfrm>
            <a:off x="1078992" y="2862072"/>
            <a:ext cx="2208276" cy="310896"/>
          </a:xfrm>
          <a:prstGeom prst="rect">
            <a:avLst/>
          </a:prstGeom>
          <a:noFill/>
          <a:effectLst/>
        </p:spPr>
        <p:txBody>
          <a:bodyPr wrap="square" anchor="t" lIns="0" rIns="0" tIns="0" bIns="0">
            <a:spAutoFit/>
          </a:bodyPr>
          <a:lstStyle/>
          <a:p>
            <a:pPr algn="l">
              <a:lnSpc>
                <a:spcPct val="105000"/>
              </a:lnSpc>
              <a:spcAft>
                <a:spcPts val="200"/>
              </a:spcAft>
            </a:pPr>
            <a:r>
              <a:rPr sz="1000" b="0">
                <a:solidFill>
                  <a:srgbClr val="6A717C"/>
                </a:solidFill>
                <a:latin typeface="Libre Franklin"/>
              </a:rPr>
              <a:t>owner of the products + services line, with a real quota</a:t>
            </a:r>
          </a:p>
        </p:txBody>
      </p:sp>
      <p:sp>
        <p:nvSpPr>
          <p:cNvPr id="17" name="Rounded Rectangle 16"/>
          <p:cNvSpPr/>
          <p:nvPr/>
        </p:nvSpPr>
        <p:spPr>
          <a:xfrm>
            <a:off x="3634740" y="2084831"/>
            <a:ext cx="2537460" cy="1106424"/>
          </a:xfrm>
          <a:prstGeom prst="roundRect">
            <a:avLst>
              <a:gd name="adj" fmla="val 8000"/>
            </a:avLst>
          </a:prstGeom>
          <a:solidFill>
            <a:srgbClr val="E6EBFE"/>
          </a:solidFill>
          <a:ln>
            <a:noFill/>
          </a:ln>
          <a:effectLst/>
        </p:spPr>
        <p:txBody>
          <a:bodyPr rtlCol="0" anchor="ctr"/>
          <a:lstStyle/>
          <a:p>
            <a:pPr algn="ctr"/>
          </a:p>
        </p:txBody>
      </p:sp>
      <p:sp>
        <p:nvSpPr>
          <p:cNvPr id="18" name="TextBox 17"/>
          <p:cNvSpPr txBox="1"/>
          <p:nvPr/>
        </p:nvSpPr>
        <p:spPr>
          <a:xfrm>
            <a:off x="3799332" y="2203703"/>
            <a:ext cx="2208276" cy="219456"/>
          </a:xfrm>
          <a:prstGeom prst="rect">
            <a:avLst/>
          </a:prstGeom>
          <a:noFill/>
          <a:effectLst/>
        </p:spPr>
        <p:txBody>
          <a:bodyPr wrap="square" anchor="t" lIns="0" rIns="0" tIns="0" bIns="0">
            <a:spAutoFit/>
          </a:bodyPr>
          <a:lstStyle/>
          <a:p>
            <a:pPr algn="l">
              <a:lnSpc>
                <a:spcPct val="100000"/>
              </a:lnSpc>
              <a:spcAft>
                <a:spcPts val="200"/>
              </a:spcAft>
            </a:pPr>
            <a:r>
              <a:rPr sz="1150" b="0">
                <a:solidFill>
                  <a:srgbClr val="6A717C"/>
                </a:solidFill>
                <a:latin typeface="Libre Franklin"/>
              </a:rPr>
              <a:t>one pair of hands  →</a:t>
            </a:r>
          </a:p>
        </p:txBody>
      </p:sp>
      <p:sp>
        <p:nvSpPr>
          <p:cNvPr id="19" name="TextBox 18"/>
          <p:cNvSpPr txBox="1"/>
          <p:nvPr/>
        </p:nvSpPr>
        <p:spPr>
          <a:xfrm>
            <a:off x="3799332" y="2450591"/>
            <a:ext cx="2208276" cy="438912"/>
          </a:xfrm>
          <a:prstGeom prst="rect">
            <a:avLst/>
          </a:prstGeom>
          <a:noFill/>
          <a:effectLst/>
        </p:spPr>
        <p:txBody>
          <a:bodyPr wrap="square" anchor="t" lIns="0" rIns="0" tIns="0" bIns="0">
            <a:spAutoFit/>
          </a:bodyPr>
          <a:lstStyle/>
          <a:p>
            <a:pPr algn="l">
              <a:lnSpc>
                <a:spcPct val="100000"/>
              </a:lnSpc>
              <a:spcAft>
                <a:spcPts val="200"/>
              </a:spcAft>
            </a:pPr>
            <a:r>
              <a:rPr sz="3000" b="1">
                <a:solidFill>
                  <a:srgbClr val="1F3799"/>
                </a:solidFill>
                <a:latin typeface="Libre Franklin"/>
              </a:rPr>
              <a:t>Cortex</a:t>
            </a:r>
          </a:p>
        </p:txBody>
      </p:sp>
      <p:sp>
        <p:nvSpPr>
          <p:cNvPr id="20" name="TextBox 19"/>
          <p:cNvSpPr txBox="1"/>
          <p:nvPr/>
        </p:nvSpPr>
        <p:spPr>
          <a:xfrm>
            <a:off x="3799332" y="2862072"/>
            <a:ext cx="2208276" cy="310896"/>
          </a:xfrm>
          <a:prstGeom prst="rect">
            <a:avLst/>
          </a:prstGeom>
          <a:noFill/>
          <a:effectLst/>
        </p:spPr>
        <p:txBody>
          <a:bodyPr wrap="square" anchor="t" lIns="0" rIns="0" tIns="0" bIns="0">
            <a:spAutoFit/>
          </a:bodyPr>
          <a:lstStyle/>
          <a:p>
            <a:pPr algn="l">
              <a:lnSpc>
                <a:spcPct val="105000"/>
              </a:lnSpc>
              <a:spcAft>
                <a:spcPts val="200"/>
              </a:spcAft>
            </a:pPr>
            <a:r>
              <a:rPr sz="1000" b="0">
                <a:solidFill>
                  <a:srgbClr val="6A717C"/>
                </a:solidFill>
                <a:latin typeface="Libre Franklin"/>
              </a:rPr>
              <a:t>the team runs what I build: the AgenticOS, kits, methods</a:t>
            </a:r>
          </a:p>
        </p:txBody>
      </p:sp>
      <p:sp>
        <p:nvSpPr>
          <p:cNvPr id="21" name="Rounded Rectangle 20"/>
          <p:cNvSpPr/>
          <p:nvPr/>
        </p:nvSpPr>
        <p:spPr>
          <a:xfrm>
            <a:off x="6355080" y="2084831"/>
            <a:ext cx="2537460" cy="1106424"/>
          </a:xfrm>
          <a:prstGeom prst="roundRect">
            <a:avLst>
              <a:gd name="adj" fmla="val 8000"/>
            </a:avLst>
          </a:prstGeom>
          <a:solidFill>
            <a:srgbClr val="E6EBFE"/>
          </a:solidFill>
          <a:ln>
            <a:noFill/>
          </a:ln>
          <a:effectLst/>
        </p:spPr>
        <p:txBody>
          <a:bodyPr rtlCol="0" anchor="ctr"/>
          <a:lstStyle/>
          <a:p>
            <a:pPr algn="ctr"/>
          </a:p>
        </p:txBody>
      </p:sp>
      <p:sp>
        <p:nvSpPr>
          <p:cNvPr id="22" name="TextBox 21"/>
          <p:cNvSpPr txBox="1"/>
          <p:nvPr/>
        </p:nvSpPr>
        <p:spPr>
          <a:xfrm>
            <a:off x="6519672" y="2203703"/>
            <a:ext cx="2208276" cy="219456"/>
          </a:xfrm>
          <a:prstGeom prst="rect">
            <a:avLst/>
          </a:prstGeom>
          <a:noFill/>
          <a:effectLst/>
        </p:spPr>
        <p:txBody>
          <a:bodyPr wrap="square" anchor="t" lIns="0" rIns="0" tIns="0" bIns="0">
            <a:spAutoFit/>
          </a:bodyPr>
          <a:lstStyle/>
          <a:p>
            <a:pPr algn="l">
              <a:lnSpc>
                <a:spcPct val="100000"/>
              </a:lnSpc>
              <a:spcAft>
                <a:spcPts val="200"/>
              </a:spcAft>
            </a:pPr>
            <a:r>
              <a:rPr sz="1150" b="0">
                <a:solidFill>
                  <a:srgbClr val="6A717C"/>
                </a:solidFill>
                <a:latin typeface="Libre Franklin"/>
              </a:rPr>
              <a:t>deliverables  →</a:t>
            </a:r>
          </a:p>
        </p:txBody>
      </p:sp>
      <p:sp>
        <p:nvSpPr>
          <p:cNvPr id="23" name="TextBox 22"/>
          <p:cNvSpPr txBox="1"/>
          <p:nvPr/>
        </p:nvSpPr>
        <p:spPr>
          <a:xfrm>
            <a:off x="6519672" y="2450591"/>
            <a:ext cx="2208276" cy="438912"/>
          </a:xfrm>
          <a:prstGeom prst="rect">
            <a:avLst/>
          </a:prstGeom>
          <a:noFill/>
          <a:effectLst/>
        </p:spPr>
        <p:txBody>
          <a:bodyPr wrap="square" anchor="t" lIns="0" rIns="0" tIns="0" bIns="0">
            <a:spAutoFit/>
          </a:bodyPr>
          <a:lstStyle/>
          <a:p>
            <a:pPr algn="l">
              <a:lnSpc>
                <a:spcPct val="100000"/>
              </a:lnSpc>
              <a:spcAft>
                <a:spcPts val="200"/>
              </a:spcAft>
            </a:pPr>
            <a:r>
              <a:rPr sz="3000" b="1">
                <a:solidFill>
                  <a:srgbClr val="1F3799"/>
                </a:solidFill>
                <a:latin typeface="Libre Franklin"/>
              </a:rPr>
              <a:t>Installs</a:t>
            </a:r>
          </a:p>
        </p:txBody>
      </p:sp>
      <p:sp>
        <p:nvSpPr>
          <p:cNvPr id="24" name="TextBox 23"/>
          <p:cNvSpPr txBox="1"/>
          <p:nvPr/>
        </p:nvSpPr>
        <p:spPr>
          <a:xfrm>
            <a:off x="6519672" y="2862072"/>
            <a:ext cx="2208276" cy="310896"/>
          </a:xfrm>
          <a:prstGeom prst="rect">
            <a:avLst/>
          </a:prstGeom>
          <a:noFill/>
          <a:effectLst/>
        </p:spPr>
        <p:txBody>
          <a:bodyPr wrap="square" anchor="t" lIns="0" rIns="0" tIns="0" bIns="0">
            <a:spAutoFit/>
          </a:bodyPr>
          <a:lstStyle/>
          <a:p>
            <a:pPr algn="l">
              <a:lnSpc>
                <a:spcPct val="105000"/>
              </a:lnSpc>
              <a:spcAft>
                <a:spcPts val="200"/>
              </a:spcAft>
            </a:pPr>
            <a:r>
              <a:rPr sz="1000" b="0">
                <a:solidFill>
                  <a:srgbClr val="6A717C"/>
                </a:solidFill>
                <a:latin typeface="Libre Franklin"/>
              </a:rPr>
              <a:t>every engagement leaves Banking OS components behind</a:t>
            </a:r>
          </a:p>
        </p:txBody>
      </p:sp>
      <p:sp>
        <p:nvSpPr>
          <p:cNvPr id="25" name="Rounded Rectangle 24"/>
          <p:cNvSpPr/>
          <p:nvPr/>
        </p:nvSpPr>
        <p:spPr>
          <a:xfrm>
            <a:off x="9075420" y="2084831"/>
            <a:ext cx="2537460" cy="1106424"/>
          </a:xfrm>
          <a:prstGeom prst="roundRect">
            <a:avLst>
              <a:gd name="adj" fmla="val 8000"/>
            </a:avLst>
          </a:prstGeom>
          <a:solidFill>
            <a:srgbClr val="E6EBFE"/>
          </a:solidFill>
          <a:ln>
            <a:noFill/>
          </a:ln>
          <a:effectLst/>
        </p:spPr>
        <p:txBody>
          <a:bodyPr rtlCol="0" anchor="ctr"/>
          <a:lstStyle/>
          <a:p>
            <a:pPr algn="ctr"/>
          </a:p>
        </p:txBody>
      </p:sp>
      <p:sp>
        <p:nvSpPr>
          <p:cNvPr id="26" name="TextBox 25"/>
          <p:cNvSpPr txBox="1"/>
          <p:nvPr/>
        </p:nvSpPr>
        <p:spPr>
          <a:xfrm>
            <a:off x="9240012" y="2203703"/>
            <a:ext cx="2208276" cy="219456"/>
          </a:xfrm>
          <a:prstGeom prst="rect">
            <a:avLst/>
          </a:prstGeom>
          <a:noFill/>
          <a:effectLst/>
        </p:spPr>
        <p:txBody>
          <a:bodyPr wrap="square" anchor="t" lIns="0" rIns="0" tIns="0" bIns="0">
            <a:spAutoFit/>
          </a:bodyPr>
          <a:lstStyle/>
          <a:p>
            <a:pPr algn="l">
              <a:lnSpc>
                <a:spcPct val="100000"/>
              </a:lnSpc>
              <a:spcAft>
                <a:spcPts val="200"/>
              </a:spcAft>
            </a:pPr>
            <a:r>
              <a:rPr sz="1150" b="0">
                <a:solidFill>
                  <a:srgbClr val="6A717C"/>
                </a:solidFill>
                <a:latin typeface="Libre Franklin"/>
              </a:rPr>
              <a:t>€5,000 budget  →</a:t>
            </a:r>
          </a:p>
        </p:txBody>
      </p:sp>
      <p:sp>
        <p:nvSpPr>
          <p:cNvPr id="27" name="TextBox 26"/>
          <p:cNvSpPr txBox="1"/>
          <p:nvPr/>
        </p:nvSpPr>
        <p:spPr>
          <a:xfrm>
            <a:off x="9240012" y="2450591"/>
            <a:ext cx="2208276" cy="438912"/>
          </a:xfrm>
          <a:prstGeom prst="rect">
            <a:avLst/>
          </a:prstGeom>
          <a:noFill/>
          <a:effectLst/>
        </p:spPr>
        <p:txBody>
          <a:bodyPr wrap="square" anchor="t" lIns="0" rIns="0" tIns="0" bIns="0">
            <a:spAutoFit/>
          </a:bodyPr>
          <a:lstStyle/>
          <a:p>
            <a:pPr algn="l">
              <a:lnSpc>
                <a:spcPct val="100000"/>
              </a:lnSpc>
              <a:spcAft>
                <a:spcPts val="200"/>
              </a:spcAft>
            </a:pPr>
            <a:r>
              <a:rPr sz="3000" b="1">
                <a:solidFill>
                  <a:srgbClr val="1F3799"/>
                </a:solidFill>
                <a:latin typeface="Libre Franklin"/>
              </a:rPr>
              <a:t>Seed</a:t>
            </a:r>
          </a:p>
        </p:txBody>
      </p:sp>
      <p:sp>
        <p:nvSpPr>
          <p:cNvPr id="28" name="TextBox 27"/>
          <p:cNvSpPr txBox="1"/>
          <p:nvPr/>
        </p:nvSpPr>
        <p:spPr>
          <a:xfrm>
            <a:off x="9240012" y="2862072"/>
            <a:ext cx="2208276" cy="310896"/>
          </a:xfrm>
          <a:prstGeom prst="rect">
            <a:avLst/>
          </a:prstGeom>
          <a:noFill/>
          <a:effectLst/>
        </p:spPr>
        <p:txBody>
          <a:bodyPr wrap="square" anchor="t" lIns="0" rIns="0" tIns="0" bIns="0">
            <a:spAutoFit/>
          </a:bodyPr>
          <a:lstStyle/>
          <a:p>
            <a:pPr algn="l">
              <a:lnSpc>
                <a:spcPct val="105000"/>
              </a:lnSpc>
              <a:spcAft>
                <a:spcPts val="200"/>
              </a:spcAft>
            </a:pPr>
            <a:r>
              <a:rPr sz="1000" b="0">
                <a:solidFill>
                  <a:srgbClr val="6A717C"/>
                </a:solidFill>
                <a:latin typeface="Libre Franklin"/>
              </a:rPr>
              <a:t>product one packaged, demoed and launched with marketing</a:t>
            </a:r>
          </a:p>
        </p:txBody>
      </p:sp>
      <p:sp>
        <p:nvSpPr>
          <p:cNvPr id="29" name="Rounded Rectangle 28"/>
          <p:cNvSpPr/>
          <p:nvPr/>
        </p:nvSpPr>
        <p:spPr>
          <a:xfrm>
            <a:off x="914400" y="3474720"/>
            <a:ext cx="10705795" cy="566928"/>
          </a:xfrm>
          <a:prstGeom prst="roundRect">
            <a:avLst>
              <a:gd name="adj" fmla="val 8000"/>
            </a:avLst>
          </a:prstGeom>
          <a:solidFill>
            <a:srgbClr val="F5F6FA"/>
          </a:solidFill>
          <a:ln>
            <a:noFill/>
          </a:ln>
          <a:effectLst/>
        </p:spPr>
        <p:txBody>
          <a:bodyPr rtlCol="0" anchor="ctr"/>
          <a:lstStyle/>
          <a:p>
            <a:pPr algn="ctr"/>
          </a:p>
        </p:txBody>
      </p:sp>
      <p:sp>
        <p:nvSpPr>
          <p:cNvPr id="30" name="Rectangle 29"/>
          <p:cNvSpPr/>
          <p:nvPr/>
        </p:nvSpPr>
        <p:spPr>
          <a:xfrm>
            <a:off x="914400" y="3529584"/>
            <a:ext cx="41148" cy="457200"/>
          </a:xfrm>
          <a:prstGeom prst="rect">
            <a:avLst/>
          </a:prstGeom>
          <a:solidFill>
            <a:srgbClr val="4066F5"/>
          </a:solidFill>
          <a:ln>
            <a:noFill/>
          </a:ln>
          <a:effectLst/>
        </p:spPr>
        <p:txBody>
          <a:bodyPr rtlCol="0" anchor="ctr"/>
          <a:lstStyle/>
          <a:p>
            <a:pPr algn="ctr"/>
          </a:p>
        </p:txBody>
      </p:sp>
      <p:sp>
        <p:nvSpPr>
          <p:cNvPr id="31" name="TextBox 30"/>
          <p:cNvSpPr txBox="1"/>
          <p:nvPr/>
        </p:nvSpPr>
        <p:spPr>
          <a:xfrm>
            <a:off x="1133856" y="3538727"/>
            <a:ext cx="3520440" cy="457200"/>
          </a:xfrm>
          <a:prstGeom prst="rect">
            <a:avLst/>
          </a:prstGeom>
          <a:noFill/>
          <a:effectLst/>
        </p:spPr>
        <p:txBody>
          <a:bodyPr wrap="square" anchor="t" lIns="0" rIns="0" tIns="0" bIns="0">
            <a:spAutoFit/>
          </a:bodyPr>
          <a:lstStyle/>
          <a:p>
            <a:pPr algn="l">
              <a:lnSpc>
                <a:spcPct val="105000"/>
              </a:lnSpc>
              <a:spcAft>
                <a:spcPts val="200"/>
              </a:spcAft>
            </a:pPr>
            <a:r>
              <a:rPr sz="1050" b="1">
                <a:solidFill>
                  <a:srgbClr val="071224"/>
                </a:solidFill>
                <a:latin typeface="Libre Franklin"/>
              </a:rPr>
              <a:t>1 · A named path to owning the line</a:t>
            </a:r>
          </a:p>
        </p:txBody>
      </p:sp>
      <p:sp>
        <p:nvSpPr>
          <p:cNvPr id="32" name="TextBox 31"/>
          <p:cNvSpPr txBox="1"/>
          <p:nvPr/>
        </p:nvSpPr>
        <p:spPr>
          <a:xfrm>
            <a:off x="4800600" y="3566160"/>
            <a:ext cx="6675120" cy="420624"/>
          </a:xfrm>
          <a:prstGeom prst="rect">
            <a:avLst/>
          </a:prstGeom>
          <a:noFill/>
          <a:effectLst/>
        </p:spPr>
        <p:txBody>
          <a:bodyPr wrap="square" anchor="t" lIns="0" rIns="0" tIns="0" bIns="0">
            <a:spAutoFit/>
          </a:bodyPr>
          <a:lstStyle/>
          <a:p>
            <a:pPr algn="l">
              <a:lnSpc>
                <a:spcPct val="112000"/>
              </a:lnSpc>
              <a:spcAft>
                <a:spcPts val="200"/>
              </a:spcAft>
            </a:pPr>
            <a:r>
              <a:rPr sz="1000" b="0">
                <a:solidFill>
                  <a:srgbClr val="071224"/>
                </a:solidFill>
                <a:latin typeface="Libre Franklin"/>
              </a:rPr>
              <a:t>The leadership development I want is commercial ownership: the product + services P&amp;L, reviewed on revenue.</a:t>
            </a:r>
          </a:p>
        </p:txBody>
      </p:sp>
      <p:sp>
        <p:nvSpPr>
          <p:cNvPr id="33" name="Rounded Rectangle 32"/>
          <p:cNvSpPr/>
          <p:nvPr/>
        </p:nvSpPr>
        <p:spPr>
          <a:xfrm>
            <a:off x="914400" y="4133087"/>
            <a:ext cx="10705795" cy="566928"/>
          </a:xfrm>
          <a:prstGeom prst="roundRect">
            <a:avLst>
              <a:gd name="adj" fmla="val 8000"/>
            </a:avLst>
          </a:prstGeom>
          <a:solidFill>
            <a:srgbClr val="F5F6FA"/>
          </a:solidFill>
          <a:ln>
            <a:noFill/>
          </a:ln>
          <a:effectLst/>
        </p:spPr>
        <p:txBody>
          <a:bodyPr rtlCol="0" anchor="ctr"/>
          <a:lstStyle/>
          <a:p>
            <a:pPr algn="ctr"/>
          </a:p>
        </p:txBody>
      </p:sp>
      <p:sp>
        <p:nvSpPr>
          <p:cNvPr id="34" name="Rectangle 33"/>
          <p:cNvSpPr/>
          <p:nvPr/>
        </p:nvSpPr>
        <p:spPr>
          <a:xfrm>
            <a:off x="914400" y="4187951"/>
            <a:ext cx="41148" cy="457200"/>
          </a:xfrm>
          <a:prstGeom prst="rect">
            <a:avLst/>
          </a:prstGeom>
          <a:solidFill>
            <a:srgbClr val="4066F5"/>
          </a:solidFill>
          <a:ln>
            <a:noFill/>
          </a:ln>
          <a:effectLst/>
        </p:spPr>
        <p:txBody>
          <a:bodyPr rtlCol="0" anchor="ctr"/>
          <a:lstStyle/>
          <a:p>
            <a:pPr algn="ctr"/>
          </a:p>
        </p:txBody>
      </p:sp>
      <p:sp>
        <p:nvSpPr>
          <p:cNvPr id="35" name="TextBox 34"/>
          <p:cNvSpPr txBox="1"/>
          <p:nvPr/>
        </p:nvSpPr>
        <p:spPr>
          <a:xfrm>
            <a:off x="1133856" y="4197096"/>
            <a:ext cx="3520440" cy="457200"/>
          </a:xfrm>
          <a:prstGeom prst="rect">
            <a:avLst/>
          </a:prstGeom>
          <a:noFill/>
          <a:effectLst/>
        </p:spPr>
        <p:txBody>
          <a:bodyPr wrap="square" anchor="t" lIns="0" rIns="0" tIns="0" bIns="0">
            <a:spAutoFit/>
          </a:bodyPr>
          <a:lstStyle/>
          <a:p>
            <a:pPr algn="l">
              <a:lnSpc>
                <a:spcPct val="105000"/>
              </a:lnSpc>
              <a:spcAft>
                <a:spcPts val="200"/>
              </a:spcAft>
            </a:pPr>
            <a:r>
              <a:rPr sz="1050" b="1">
                <a:solidFill>
                  <a:srgbClr val="071224"/>
                </a:solidFill>
                <a:latin typeface="Libre Franklin"/>
              </a:rPr>
              <a:t>2 · ExCo-altitude sponsorship</a:t>
            </a:r>
          </a:p>
        </p:txBody>
      </p:sp>
      <p:sp>
        <p:nvSpPr>
          <p:cNvPr id="36" name="TextBox 35"/>
          <p:cNvSpPr txBox="1"/>
          <p:nvPr/>
        </p:nvSpPr>
        <p:spPr>
          <a:xfrm>
            <a:off x="4800600" y="4224527"/>
            <a:ext cx="6675120" cy="420624"/>
          </a:xfrm>
          <a:prstGeom prst="rect">
            <a:avLst/>
          </a:prstGeom>
          <a:noFill/>
          <a:effectLst/>
        </p:spPr>
        <p:txBody>
          <a:bodyPr wrap="square" anchor="t" lIns="0" rIns="0" tIns="0" bIns="0">
            <a:spAutoFit/>
          </a:bodyPr>
          <a:lstStyle/>
          <a:p>
            <a:pPr algn="l">
              <a:lnSpc>
                <a:spcPct val="112000"/>
              </a:lnSpc>
              <a:spcAft>
                <a:spcPts val="200"/>
              </a:spcAft>
            </a:pPr>
            <a:r>
              <a:rPr sz="1000" b="0">
                <a:solidFill>
                  <a:srgbClr val="071224"/>
                </a:solidFill>
                <a:latin typeface="Libre Franklin"/>
              </a:rPr>
              <a:t>CMO air cover on the category story and launch collateral; a door to the EAP nominations.</a:t>
            </a:r>
          </a:p>
        </p:txBody>
      </p:sp>
      <p:sp>
        <p:nvSpPr>
          <p:cNvPr id="37" name="Rounded Rectangle 36"/>
          <p:cNvSpPr/>
          <p:nvPr/>
        </p:nvSpPr>
        <p:spPr>
          <a:xfrm>
            <a:off x="914400" y="4791456"/>
            <a:ext cx="10705795" cy="566928"/>
          </a:xfrm>
          <a:prstGeom prst="roundRect">
            <a:avLst>
              <a:gd name="adj" fmla="val 8000"/>
            </a:avLst>
          </a:prstGeom>
          <a:solidFill>
            <a:srgbClr val="F5F6FA"/>
          </a:solidFill>
          <a:ln>
            <a:noFill/>
          </a:ln>
          <a:effectLst/>
        </p:spPr>
        <p:txBody>
          <a:bodyPr rtlCol="0" anchor="ctr"/>
          <a:lstStyle/>
          <a:p>
            <a:pPr algn="ctr"/>
          </a:p>
        </p:txBody>
      </p:sp>
      <p:sp>
        <p:nvSpPr>
          <p:cNvPr id="38" name="Rectangle 37"/>
          <p:cNvSpPr/>
          <p:nvPr/>
        </p:nvSpPr>
        <p:spPr>
          <a:xfrm>
            <a:off x="914400" y="4846320"/>
            <a:ext cx="41148" cy="457200"/>
          </a:xfrm>
          <a:prstGeom prst="rect">
            <a:avLst/>
          </a:prstGeom>
          <a:solidFill>
            <a:srgbClr val="4066F5"/>
          </a:solidFill>
          <a:ln>
            <a:noFill/>
          </a:ln>
          <a:effectLst/>
        </p:spPr>
        <p:txBody>
          <a:bodyPr rtlCol="0" anchor="ctr"/>
          <a:lstStyle/>
          <a:p>
            <a:pPr algn="ctr"/>
          </a:p>
        </p:txBody>
      </p:sp>
      <p:sp>
        <p:nvSpPr>
          <p:cNvPr id="39" name="TextBox 38"/>
          <p:cNvSpPr txBox="1"/>
          <p:nvPr/>
        </p:nvSpPr>
        <p:spPr>
          <a:xfrm>
            <a:off x="1133856" y="4855464"/>
            <a:ext cx="3520440" cy="457200"/>
          </a:xfrm>
          <a:prstGeom prst="rect">
            <a:avLst/>
          </a:prstGeom>
          <a:noFill/>
          <a:effectLst/>
        </p:spPr>
        <p:txBody>
          <a:bodyPr wrap="square" anchor="t" lIns="0" rIns="0" tIns="0" bIns="0">
            <a:spAutoFit/>
          </a:bodyPr>
          <a:lstStyle/>
          <a:p>
            <a:pPr algn="l">
              <a:lnSpc>
                <a:spcPct val="105000"/>
              </a:lnSpc>
              <a:spcAft>
                <a:spcPts val="200"/>
              </a:spcAft>
            </a:pPr>
            <a:r>
              <a:rPr sz="1050" b="1">
                <a:solidFill>
                  <a:srgbClr val="071224"/>
                </a:solidFill>
                <a:latin typeface="Libre Franklin"/>
              </a:rPr>
              <a:t>3 · The €5,000 as seed, not training</a:t>
            </a:r>
          </a:p>
        </p:txBody>
      </p:sp>
      <p:sp>
        <p:nvSpPr>
          <p:cNvPr id="40" name="TextBox 39"/>
          <p:cNvSpPr txBox="1"/>
          <p:nvPr/>
        </p:nvSpPr>
        <p:spPr>
          <a:xfrm>
            <a:off x="4800600" y="4882896"/>
            <a:ext cx="6675120" cy="420624"/>
          </a:xfrm>
          <a:prstGeom prst="rect">
            <a:avLst/>
          </a:prstGeom>
          <a:noFill/>
          <a:effectLst/>
        </p:spPr>
        <p:txBody>
          <a:bodyPr wrap="square" anchor="t" lIns="0" rIns="0" tIns="0" bIns="0">
            <a:spAutoFit/>
          </a:bodyPr>
          <a:lstStyle/>
          <a:p>
            <a:pPr algn="l">
              <a:lnSpc>
                <a:spcPct val="112000"/>
              </a:lnSpc>
              <a:spcAft>
                <a:spcPts val="200"/>
              </a:spcAft>
            </a:pPr>
            <a:r>
              <a:rPr sz="1000" b="0">
                <a:solidFill>
                  <a:srgbClr val="071224"/>
                </a:solidFill>
                <a:latin typeface="Libre Franklin"/>
              </a:rPr>
              <a:t>It funds the Process X-Ray launch kit; the course it replaces would have taught me less than January will.</a:t>
            </a:r>
          </a:p>
        </p:txBody>
      </p:sp>
      <p:sp>
        <p:nvSpPr>
          <p:cNvPr id="41" name="Rounded Rectangle 40"/>
          <p:cNvSpPr/>
          <p:nvPr/>
        </p:nvSpPr>
        <p:spPr>
          <a:xfrm>
            <a:off x="914400" y="5504688"/>
            <a:ext cx="10705795" cy="437997"/>
          </a:xfrm>
          <a:prstGeom prst="roundRect">
            <a:avLst>
              <a:gd name="adj" fmla="val 8000"/>
            </a:avLst>
          </a:prstGeom>
          <a:solidFill>
            <a:srgbClr val="071224"/>
          </a:solidFill>
          <a:ln>
            <a:noFill/>
          </a:ln>
          <a:effectLst/>
        </p:spPr>
        <p:txBody>
          <a:bodyPr rtlCol="0" anchor="ctr"/>
          <a:lstStyle/>
          <a:p>
            <a:pPr algn="ctr"/>
          </a:p>
        </p:txBody>
      </p:sp>
      <p:sp>
        <p:nvSpPr>
          <p:cNvPr id="42" name="TextBox 41"/>
          <p:cNvSpPr txBox="1"/>
          <p:nvPr/>
        </p:nvSpPr>
        <p:spPr>
          <a:xfrm>
            <a:off x="1143000" y="5618988"/>
            <a:ext cx="10248595" cy="256032"/>
          </a:xfrm>
          <a:prstGeom prst="rect">
            <a:avLst/>
          </a:prstGeom>
          <a:noFill/>
          <a:effectLst/>
        </p:spPr>
        <p:txBody>
          <a:bodyPr wrap="square" anchor="t" lIns="0" rIns="0" tIns="0" bIns="0">
            <a:spAutoFit/>
          </a:bodyPr>
          <a:lstStyle/>
          <a:p>
            <a:pPr algn="l">
              <a:lnSpc>
                <a:spcPct val="100000"/>
              </a:lnSpc>
              <a:spcAft>
                <a:spcPts val="200"/>
              </a:spcAft>
            </a:pPr>
            <a:r>
              <a:rPr sz="1350" b="1">
                <a:solidFill>
                  <a:srgbClr val="93FBFE"/>
                </a:solidFill>
                <a:latin typeface="Libre Franklin"/>
              </a:rPr>
              <a:t>Judge me on January: </a:t>
            </a:r>
            <a:r>
              <a:rPr sz="1350" b="0">
                <a:solidFill>
                  <a:srgbClr val="FFFFFF"/>
                </a:solidFill>
                <a:latin typeface="Libre Franklin"/>
              </a:rPr>
              <a:t>one product in market, sold exactly the way the playbook says.</a:t>
            </a:r>
          </a:p>
        </p:txBody>
      </p:sp>
      <p:cxnSp>
        <p:nvCxnSpPr>
          <p:cNvPr id="43" name="Connector 42"/>
          <p:cNvCxnSpPr/>
          <p:nvPr/>
        </p:nvCxnSpPr>
        <p:spPr>
          <a:xfrm>
            <a:off x="914400" y="6044183"/>
            <a:ext cx="10705795" cy="0"/>
          </a:xfrm>
          <a:prstGeom prst="line">
            <a:avLst/>
          </a:prstGeom>
          <a:ln w="9525">
            <a:solidFill>
              <a:srgbClr val="D2D4D8"/>
            </a:solidFill>
          </a:ln>
          <a:effectLst/>
          <a:effectLst/>
        </p:spPr>
      </p:cxnSp>
      <p:sp>
        <p:nvSpPr>
          <p:cNvPr id="44" name="TextBox 43"/>
          <p:cNvSpPr txBox="1"/>
          <p:nvPr/>
        </p:nvSpPr>
        <p:spPr>
          <a:xfrm>
            <a:off x="914400" y="6117336"/>
            <a:ext cx="10705795" cy="365760"/>
          </a:xfrm>
          <a:prstGeom prst="rect">
            <a:avLst/>
          </a:prstGeom>
          <a:noFill/>
          <a:effectLst/>
        </p:spPr>
        <p:txBody>
          <a:bodyPr wrap="square" anchor="t" lIns="0" rIns="0" tIns="0" bIns="0">
            <a:spAutoFit/>
          </a:bodyPr>
          <a:lstStyle/>
          <a:p>
            <a:pPr algn="l">
              <a:lnSpc>
                <a:spcPct val="115000"/>
              </a:lnSpc>
              <a:spcAft>
                <a:spcPts val="200"/>
              </a:spcAft>
            </a:pPr>
            <a:r>
              <a:rPr sz="950" b="0">
                <a:solidFill>
                  <a:srgbClr val="8F949C"/>
                </a:solidFill>
                <a:latin typeface="Libre Franklin"/>
              </a:rPr>
              <a:t>The measurable commitments behind this sit in the playbook: proof-year targets, gates and the honest capacity math (chapters 05-06).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