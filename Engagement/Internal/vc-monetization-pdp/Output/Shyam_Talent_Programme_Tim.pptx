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HOUR: 15 min this deck, 10 min the playbook short version, 35 min working the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STRATEGY HOUSE. Roof = ambition, pillars = the two engines, beam = the commercial ladder, foundation = the machine. Right rail = the three numbers that define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CONVERGENCE. Three arrows, one join. If Tim pushes on any single arrow, the other two still carry the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ARSENAL. Three big numbers, each defensible: 65 (apa_v3.json), 24h (pursuit-loop-method.md), 10 (engagement + tests folders).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AMMUNITION BELT. Five chevrons pointing at one target. The propellant row answers “why would they buy it” in three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LEVERAGE STACK. Bottom layer = given (six tiles). Top layer = my four additions. The arrows carry the whole argument: thin layer on a deep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SKILLS LADDER. Five rows, today-dot vs target-dot. Row three (category building) is the explicit Tim ask: mentorship where his team is world-class.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FLYWHEEL. Walk it once clockwise, then point right: the wheel is the mechanism, the rail is the money. DEFENSE: year figures are the playbook’s capacity-checked numbers, not aspirations.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PROGRAMME FIT. Every phrase on the left is the programme’s own vocabulary; the initiative operationalises all five themes at once. DEFENSE: this is not a side project competing with the programme; it is the programme’s prescribed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CLOCK. H1 is spent on formation (theirs); H2 is the delivery runway (mine). The coral diamond is the one decision that gates the runway: the pilot green-light in October.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STAKEHOLDER MAP. Nobody in this room is asked for the same thing: Tim gets a launch, Mayur gets economics, Jeroen gets services revenue, Deepak gets a better model, the programme gets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RECOMMENDATION. If the hour compresses, this one slide is the meeting: outcome first, review last, the three actions in the middle are the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OBJECTIONS. Note the pattern in every answer: agree the concern is real, show the control that manages it, never argue the concern away. The attach-rate kill-switch in answer one is deliberate: it shows I will stop it myself if the data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OF THE HOUR. Ownership is the development goal, sponsorship is Tim’s currency, the seed is the smallest yes. The programme asked for a Strategic Initiative; the ask ladder is how it gets started.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0" y="-2011680"/>
            <a:ext cx="8686800" cy="4754880"/>
          </a:xfrm>
          <a:prstGeom prst="rect">
            <a:avLst/>
          </a:prstGeom>
          <a:solidFill>
            <a:srgbClr val="142A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-1280160"/>
            <a:ext cx="5669280" cy="2926080"/>
          </a:xfrm>
          <a:prstGeom prst="rect">
            <a:avLst/>
          </a:prstGeom>
          <a:solidFill>
            <a:srgbClr val="1B38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93FBFE"/>
                </a:solidFill>
                <a:latin typeface="Libre Franklin"/>
              </a:rPr>
              <a:t>TALENT PROGRAMME · SHYAM × TIM RUTTEN · ONE HOUR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424160" cy="1737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400" b="0">
                <a:solidFill>
                  <a:srgbClr val="FFFFFF"/>
                </a:solidFill>
                <a:latin typeface="Libre Franklin"/>
              </a:rPr>
              <a:t>The operator behind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Libre Franklin"/>
              </a:rPr>
              <a:t>the playbook.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859536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>
                <a:solidFill>
                  <a:srgbClr val="C1C4C8"/>
                </a:solidFill>
                <a:latin typeface="Libre Franklin"/>
              </a:rPr>
              <a:t>Seven questions, one exhibit each: the strategy, the why, the arsenal, the ammunition, what I leverage, what I build, and how it all feeds revenue.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82296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6A717C"/>
                </a:solidFill>
                <a:latin typeface="Libre Franklin"/>
              </a:rPr>
              <a:t>Shyam · July 2026 · companion to the Product Factory execution playbook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46520"/>
            <a:ext cx="96926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Backbase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Q1 · WHAT IS THE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strategy: turn value consulting into a product-led P&amp;L.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2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6812280" cy="603504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1874519"/>
            <a:ext cx="6355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93FBFE"/>
                </a:solidFill>
                <a:latin typeface="Libre Franklin"/>
              </a:rPr>
              <a:t>AMBITION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057400"/>
            <a:ext cx="63550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Libre Franklin"/>
              </a:rPr>
              <a:t>The VC function becomes a revenue line that pre-installs Banking 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2496312"/>
            <a:ext cx="3346704" cy="175564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15184"/>
            <a:ext cx="30175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ENGINE A · PRODUCTS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834640"/>
            <a:ext cx="3017520" cy="12801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Four paid diagnostic SKUs, €15-100K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Each installs a layer: Missions, Nexus, Sentinel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Fees credit forward into the POC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9976" y="2496312"/>
            <a:ext cx="3346704" cy="175564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2856" y="2615184"/>
            <a:ext cx="30175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ENGINE B · SERVICES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2834640"/>
            <a:ext cx="3017520" cy="12801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AI-native operating model + org design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Sold downstream, on Engine A evidence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Opens the CEO and CHRO door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361688"/>
            <a:ext cx="6812280" cy="402336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443984"/>
            <a:ext cx="635508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THE WEDGE LADDER · free Inspire  →  €60K wedge  →  €60K Mission POC  →  recurring assurance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873752"/>
            <a:ext cx="6812280" cy="40233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956048"/>
            <a:ext cx="635508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6A717C"/>
                </a:solidFill>
                <a:latin typeface="Libre Franklin"/>
              </a:rPr>
              <a:t>FOUNDATIONS · the Cortex machine · evidence discipline · the locked design language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1810512"/>
            <a:ext cx="35204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WHAT SUCCESS LOOKS LIKE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2084831"/>
            <a:ext cx="3520440" cy="969264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2176272"/>
            <a:ext cx="32004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YEAR 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359151"/>
            <a:ext cx="32004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>
                <a:solidFill>
                  <a:srgbClr val="1F3799"/>
                </a:solidFill>
                <a:latin typeface="Libre Franklin"/>
              </a:rPr>
              <a:t>3-4 installs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706624"/>
            <a:ext cx="3200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the proof year, €0.4-0.5M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182111"/>
            <a:ext cx="3520440" cy="969264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5320" y="3273551"/>
            <a:ext cx="32004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YEAR TWO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3456431"/>
            <a:ext cx="32004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>
                <a:solidFill>
                  <a:srgbClr val="1F3799"/>
                </a:solidFill>
                <a:latin typeface="Libre Franklin"/>
              </a:rPr>
              <a:t>10 a year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803903"/>
            <a:ext cx="3200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the cost-neutral rate, ~€1.2M covered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4279392"/>
            <a:ext cx="3520440" cy="969264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4370831"/>
            <a:ext cx="32004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THEN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4553712"/>
            <a:ext cx="32004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>
                <a:solidFill>
                  <a:srgbClr val="1F3799"/>
                </a:solidFill>
                <a:latin typeface="Libre Franklin"/>
              </a:rPr>
              <a:t>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4901183"/>
            <a:ext cx="3200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€30-50K per account per year + gain share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9" name="TextBox 3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The full execution behind each element is the 57-slide playbook; this house is its one-page compression.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Q2 · WHY ARE WE DOING THIS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Why: three currents converge on this move, right now.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3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</a:t>
            </a:fld>
          </a:p>
        </p:txBody>
      </p:sp>
      <p:sp>
        <p:nvSpPr>
          <p:cNvPr id="12" name="Pentagon 11"/>
          <p:cNvSpPr/>
          <p:nvPr/>
        </p:nvSpPr>
        <p:spPr>
          <a:xfrm>
            <a:off x="914400" y="1874519"/>
            <a:ext cx="5989320" cy="1024128"/>
          </a:xfrm>
          <a:prstGeom prst="homePlate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020824"/>
            <a:ext cx="146304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F3799"/>
                </a:solidFill>
                <a:latin typeface="Libre Franklin"/>
              </a:rPr>
              <a:t>THE MARKET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002536"/>
            <a:ext cx="379476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The decade shifts from channels to operating models; whoever measures outcomes owns the renewal.</a:t>
            </a:r>
          </a:p>
        </p:txBody>
      </p:sp>
      <p:sp>
        <p:nvSpPr>
          <p:cNvPr id="15" name="Pentagon 14"/>
          <p:cNvSpPr/>
          <p:nvPr/>
        </p:nvSpPr>
        <p:spPr>
          <a:xfrm>
            <a:off x="914400" y="3081528"/>
            <a:ext cx="5989320" cy="1024128"/>
          </a:xfrm>
          <a:prstGeom prst="homePlate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227832"/>
            <a:ext cx="146304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F3799"/>
                </a:solidFill>
                <a:latin typeface="Libre Franklin"/>
              </a:rPr>
              <a:t>THE FUNCTION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3209544"/>
            <a:ext cx="379476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Value consulting must earn its keep: cost-neutral makes it protected, revenue makes it grow.</a:t>
            </a:r>
          </a:p>
        </p:txBody>
      </p:sp>
      <p:sp>
        <p:nvSpPr>
          <p:cNvPr id="18" name="Pentagon 17"/>
          <p:cNvSpPr/>
          <p:nvPr/>
        </p:nvSpPr>
        <p:spPr>
          <a:xfrm>
            <a:off x="914400" y="4288536"/>
            <a:ext cx="5989320" cy="1024128"/>
          </a:xfrm>
          <a:prstGeom prst="homePlate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4434840"/>
            <a:ext cx="146304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F3799"/>
                </a:solidFill>
                <a:latin typeface="Libre Franklin"/>
              </a:rPr>
              <a:t>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4416551"/>
            <a:ext cx="379476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I am ready for commercial ownership, and the systems I build already scale beyond my own hands.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06640" y="1874519"/>
            <a:ext cx="4224528" cy="3621024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0" y="2103120"/>
            <a:ext cx="36576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93FBFE"/>
                </a:solidFill>
                <a:latin typeface="Libre Franklin"/>
              </a:rPr>
              <a:t>THE JOIN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395728"/>
            <a:ext cx="3703320" cy="62179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50" b="1">
                <a:solidFill>
                  <a:srgbClr val="FFFFFF"/>
                </a:solidFill>
                <a:latin typeface="Libre Franklin"/>
              </a:rPr>
              <a:t>A product-led value line serves all three at once.</a:t>
            </a:r>
          </a:p>
        </p:txBody>
      </p:sp>
      <p:sp>
        <p:nvSpPr>
          <p:cNvPr id="24" name="Oval 23"/>
          <p:cNvSpPr/>
          <p:nvPr/>
        </p:nvSpPr>
        <p:spPr>
          <a:xfrm>
            <a:off x="7699248" y="3264408"/>
            <a:ext cx="109728" cy="109728"/>
          </a:xfrm>
          <a:prstGeom prst="ellipse">
            <a:avLst/>
          </a:pr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0416" y="3200400"/>
            <a:ext cx="35661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93FBFE"/>
                </a:solidFill>
                <a:latin typeface="Libre Franklin"/>
              </a:rPr>
              <a:t>BACKBASE 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0416" y="3392424"/>
            <a:ext cx="361188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C1C4C8"/>
                </a:solidFill>
                <a:latin typeface="Libre Franklin"/>
              </a:rPr>
              <a:t>pipeline that arrives pre-installed and pre-evidenced</a:t>
            </a:r>
          </a:p>
        </p:txBody>
      </p:sp>
      <p:sp>
        <p:nvSpPr>
          <p:cNvPr id="27" name="Oval 26"/>
          <p:cNvSpPr/>
          <p:nvPr/>
        </p:nvSpPr>
        <p:spPr>
          <a:xfrm>
            <a:off x="7699248" y="3941063"/>
            <a:ext cx="109728" cy="109728"/>
          </a:xfrm>
          <a:prstGeom prst="ellipse">
            <a:avLst/>
          </a:pr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0416" y="3877056"/>
            <a:ext cx="35661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93FBFE"/>
                </a:solidFill>
                <a:latin typeface="Libre Franklin"/>
              </a:rPr>
              <a:t>THE TEAM GETS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0416" y="4069080"/>
            <a:ext cx="361188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C1C4C8"/>
                </a:solidFill>
                <a:latin typeface="Libre Franklin"/>
              </a:rPr>
              <a:t>growth funded by revenue it generates itself</a:t>
            </a:r>
          </a:p>
        </p:txBody>
      </p:sp>
      <p:sp>
        <p:nvSpPr>
          <p:cNvPr id="30" name="Oval 29"/>
          <p:cNvSpPr/>
          <p:nvPr/>
        </p:nvSpPr>
        <p:spPr>
          <a:xfrm>
            <a:off x="7699248" y="4617719"/>
            <a:ext cx="109728" cy="109728"/>
          </a:xfrm>
          <a:prstGeom prst="ellipse">
            <a:avLst/>
          </a:pr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0416" y="4553712"/>
            <a:ext cx="35661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93FBFE"/>
                </a:solidFill>
                <a:latin typeface="Libre Franklin"/>
              </a:rPr>
              <a:t>I GET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0416" y="4745736"/>
            <a:ext cx="361188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C1C4C8"/>
                </a:solidFill>
                <a:latin typeface="Libre Franklin"/>
              </a:rPr>
              <a:t>the leadership step: a line to own and be measured 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4" name="TextBox 33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The market thesis is the Banking OS canon; the function thesis is the PDP north star; the third is the talent-programme conversation itself.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Q3 · WHAT DO WE HAVE AT OUR DISPOSAL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At my disposal: evidence, a machine, and a shipped record.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4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4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3447288" cy="35204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1837943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231136"/>
            <a:ext cx="310896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>
                <a:solidFill>
                  <a:srgbClr val="1F3799"/>
                </a:solidFill>
                <a:latin typeface="Libre Franklin"/>
              </a:rPr>
              <a:t>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871216"/>
            <a:ext cx="31089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processes in the APA V3 catalog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355848"/>
            <a:ext cx="82296" cy="8229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3255264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283 steps, six layers deep, canon-labelled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3831336"/>
            <a:ext cx="82296" cy="8229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98448" y="3730752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The conversational cost model (with Mayur + Deepak)</a:t>
            </a:r>
          </a:p>
        </p:txBody>
      </p:sp>
      <p:sp>
        <p:nvSpPr>
          <p:cNvPr id="21" name="Oval 20"/>
          <p:cNvSpPr/>
          <p:nvPr/>
        </p:nvSpPr>
        <p:spPr>
          <a:xfrm>
            <a:off x="1115568" y="4306824"/>
            <a:ext cx="82296" cy="8229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98448" y="4206240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The autonomy framework: the value-side twin</a:t>
            </a:r>
          </a:p>
        </p:txBody>
      </p:sp>
      <p:sp>
        <p:nvSpPr>
          <p:cNvPr id="23" name="Oval 22"/>
          <p:cNvSpPr/>
          <p:nvPr/>
        </p:nvSpPr>
        <p:spPr>
          <a:xfrm>
            <a:off x="1115568" y="4782312"/>
            <a:ext cx="82296" cy="8229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98448" y="4681728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Benchmarks + ROI models from the validation cohort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44568" y="1783080"/>
            <a:ext cx="3447288" cy="35204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44568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90872" y="1837943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THE MACHINE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27448" y="2231136"/>
            <a:ext cx="310896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>
                <a:solidFill>
                  <a:srgbClr val="1F3799"/>
                </a:solidFill>
                <a:latin typeface="Libre Franklin"/>
              </a:rPr>
              <a:t>24h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27448" y="2871216"/>
            <a:ext cx="31089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per turn of the Pursuit Loop</a:t>
            </a:r>
          </a:p>
        </p:txBody>
      </p:sp>
      <p:sp>
        <p:nvSpPr>
          <p:cNvPr id="30" name="Oval 29"/>
          <p:cNvSpPr/>
          <p:nvPr/>
        </p:nvSpPr>
        <p:spPr>
          <a:xfrm>
            <a:off x="4745736" y="3355848"/>
            <a:ext cx="82296" cy="82296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28616" y="3255264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Cortex: the VC AgenticOS, launched and governed</a:t>
            </a:r>
          </a:p>
        </p:txBody>
      </p:sp>
      <p:sp>
        <p:nvSpPr>
          <p:cNvPr id="32" name="Oval 31"/>
          <p:cNvSpPr/>
          <p:nvPr/>
        </p:nvSpPr>
        <p:spPr>
          <a:xfrm>
            <a:off x="4745736" y="3831336"/>
            <a:ext cx="82296" cy="82296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28616" y="3730752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The Flywheel: telemetry that ships its own fixes</a:t>
            </a:r>
          </a:p>
        </p:txBody>
      </p:sp>
      <p:sp>
        <p:nvSpPr>
          <p:cNvPr id="34" name="Oval 33"/>
          <p:cNvSpPr/>
          <p:nvPr/>
        </p:nvSpPr>
        <p:spPr>
          <a:xfrm>
            <a:off x="4745736" y="4306824"/>
            <a:ext cx="82296" cy="82296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28616" y="4206240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The locked exhibit engine, ratified team default</a:t>
            </a:r>
          </a:p>
        </p:txBody>
      </p:sp>
      <p:sp>
        <p:nvSpPr>
          <p:cNvPr id="36" name="Oval 35"/>
          <p:cNvSpPr/>
          <p:nvPr/>
        </p:nvSpPr>
        <p:spPr>
          <a:xfrm>
            <a:off x="4745736" y="4782312"/>
            <a:ext cx="82296" cy="82296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28616" y="4681728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Publish-without-git, so consultants never stall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74736" y="1783080"/>
            <a:ext cx="3447288" cy="35204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174736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1837943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THE RECORD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57616" y="2231136"/>
            <a:ext cx="310896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>
                <a:solidFill>
                  <a:srgbClr val="1F3799"/>
                </a:solidFill>
                <a:latin typeface="Libre Franklin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57616" y="2871216"/>
            <a:ext cx="31089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accounts shaped or validated</a:t>
            </a:r>
          </a:p>
        </p:txBody>
      </p:sp>
      <p:sp>
        <p:nvSpPr>
          <p:cNvPr id="43" name="Oval 42"/>
          <p:cNvSpPr/>
          <p:nvPr/>
        </p:nvSpPr>
        <p:spPr>
          <a:xfrm>
            <a:off x="8375904" y="3355848"/>
            <a:ext cx="82296" cy="82296"/>
          </a:xfrm>
          <a:prstGeom prst="ellipse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58784" y="3255264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SNB Capital · BACB · ABSA ×5 workstreams</a:t>
            </a:r>
          </a:p>
        </p:txBody>
      </p:sp>
      <p:sp>
        <p:nvSpPr>
          <p:cNvPr id="45" name="Oval 44"/>
          <p:cNvSpPr/>
          <p:nvPr/>
        </p:nvSpPr>
        <p:spPr>
          <a:xfrm>
            <a:off x="8375904" y="3831336"/>
            <a:ext cx="82296" cy="82296"/>
          </a:xfrm>
          <a:prstGeom prst="ellipse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58784" y="3730752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HSBC · Schroders · SEB · NFIS</a:t>
            </a:r>
          </a:p>
        </p:txBody>
      </p:sp>
      <p:sp>
        <p:nvSpPr>
          <p:cNvPr id="47" name="Oval 46"/>
          <p:cNvSpPr/>
          <p:nvPr/>
        </p:nvSpPr>
        <p:spPr>
          <a:xfrm>
            <a:off x="8375904" y="4306824"/>
            <a:ext cx="82296" cy="82296"/>
          </a:xfrm>
          <a:prstGeom prst="ellipse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58784" y="4206240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BECU, WSFS, MyState pipeline validations</a:t>
            </a:r>
          </a:p>
        </p:txBody>
      </p:sp>
      <p:sp>
        <p:nvSpPr>
          <p:cNvPr id="49" name="Oval 48"/>
          <p:cNvSpPr/>
          <p:nvPr/>
        </p:nvSpPr>
        <p:spPr>
          <a:xfrm>
            <a:off x="8375904" y="4782312"/>
            <a:ext cx="82296" cy="82296"/>
          </a:xfrm>
          <a:prstGeom prst="ellipse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58784" y="4681728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Nordic FinTech Forum 2026: the public POV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2" name="TextBox 51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Counts are auditable in the Cortex repository: the APA catalog, the pursuit-loop method file, engagement and validation outputs.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Q4 · WHAT AMMUNITION DO WE FIRE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ammunition: five loaded offers and eight EAP slots.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5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5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914400" y="1783080"/>
            <a:ext cx="5486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THE FIVE ROUNDS · SHADE = FEASIBILITY TODAY</a:t>
            </a:r>
          </a:p>
        </p:txBody>
      </p:sp>
      <p:sp>
        <p:nvSpPr>
          <p:cNvPr id="13" name="Chevron 12"/>
          <p:cNvSpPr/>
          <p:nvPr/>
        </p:nvSpPr>
        <p:spPr>
          <a:xfrm>
            <a:off x="914400" y="2057400"/>
            <a:ext cx="2194560" cy="841248"/>
          </a:xfrm>
          <a:prstGeom prst="chevron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176272"/>
            <a:ext cx="16459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Process X-Ray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395728"/>
            <a:ext cx="16002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€50-75K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017520"/>
            <a:ext cx="1956816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Prices the leakage; lands the Mission backlog</a:t>
            </a:r>
          </a:p>
        </p:txBody>
      </p:sp>
      <p:sp>
        <p:nvSpPr>
          <p:cNvPr id="17" name="Chevron 16"/>
          <p:cNvSpPr/>
          <p:nvPr/>
        </p:nvSpPr>
        <p:spPr>
          <a:xfrm>
            <a:off x="2962656" y="2057400"/>
            <a:ext cx="2194560" cy="841248"/>
          </a:xfrm>
          <a:prstGeom prst="chevron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38144" y="2176272"/>
            <a:ext cx="16459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Value Telemetry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38144" y="2395728"/>
            <a:ext cx="16002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€15-50K+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017520"/>
            <a:ext cx="1956816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Cost per outcome; opens the recurring line</a:t>
            </a:r>
          </a:p>
        </p:txBody>
      </p:sp>
      <p:sp>
        <p:nvSpPr>
          <p:cNvPr id="21" name="Chevron 20"/>
          <p:cNvSpPr/>
          <p:nvPr/>
        </p:nvSpPr>
        <p:spPr>
          <a:xfrm>
            <a:off x="5010912" y="2057400"/>
            <a:ext cx="2194560" cy="841248"/>
          </a:xfrm>
          <a:prstGeom prst="chevron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2176272"/>
            <a:ext cx="16459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Guardrail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2395728"/>
            <a:ext cx="16002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€50-100K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5776" y="3017520"/>
            <a:ext cx="1956816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Policy into rules; loads Sentinel</a:t>
            </a:r>
          </a:p>
        </p:txBody>
      </p:sp>
      <p:sp>
        <p:nvSpPr>
          <p:cNvPr id="25" name="Chevron 24"/>
          <p:cNvSpPr/>
          <p:nvPr/>
        </p:nvSpPr>
        <p:spPr>
          <a:xfrm>
            <a:off x="7059168" y="2057400"/>
            <a:ext cx="2194560" cy="841248"/>
          </a:xfrm>
          <a:prstGeom prst="chevron">
            <a:avLst/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34656" y="2176272"/>
            <a:ext cx="16459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Cartographer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34656" y="2395728"/>
            <a:ext cx="16002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€75-100K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4032" y="3017520"/>
            <a:ext cx="1956816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Data into truth; scopes Nexus</a:t>
            </a:r>
          </a:p>
        </p:txBody>
      </p:sp>
      <p:sp>
        <p:nvSpPr>
          <p:cNvPr id="29" name="Chevron 28"/>
          <p:cNvSpPr/>
          <p:nvPr/>
        </p:nvSpPr>
        <p:spPr>
          <a:xfrm>
            <a:off x="9107424" y="2057400"/>
            <a:ext cx="2194560" cy="841248"/>
          </a:xfrm>
          <a:prstGeom prst="chevron">
            <a:avLst/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82912" y="2176272"/>
            <a:ext cx="16459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Org Design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82912" y="2395728"/>
            <a:ext cx="16002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€80-150K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3017520"/>
            <a:ext cx="1956816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The inverted-T org; the CHRO door</a:t>
            </a:r>
          </a:p>
        </p:txBody>
      </p:sp>
      <p:sp>
        <p:nvSpPr>
          <p:cNvPr id="33" name="Oval 32"/>
          <p:cNvSpPr/>
          <p:nvPr/>
        </p:nvSpPr>
        <p:spPr>
          <a:xfrm>
            <a:off x="10753344" y="2048256"/>
            <a:ext cx="859536" cy="859536"/>
          </a:xfrm>
          <a:prstGeom prst="ellipse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53344" y="2286000"/>
            <a:ext cx="859536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93FBFE"/>
                </a:solidFill>
                <a:latin typeface="Libre Franklin"/>
              </a:rPr>
              <a:t>the
POC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3886200"/>
            <a:ext cx="5486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THE PROPELLANT · WHAT MAKES EACH ROUND FIRE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4160520"/>
            <a:ext cx="3447288" cy="84124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4215384"/>
            <a:ext cx="41148" cy="73152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7280" y="4251960"/>
            <a:ext cx="310896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8 EAP slots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4480560"/>
            <a:ext cx="315468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nominated, never tendered; co-creation as the route past procurement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44568" y="4160520"/>
            <a:ext cx="3447288" cy="84124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44568" y="4215384"/>
            <a:ext cx="41148" cy="73152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27448" y="4251960"/>
            <a:ext cx="310896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Specimen packs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27448" y="4480560"/>
            <a:ext cx="315468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the exact artifacts shown before any signature; the bank buys a known object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74736" y="4160520"/>
            <a:ext cx="3447288" cy="84124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74736" y="4215384"/>
            <a:ext cx="41148" cy="73152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57616" y="4251960"/>
            <a:ext cx="310896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Credit-forward fees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57616" y="4480560"/>
            <a:ext cx="315468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100% of the wedge credits into the POC; budget is never spent on a maybe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" y="5257800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3000" y="5372100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Every round is aimed at the same target: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a live Mission POC that installs Banking OS.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14400" y="5980176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6053328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Shades: solid blue = high feasibility, mid = gated, light = a named dependency. Detail: playbook short version, slide 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Q5 · WHAT DO I LEVERAGE FROM BACKBASE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From Backbase I leverage the platform; I add the packaging.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6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6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828800"/>
            <a:ext cx="10705795" cy="1170432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1938528"/>
            <a:ext cx="5486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WHAT I ADD ON TOP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212848"/>
            <a:ext cx="2468880" cy="56692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 w="11430">
            <a:solidFill>
              <a:srgbClr val="93FBF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71016" y="2267712"/>
            <a:ext cx="2240280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Productized packaging + pricing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67328" y="2212848"/>
            <a:ext cx="2468880" cy="56692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 w="11430">
            <a:solidFill>
              <a:srgbClr val="93FBF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95344" y="2267712"/>
            <a:ext cx="2240280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The value-evidence method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91656" y="2212848"/>
            <a:ext cx="2468880" cy="56692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 w="11430">
            <a:solidFill>
              <a:srgbClr val="93FBF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2267712"/>
            <a:ext cx="2240280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The org-design practice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15984" y="2212848"/>
            <a:ext cx="2468880" cy="56692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 w="11430">
            <a:solidFill>
              <a:srgbClr val="93FBF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2267712"/>
            <a:ext cx="2240280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Category collateral, with your 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3072384"/>
            <a:ext cx="3657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066F5"/>
                </a:solidFill>
                <a:latin typeface="Libre Franklin"/>
              </a:rPr>
              <a:t>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3072384"/>
            <a:ext cx="3657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066F5"/>
                </a:solidFill>
                <a:latin typeface="Libre Franklin"/>
              </a:rPr>
              <a:t>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072384"/>
            <a:ext cx="3657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066F5"/>
                </a:solidFill>
                <a:latin typeface="Libre Franklin"/>
              </a:rPr>
              <a:t>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3419856"/>
            <a:ext cx="10705795" cy="1920240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3547872"/>
            <a:ext cx="73152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WHAT BACKBASE ALREADY GIVES ME · NOTHING HERE NEEDS BUILDING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3840480"/>
            <a:ext cx="32918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9304" y="3904488"/>
            <a:ext cx="30175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Factory tooling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9304" y="4133088"/>
            <a:ext cx="30632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Designer, Modeler, Connector Studio, Simulation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17720" y="3840480"/>
            <a:ext cx="32918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64024" y="3904488"/>
            <a:ext cx="30175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Nexus + Sentinel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4024" y="4133088"/>
            <a:ext cx="30632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the product the wedges pre-install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92440" y="3840480"/>
            <a:ext cx="32918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38744" y="3904488"/>
            <a:ext cx="30175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The EAP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38744" y="4133088"/>
            <a:ext cx="30632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8 slots of co-creation currency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4572000"/>
            <a:ext cx="32918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9304" y="4636008"/>
            <a:ext cx="30175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AE channel + brand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9304" y="4864608"/>
            <a:ext cx="30632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accounts, trust, the 120+ logo base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4572000"/>
            <a:ext cx="32918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64024" y="4636008"/>
            <a:ext cx="30175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The cost model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64024" y="4864608"/>
            <a:ext cx="30632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Mayur + Deepak’s supply-side truth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92440" y="4572000"/>
            <a:ext cx="32918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8744" y="4636008"/>
            <a:ext cx="30175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FDE capacity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38744" y="4864608"/>
            <a:ext cx="30632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Mission Sprints staffed at install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" y="5486400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5600700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The ask is leverage, never construction: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I package what the company already built.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14400" y="6016751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8" name="TextBox 47"/>
          <p:cNvSpPr txBox="1"/>
          <p:nvPr/>
        </p:nvSpPr>
        <p:spPr>
          <a:xfrm>
            <a:off x="914400" y="6089903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This is why the build effort stays at person-weeks: every SKU productizes an existing Factory tool.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Q6 · WHAT AM I BUILDING IN MYSELF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skills I am building: from consultant to line owner.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7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7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18288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5F7DF7"/>
                </a:solidFill>
                <a:latin typeface="Libre Franklin"/>
              </a:rPr>
              <a:t>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1783080"/>
            <a:ext cx="16459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130552"/>
            <a:ext cx="21945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Commercial ownership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46120" y="2240280"/>
            <a:ext cx="8046720" cy="0"/>
          </a:xfrm>
          <a:prstGeom prst="line">
            <a:avLst/>
          </a:prstGeom>
          <a:ln w="17780">
            <a:solidFill>
              <a:srgbClr val="D2D4D8"/>
            </a:solidFill>
          </a:ln>
          <a:effectLst/>
          <a:effectLst/>
        </p:spPr>
      </p:cxnSp>
      <p:sp>
        <p:nvSpPr>
          <p:cNvPr id="16" name="Oval 15"/>
          <p:cNvSpPr/>
          <p:nvPr/>
        </p:nvSpPr>
        <p:spPr>
          <a:xfrm>
            <a:off x="6793992" y="2167128"/>
            <a:ext cx="146304" cy="146304"/>
          </a:xfrm>
          <a:prstGeom prst="ellipse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61304" y="2350008"/>
            <a:ext cx="20116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shaping deals</a:t>
            </a:r>
          </a:p>
        </p:txBody>
      </p:sp>
      <p:sp>
        <p:nvSpPr>
          <p:cNvPr id="18" name="Oval 17"/>
          <p:cNvSpPr/>
          <p:nvPr/>
        </p:nvSpPr>
        <p:spPr>
          <a:xfrm>
            <a:off x="11201400" y="2148840"/>
            <a:ext cx="182880" cy="182880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1965960"/>
            <a:ext cx="22860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1F3799"/>
                </a:solidFill>
                <a:latin typeface="Libre Franklin"/>
              </a:rPr>
              <a:t>owning a quota and a P&amp;L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788920"/>
            <a:ext cx="21945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Product management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6120" y="2898648"/>
            <a:ext cx="8046720" cy="0"/>
          </a:xfrm>
          <a:prstGeom prst="line">
            <a:avLst/>
          </a:prstGeom>
          <a:ln w="17780">
            <a:solidFill>
              <a:srgbClr val="D2D4D8"/>
            </a:solidFill>
          </a:ln>
          <a:effectLst/>
          <a:effectLst/>
        </p:spPr>
      </p:cxnSp>
      <p:sp>
        <p:nvSpPr>
          <p:cNvPr id="22" name="Oval 21"/>
          <p:cNvSpPr/>
          <p:nvPr/>
        </p:nvSpPr>
        <p:spPr>
          <a:xfrm>
            <a:off x="6391656" y="2825496"/>
            <a:ext cx="146304" cy="146304"/>
          </a:xfrm>
          <a:prstGeom prst="ellipse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58968" y="3008375"/>
            <a:ext cx="20116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delivery kits</a:t>
            </a:r>
          </a:p>
        </p:txBody>
      </p:sp>
      <p:sp>
        <p:nvSpPr>
          <p:cNvPr id="24" name="Oval 23"/>
          <p:cNvSpPr/>
          <p:nvPr/>
        </p:nvSpPr>
        <p:spPr>
          <a:xfrm>
            <a:off x="11201400" y="2807208"/>
            <a:ext cx="182880" cy="182880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5400" y="2624327"/>
            <a:ext cx="22860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1F3799"/>
                </a:solidFill>
                <a:latin typeface="Libre Franklin"/>
              </a:rPr>
              <a:t>SKU lifecycle: price, launch, iterate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447288"/>
            <a:ext cx="21945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Category building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46120" y="3557016"/>
            <a:ext cx="8046720" cy="0"/>
          </a:xfrm>
          <a:prstGeom prst="line">
            <a:avLst/>
          </a:prstGeom>
          <a:ln w="17780">
            <a:solidFill>
              <a:srgbClr val="D2D4D8"/>
            </a:solidFill>
          </a:ln>
          <a:effectLst/>
          <a:effectLst/>
        </p:spPr>
      </p:cxnSp>
      <p:sp>
        <p:nvSpPr>
          <p:cNvPr id="28" name="Oval 27"/>
          <p:cNvSpPr/>
          <p:nvPr/>
        </p:nvSpPr>
        <p:spPr>
          <a:xfrm>
            <a:off x="5989320" y="3483864"/>
            <a:ext cx="146304" cy="146304"/>
          </a:xfrm>
          <a:prstGeom prst="ellipse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56631" y="3666744"/>
            <a:ext cx="20116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deck-level narrative</a:t>
            </a:r>
          </a:p>
        </p:txBody>
      </p:sp>
      <p:sp>
        <p:nvSpPr>
          <p:cNvPr id="30" name="Oval 29"/>
          <p:cNvSpPr/>
          <p:nvPr/>
        </p:nvSpPr>
        <p:spPr>
          <a:xfrm>
            <a:off x="11201400" y="3465576"/>
            <a:ext cx="182880" cy="182880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15400" y="3282696"/>
            <a:ext cx="22860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1F3799"/>
                </a:solidFill>
                <a:latin typeface="Libre Franklin"/>
              </a:rPr>
              <a:t>launch collateral with your team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105656"/>
            <a:ext cx="21945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Executive altitude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246120" y="4215384"/>
            <a:ext cx="8046720" cy="0"/>
          </a:xfrm>
          <a:prstGeom prst="line">
            <a:avLst/>
          </a:prstGeom>
          <a:ln w="17780">
            <a:solidFill>
              <a:srgbClr val="D2D4D8"/>
            </a:solidFill>
          </a:ln>
          <a:effectLst/>
          <a:effectLst/>
        </p:spPr>
      </p:cxnSp>
      <p:sp>
        <p:nvSpPr>
          <p:cNvPr id="34" name="Oval 33"/>
          <p:cNvSpPr/>
          <p:nvPr/>
        </p:nvSpPr>
        <p:spPr>
          <a:xfrm>
            <a:off x="7598664" y="4142232"/>
            <a:ext cx="146304" cy="146304"/>
          </a:xfrm>
          <a:prstGeom prst="ellipse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5976" y="4325112"/>
            <a:ext cx="20116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COO and ops rooms</a:t>
            </a:r>
          </a:p>
        </p:txBody>
      </p:sp>
      <p:sp>
        <p:nvSpPr>
          <p:cNvPr id="36" name="Oval 35"/>
          <p:cNvSpPr/>
          <p:nvPr/>
        </p:nvSpPr>
        <p:spPr>
          <a:xfrm>
            <a:off x="11201400" y="4123944"/>
            <a:ext cx="182880" cy="182880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5400" y="3941064"/>
            <a:ext cx="22860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1F3799"/>
                </a:solidFill>
                <a:latin typeface="Libre Franklin"/>
              </a:rPr>
              <a:t>CEO and CHRO conversations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764024"/>
            <a:ext cx="21945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Org-design practice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46120" y="4873752"/>
            <a:ext cx="8046720" cy="0"/>
          </a:xfrm>
          <a:prstGeom prst="line">
            <a:avLst/>
          </a:prstGeom>
          <a:ln w="17780">
            <a:solidFill>
              <a:srgbClr val="D2D4D8"/>
            </a:solidFill>
          </a:ln>
          <a:effectLst/>
          <a:effectLst/>
        </p:spPr>
      </p:cxnSp>
      <p:sp>
        <p:nvSpPr>
          <p:cNvPr id="40" name="Oval 39"/>
          <p:cNvSpPr/>
          <p:nvPr/>
        </p:nvSpPr>
        <p:spPr>
          <a:xfrm>
            <a:off x="5586983" y="4800600"/>
            <a:ext cx="146304" cy="146304"/>
          </a:xfrm>
          <a:prstGeom prst="ellipse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54296" y="4983480"/>
            <a:ext cx="20116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method v0.1 on paper</a:t>
            </a:r>
          </a:p>
        </p:txBody>
      </p:sp>
      <p:sp>
        <p:nvSpPr>
          <p:cNvPr id="42" name="Oval 41"/>
          <p:cNvSpPr/>
          <p:nvPr/>
        </p:nvSpPr>
        <p:spPr>
          <a:xfrm>
            <a:off x="11201400" y="4782312"/>
            <a:ext cx="182880" cy="182880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15400" y="4599432"/>
            <a:ext cx="22860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1F3799"/>
                </a:solidFill>
                <a:latin typeface="Libre Franklin"/>
              </a:rPr>
              <a:t>a flagship practice, evidence-fed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" y="5440680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5554980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This is the development ask: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the gap between the dots is what the programme and your sponsorship close.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14400" y="5980176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7" name="TextBox 46"/>
          <p:cNvSpPr txBox="1"/>
          <p:nvPr/>
        </p:nvSpPr>
        <p:spPr>
          <a:xfrm>
            <a:off x="914400" y="6053328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Category building is the row where the CMO track matters most: I want to learn launching from the people who launch.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Q7 · HOW DOES IT FEED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flywheel: every install makes the next sale cheaper.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8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8</a:t>
            </a:fld>
          </a:p>
        </p:txBody>
      </p:sp>
      <p:cxnSp>
        <p:nvCxnSpPr>
          <p:cNvPr id="12" name="Connector 11"/>
          <p:cNvCxnSpPr/>
          <p:nvPr/>
        </p:nvCxnSpPr>
        <p:spPr>
          <a:xfrm>
            <a:off x="3703320" y="2130552"/>
            <a:ext cx="1362057" cy="786384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cxnSp>
        <p:nvCxnSpPr>
          <p:cNvPr id="13" name="Connector 12"/>
          <p:cNvCxnSpPr/>
          <p:nvPr/>
        </p:nvCxnSpPr>
        <p:spPr>
          <a:xfrm>
            <a:off x="5065377" y="2916936"/>
            <a:ext cx="0" cy="1572768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cxnSp>
        <p:nvCxnSpPr>
          <p:cNvPr id="14" name="Connector 13"/>
          <p:cNvCxnSpPr/>
          <p:nvPr/>
        </p:nvCxnSpPr>
        <p:spPr>
          <a:xfrm flipH="1">
            <a:off x="3703320" y="4489704"/>
            <a:ext cx="1362057" cy="786384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cxnSp>
        <p:nvCxnSpPr>
          <p:cNvPr id="15" name="Connector 14"/>
          <p:cNvCxnSpPr/>
          <p:nvPr/>
        </p:nvCxnSpPr>
        <p:spPr>
          <a:xfrm flipH="1" flipV="1">
            <a:off x="2341262" y="4489704"/>
            <a:ext cx="1362058" cy="786384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cxnSp>
        <p:nvCxnSpPr>
          <p:cNvPr id="16" name="Connector 15"/>
          <p:cNvCxnSpPr/>
          <p:nvPr/>
        </p:nvCxnSpPr>
        <p:spPr>
          <a:xfrm flipV="1">
            <a:off x="2341262" y="2916935"/>
            <a:ext cx="0" cy="1572769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cxnSp>
        <p:nvCxnSpPr>
          <p:cNvPr id="17" name="Connector 16"/>
          <p:cNvCxnSpPr/>
          <p:nvPr/>
        </p:nvCxnSpPr>
        <p:spPr>
          <a:xfrm flipV="1">
            <a:off x="2341262" y="2130552"/>
            <a:ext cx="1362058" cy="786383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sp>
        <p:nvSpPr>
          <p:cNvPr id="18" name="Oval 17"/>
          <p:cNvSpPr/>
          <p:nvPr/>
        </p:nvSpPr>
        <p:spPr>
          <a:xfrm>
            <a:off x="3044952" y="3044952"/>
            <a:ext cx="1316736" cy="1316736"/>
          </a:xfrm>
          <a:prstGeom prst="ellipse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44952" y="3319272"/>
            <a:ext cx="1316736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93FBFE"/>
                </a:solidFill>
                <a:latin typeface="Libre Franklin"/>
              </a:rPr>
              <a:t>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39" y="3721607"/>
            <a:ext cx="12801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compounds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70632" y="1847088"/>
            <a:ext cx="1865376" cy="5669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825496" y="2011680"/>
            <a:ext cx="237744" cy="23774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900" b="1">
                <a:solidFill>
                  <a:srgbClr val="FFFFFF"/>
                </a:solidFill>
                <a:latin typeface="Libre Franklin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36391" y="1911095"/>
            <a:ext cx="1444752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50" b="1">
                <a:solidFill>
                  <a:srgbClr val="071224"/>
                </a:solidFill>
                <a:latin typeface="Libre Franklin"/>
              </a:rPr>
              <a:t>Free wedge qualifies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32689" y="2633472"/>
            <a:ext cx="1865376" cy="56692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187553" y="2798064"/>
            <a:ext cx="237744" cy="23774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900" b="1">
                <a:solidFill>
                  <a:srgbClr val="FFFFFF"/>
                </a:solidFill>
                <a:latin typeface="Libre Franklin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449" y="2697480"/>
            <a:ext cx="1444752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50" b="1">
                <a:solidFill>
                  <a:srgbClr val="071224"/>
                </a:solidFill>
                <a:latin typeface="Libre Franklin"/>
              </a:rPr>
              <a:t>Paid install lands 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32689" y="4206240"/>
            <a:ext cx="1865376" cy="5669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187553" y="4370832"/>
            <a:ext cx="237744" cy="23774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900" b="1">
                <a:solidFill>
                  <a:srgbClr val="FFFFFF"/>
                </a:solidFill>
                <a:latin typeface="Libre Franklin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449" y="4270248"/>
            <a:ext cx="1444752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50" b="1">
                <a:solidFill>
                  <a:srgbClr val="071224"/>
                </a:solidFill>
                <a:latin typeface="Libre Franklin"/>
              </a:rPr>
              <a:t>Evidence harvested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70632" y="4992624"/>
            <a:ext cx="1865376" cy="56692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825496" y="5157216"/>
            <a:ext cx="237744" cy="23774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900" b="1">
                <a:solidFill>
                  <a:srgbClr val="FFFFFF"/>
                </a:solidFill>
                <a:latin typeface="Libre Franklin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36391" y="5056631"/>
            <a:ext cx="1444752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50" b="1">
                <a:solidFill>
                  <a:srgbClr val="071224"/>
                </a:solidFill>
                <a:latin typeface="Libre Franklin"/>
              </a:rPr>
              <a:t>Kits sharpen; next sale cheaper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08574" y="4206240"/>
            <a:ext cx="1865376" cy="5669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463438" y="4370832"/>
            <a:ext cx="237744" cy="23774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900" b="1">
                <a:solidFill>
                  <a:srgbClr val="FFFFFF"/>
                </a:solidFill>
                <a:latin typeface="Libre Franklin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74334" y="4270248"/>
            <a:ext cx="1444752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50" b="1">
                <a:solidFill>
                  <a:srgbClr val="071224"/>
                </a:solidFill>
                <a:latin typeface="Libre Franklin"/>
              </a:rPr>
              <a:t>Platform pull: POC + licence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08574" y="2633471"/>
            <a:ext cx="1865376" cy="56692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463438" y="2798063"/>
            <a:ext cx="237744" cy="23774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900" b="1">
                <a:solidFill>
                  <a:srgbClr val="FFFFFF"/>
                </a:solidFill>
                <a:latin typeface="Libre Franklin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74334" y="2697479"/>
            <a:ext cx="1444752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50" b="1">
                <a:solidFill>
                  <a:srgbClr val="071224"/>
                </a:solidFill>
                <a:latin typeface="Libre Franklin"/>
              </a:rPr>
              <a:t>Telemetry recurs €, funds next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1810512"/>
            <a:ext cx="39319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HOW THE WHEEL PAYS OUT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89520" y="2103120"/>
            <a:ext cx="4041648" cy="85953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2176272"/>
            <a:ext cx="36576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YEAR ONE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2350008"/>
            <a:ext cx="237744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F3799"/>
                </a:solidFill>
                <a:latin typeface="Libre Franklin"/>
              </a:rPr>
              <a:t>€0.4-0.5M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2670048"/>
            <a:ext cx="370332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3-4 installs, one per family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89520" y="3072384"/>
            <a:ext cx="4041648" cy="859536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145536"/>
            <a:ext cx="36576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YEAR TWO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3319272"/>
            <a:ext cx="237744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F3799"/>
                </a:solidFill>
                <a:latin typeface="Libre Franklin"/>
              </a:rPr>
              <a:t>~€1.2M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3639312"/>
            <a:ext cx="370332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ten installs a year: cost-neutral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89520" y="4041648"/>
            <a:ext cx="4041648" cy="859536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72400" y="4114800"/>
            <a:ext cx="36576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LAYERED ON TOP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4288536"/>
            <a:ext cx="237744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F3799"/>
                </a:solidFill>
                <a:latin typeface="Libre Franklin"/>
              </a:rPr>
              <a:t>€30-50K /acct /yr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4608576"/>
            <a:ext cx="370332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telemetry recurrence + gain share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89520" y="5047488"/>
            <a:ext cx="4041648" cy="603504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EC5E4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18120" y="5148072"/>
            <a:ext cx="3584448" cy="4206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C5E48"/>
                </a:solidFill>
                <a:latin typeface="Libre Franklin"/>
              </a:rPr>
              <a:t>Unsized · </a:t>
            </a:r>
            <a:r>
              <a:rPr sz="1150" b="0">
                <a:solidFill>
                  <a:srgbClr val="071224"/>
                </a:solidFill>
                <a:latin typeface="Libre Franklin"/>
              </a:rPr>
              <a:t>licence pull-through from installs; sized with finance once the pilot lands.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5" name="TextBox 54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The wheel’s discipline: node 3 is the moat (evidence nobody else holds) and node 6 pays for node 1’s next turn.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THE PROGRAMME FIT · IN ITS OWN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This is the Strategic Initiative the programme asked me to pick.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9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9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914400" y="1755648"/>
            <a:ext cx="59436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6A717C"/>
                </a:solidFill>
                <a:latin typeface="Libre Franklin"/>
              </a:rPr>
              <a:t>THE FIVE EMERGING DEVELOPMENT THEMES · AND HOW THIS INITIATIVE TRAINS EACH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011680"/>
            <a:ext cx="5989320" cy="58521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066544"/>
            <a:ext cx="41148" cy="475488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2066544"/>
            <a:ext cx="2148840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Take the pain, don’t delay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084832"/>
            <a:ext cx="347472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Acting on evidence and moving: pilot gate in October, paid proof by December.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2688336"/>
            <a:ext cx="5989320" cy="58521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743200"/>
            <a:ext cx="41148" cy="475488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743200"/>
            <a:ext cx="2148840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Executive Influence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2761488"/>
            <a:ext cx="347472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This meeting is the exercise: shaping ExCo decisions with the playbook and the quota case.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3364992"/>
            <a:ext cx="5989320" cy="58521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3419856"/>
            <a:ext cx="41148" cy="475488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3419856"/>
            <a:ext cx="2148840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Scaling Leadership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3438144"/>
            <a:ext cx="347472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The pod and the delivery kits: others deliver from what I build; hiring follows revenue.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041648"/>
            <a:ext cx="5989320" cy="58521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4096511"/>
            <a:ext cx="41148" cy="475488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" y="4096511"/>
            <a:ext cx="2148840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Strategic Leadership &amp; Execution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37560" y="4114800"/>
            <a:ext cx="347472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Function connected to business impact: a costed revenue line with gates and owners.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4718304"/>
            <a:ext cx="5989320" cy="58521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400" y="4773168"/>
            <a:ext cx="41148" cy="475488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568" y="4773168"/>
            <a:ext cx="2148840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Leading in Complexity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37560" y="4791456"/>
            <a:ext cx="347472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Five contradictions named with owners; unknowns badged coral instead of hidden.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23760" y="2011680"/>
            <a:ext cx="4407408" cy="3328416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79792" y="2231136"/>
            <a:ext cx="39319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THE PROGRAMME’S OWN NEXT STEP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79792" y="2523744"/>
            <a:ext cx="393192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Libre Franklin"/>
              </a:rPr>
              <a:t>“Pick a Strategic Initiative of interest and discuss with your manager and MT member how to get started.”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3611880"/>
            <a:ext cx="393192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The Product Factory line is that initiative. The playbook is the intake artifact; Mayur is the manager conversation; this hour is the MT one.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79792" y="4754880"/>
            <a:ext cx="393192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93FBFE"/>
                </a:solidFill>
                <a:latin typeface="Libre Franklin"/>
              </a:rPr>
              <a:t>→ my mid-year pairing: Jeroen Bruseker (EVP Services). My mentor agenda: the services P&amp;L craft.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9" name="TextBox 3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Themes and the next-step quote: Talent Program 2026, Q1 wrap-up (Emerging Development Themes; Development Next Steps).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THE PROGRAMME CLOCK · WHERE WE 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Still in H1: the programme’s runway is exactly my build window.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A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10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914400" y="1783080"/>
            <a:ext cx="5486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THE PROGRAMME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011680"/>
            <a:ext cx="2578608" cy="10058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2011680"/>
            <a:ext cx="2578608" cy="292608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2057400"/>
            <a:ext cx="23774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Q1 · DONE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" y="2395728"/>
            <a:ext cx="2340864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Kick-offs, DiSC + CliftonStrengths, mentor programme, development 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14630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39312" y="2011680"/>
            <a:ext cx="2578608" cy="10058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39312" y="2011680"/>
            <a:ext cx="2578608" cy="292608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67328" y="2057400"/>
            <a:ext cx="23774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Q2 · DONE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8" y="2395728"/>
            <a:ext cx="2340864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MT coaching, Trusted Advisor sessions, 5 Behaviors, Founder Roundtable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395728"/>
            <a:ext cx="14630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64224" y="2011680"/>
            <a:ext cx="2578608" cy="10058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64224" y="2011680"/>
            <a:ext cx="2578608" cy="292608"/>
          </a:xfrm>
          <a:prstGeom prst="roundRect">
            <a:avLst>
              <a:gd name="adj" fmla="val 8000"/>
            </a:avLst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2057400"/>
            <a:ext cx="23774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MID-YEAR · 6 JUL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395728"/>
            <a:ext cx="2340864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F2F event: external speaker, new mentor pairings, external training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2395728"/>
            <a:ext cx="14630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9136" y="2011680"/>
            <a:ext cx="2578608" cy="10058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089136" y="2011680"/>
            <a:ext cx="2578608" cy="29260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17152" y="2057400"/>
            <a:ext cx="23774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93FBFE"/>
                </a:solidFill>
                <a:latin typeface="Libre Franklin"/>
              </a:rPr>
              <a:t>H2 · THE RUNWAY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7152" y="2395728"/>
            <a:ext cx="2340864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The window this initiative fills with delivery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3310128"/>
            <a:ext cx="73152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WHAT I PUT ON THAT RUNWAY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280160" y="3977639"/>
            <a:ext cx="9875520" cy="0"/>
          </a:xfrm>
          <a:prstGeom prst="line">
            <a:avLst/>
          </a:prstGeom>
          <a:ln w="20320">
            <a:solidFill>
              <a:srgbClr val="D2D4D8"/>
            </a:solidFill>
          </a:ln>
          <a:effectLst/>
          <a:effectLst/>
        </p:spPr>
      </p:cxnSp>
      <p:sp>
        <p:nvSpPr>
          <p:cNvPr id="34" name="Oval 33"/>
          <p:cNvSpPr/>
          <p:nvPr/>
        </p:nvSpPr>
        <p:spPr>
          <a:xfrm>
            <a:off x="1207007" y="3904487"/>
            <a:ext cx="146304" cy="14630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199" y="3593591"/>
            <a:ext cx="16459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Aug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39" y="4160520"/>
            <a:ext cx="192024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X-Ray design + delivery kit</a:t>
            </a:r>
          </a:p>
        </p:txBody>
      </p:sp>
      <p:sp>
        <p:nvSpPr>
          <p:cNvPr id="37" name="Oval 36"/>
          <p:cNvSpPr/>
          <p:nvPr/>
        </p:nvSpPr>
        <p:spPr>
          <a:xfrm>
            <a:off x="3675887" y="3904487"/>
            <a:ext cx="146304" cy="14630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26079" y="3593591"/>
            <a:ext cx="16459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Sep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88920" y="4160520"/>
            <a:ext cx="192024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SE named · keystone study with Deepak</a:t>
            </a:r>
          </a:p>
        </p:txBody>
      </p:sp>
      <p:sp>
        <p:nvSpPr>
          <p:cNvPr id="40" name="Diamond 39"/>
          <p:cNvSpPr/>
          <p:nvPr/>
        </p:nvSpPr>
        <p:spPr>
          <a:xfrm>
            <a:off x="6126479" y="3886200"/>
            <a:ext cx="182880" cy="182880"/>
          </a:xfrm>
          <a:prstGeom prst="diamond">
            <a:avLst/>
          </a:prstGeom>
          <a:solidFill>
            <a:srgbClr val="EC5E48"/>
          </a:solidFill>
          <a:ln w="1143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4959" y="3593591"/>
            <a:ext cx="16459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Oct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7799" y="4160520"/>
            <a:ext cx="192024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Pilot gate: prospect green-light</a:t>
            </a:r>
          </a:p>
        </p:txBody>
      </p:sp>
      <p:sp>
        <p:nvSpPr>
          <p:cNvPr id="43" name="Oval 42"/>
          <p:cNvSpPr/>
          <p:nvPr/>
        </p:nvSpPr>
        <p:spPr>
          <a:xfrm>
            <a:off x="8613648" y="3904487"/>
            <a:ext cx="146304" cy="14630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63840" y="3593591"/>
            <a:ext cx="16459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Nov-Dec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26679" y="4160520"/>
            <a:ext cx="192024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Paid proof at the pilot account</a:t>
            </a:r>
          </a:p>
        </p:txBody>
      </p:sp>
      <p:sp>
        <p:nvSpPr>
          <p:cNvPr id="46" name="Diamond 45"/>
          <p:cNvSpPr/>
          <p:nvPr/>
        </p:nvSpPr>
        <p:spPr>
          <a:xfrm>
            <a:off x="11064240" y="3886200"/>
            <a:ext cx="182880" cy="182880"/>
          </a:xfrm>
          <a:prstGeom prst="diamond">
            <a:avLst/>
          </a:prstGeom>
          <a:solidFill>
            <a:srgbClr val="4066F5"/>
          </a:solidFill>
          <a:ln w="1143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332719" y="3593591"/>
            <a:ext cx="16459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Jan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5559" y="4160520"/>
            <a:ext cx="192024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First revenue: the programme’s receipt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4400" y="4983480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5097780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By the next wrap-up: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I report revenue and an installed component, never intentions.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14400" y="5925312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2" name="TextBox 51"/>
          <p:cNvSpPr txBox="1"/>
          <p:nvPr/>
        </p:nvSpPr>
        <p:spPr>
          <a:xfrm>
            <a:off x="914400" y="5998464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Programme record: 9 Q1 activities, 72% participation, NPS 88; mid-year event 6 July. Initiative dates per the playbook roadmap, ±30% tolerance.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WIN THE ROOM · THE STAKEHOLDER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room to win: five stakeholders, five different yeses.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B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11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2926080" y="1737360"/>
            <a:ext cx="27432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WHAT DRIVES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1737360"/>
            <a:ext cx="27432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WHAT I 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1737360"/>
            <a:ext cx="27432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THE YES I AM AFTER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1956816"/>
            <a:ext cx="10705795" cy="676656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011680"/>
            <a:ext cx="41148" cy="566928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029968"/>
            <a:ext cx="17830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Tim Rutten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322576"/>
            <a:ext cx="178308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50" b="1">
                <a:solidFill>
                  <a:srgbClr val="1F3799"/>
                </a:solidFill>
                <a:latin typeface="Libre Franklin"/>
              </a:rPr>
              <a:t>CMO · this hour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2048256"/>
            <a:ext cx="278892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Category creation, marketable proof, launches that land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2048256"/>
            <a:ext cx="274320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Sponsorship, launch collateral, the €5K as seed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2048256"/>
            <a:ext cx="269748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The talent budget becomes a launch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2706624"/>
            <a:ext cx="10705795" cy="67665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2761488"/>
            <a:ext cx="41148" cy="566928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2779776"/>
            <a:ext cx="17830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Mayur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072384"/>
            <a:ext cx="178308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50" b="1">
                <a:solidFill>
                  <a:srgbClr val="1F3799"/>
                </a:solidFill>
                <a:latin typeface="Libre Franklin"/>
              </a:rPr>
              <a:t>my manager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2798064"/>
            <a:ext cx="278892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Function economics: protected team, defensible quota logic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2798064"/>
            <a:ext cx="274320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Pilot green-light, the named SE, quota treatment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2798064"/>
            <a:ext cx="269748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The function earns its keep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3456432"/>
            <a:ext cx="10705795" cy="67665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400" y="3511296"/>
            <a:ext cx="41148" cy="566928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3529584"/>
            <a:ext cx="17830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Jeroen Bruseker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3822192"/>
            <a:ext cx="178308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50" b="1">
                <a:solidFill>
                  <a:srgbClr val="1F3799"/>
                </a:solidFill>
                <a:latin typeface="Libre Franklin"/>
              </a:rPr>
              <a:t>EVP Services · my mentor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0" y="3547872"/>
            <a:ext cx="278892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Services revenue and delivery capacity that scales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880" y="3547872"/>
            <a:ext cx="274320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Mentor agenda: P&amp;L craft; FDE capacity at install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3547872"/>
            <a:ext cx="269748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Services revenue that pre-installs product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4206240"/>
            <a:ext cx="10705795" cy="67665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4261103"/>
            <a:ext cx="41148" cy="566928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7280" y="4279392"/>
            <a:ext cx="17830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Deepak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4572000"/>
            <a:ext cx="178308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50" b="1">
                <a:solidFill>
                  <a:srgbClr val="1F3799"/>
                </a:solidFill>
                <a:latin typeface="Libre Franklin"/>
              </a:rPr>
              <a:t>platform costing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4297679"/>
            <a:ext cx="278892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Cost-model integrity, supply-side truth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80" y="4297679"/>
            <a:ext cx="274320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Co-build the keystone cost-per-outcome study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23960" y="4297679"/>
            <a:ext cx="269748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A demand-side twin for his model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4400" y="4956048"/>
            <a:ext cx="10705795" cy="67665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4400" y="5010912"/>
            <a:ext cx="41148" cy="566928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029200"/>
            <a:ext cx="17830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Programme owner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5321808"/>
            <a:ext cx="178308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50" b="1">
                <a:solidFill>
                  <a:srgbClr val="1F3799"/>
                </a:solidFill>
                <a:latin typeface="Libre Franklin"/>
              </a:rPr>
              <a:t>EAP + talent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80" y="5047488"/>
            <a:ext cx="278892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Proof the programme creates business impact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80" y="5047488"/>
            <a:ext cx="274320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EAP eligibility; the initiative as case study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23960" y="5047488"/>
            <a:ext cx="269748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A Strategic Initiative with receipts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Structured per the mid-year Win the Room training (YouLead): identify what drives the stakeholders whose buy-in you need. Mentor pairing per the mid-year F2F.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WIN THE ROOM · THE RECOMMENDATION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case in OSCAR: outcome, situation, choices, actions, review.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C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12</a:t>
            </a:fld>
          </a:p>
        </p:txBody>
      </p:sp>
      <p:sp>
        <p:nvSpPr>
          <p:cNvPr id="12" name="Oval 11"/>
          <p:cNvSpPr/>
          <p:nvPr/>
        </p:nvSpPr>
        <p:spPr>
          <a:xfrm>
            <a:off x="914400" y="1920240"/>
            <a:ext cx="475488" cy="47548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re Franklin"/>
              </a:rPr>
              <a:t>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0200" y="1828800"/>
            <a:ext cx="10012680" cy="676656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10512" y="1901952"/>
            <a:ext cx="146304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Outcome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1920240"/>
            <a:ext cx="813816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A product-led value line: first revenue in January, cost-neutral in year two, recurring assurance after.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52144" y="2395728"/>
            <a:ext cx="0" cy="310896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sp>
        <p:nvSpPr>
          <p:cNvPr id="17" name="Oval 16"/>
          <p:cNvSpPr/>
          <p:nvPr/>
        </p:nvSpPr>
        <p:spPr>
          <a:xfrm>
            <a:off x="914400" y="2706624"/>
            <a:ext cx="475488" cy="475488"/>
          </a:xfrm>
          <a:prstGeom prst="ellipse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re Franklin"/>
              </a:rPr>
              <a:t>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00200" y="2615184"/>
            <a:ext cx="10012680" cy="67665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10512" y="2688336"/>
            <a:ext cx="146304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Situation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2706624"/>
            <a:ext cx="813816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Value consulting runs free in a market shifting to operating models; the function must earn its protection.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52144" y="3182112"/>
            <a:ext cx="0" cy="310896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sp>
        <p:nvSpPr>
          <p:cNvPr id="22" name="Oval 21"/>
          <p:cNvSpPr/>
          <p:nvPr/>
        </p:nvSpPr>
        <p:spPr>
          <a:xfrm>
            <a:off x="914400" y="3493008"/>
            <a:ext cx="475488" cy="475488"/>
          </a:xfrm>
          <a:prstGeom prst="ellipse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re Franklin"/>
              </a:rPr>
              <a:t>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00200" y="3401568"/>
            <a:ext cx="10012680" cy="67665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10512" y="3474720"/>
            <a:ext cx="146304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Choices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3493008"/>
            <a:ext cx="813816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Stay free (funnel, no leverage) · generic consulting (fights MBB, no moat) · product wedges that install the platform. I choose the third.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52144" y="3968496"/>
            <a:ext cx="0" cy="310896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sp>
        <p:nvSpPr>
          <p:cNvPr id="27" name="Oval 26"/>
          <p:cNvSpPr/>
          <p:nvPr/>
        </p:nvSpPr>
        <p:spPr>
          <a:xfrm>
            <a:off x="914400" y="4279392"/>
            <a:ext cx="475488" cy="475488"/>
          </a:xfrm>
          <a:prstGeom prst="ellipse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re Franklin"/>
              </a:rPr>
              <a:t>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00200" y="4187952"/>
            <a:ext cx="10012680" cy="67665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0512" y="4261104"/>
            <a:ext cx="146304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Actions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4279392"/>
            <a:ext cx="813816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Name the SE · green-light the pilot · confirm EAP eligibility · seed the launch with the €5,000. The H2 runway carries the dates.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52144" y="4754880"/>
            <a:ext cx="0" cy="310896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sp>
        <p:nvSpPr>
          <p:cNvPr id="32" name="Oval 31"/>
          <p:cNvSpPr/>
          <p:nvPr/>
        </p:nvSpPr>
        <p:spPr>
          <a:xfrm>
            <a:off x="914400" y="5065775"/>
            <a:ext cx="475488" cy="47548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re Franklin"/>
              </a:rPr>
              <a:t>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00200" y="4974336"/>
            <a:ext cx="10012680" cy="676656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10512" y="5047488"/>
            <a:ext cx="146304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7560" y="5065775"/>
            <a:ext cx="813816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The programme’s own cadence: revenue and an installed component reported at the next wrap-up; telemetry quarterly after that.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7" name="TextBox 36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OSCAR per the Win the Room training: structuring a recommendation that lands. Outcome and Review are highlighted: start at the end, commit to the check.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WIN THE ROOM · THE OBJECTION 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objection round: pushback I expect, positions I hold.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D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13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828800"/>
            <a:ext cx="3977639" cy="859536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1947672"/>
            <a:ext cx="3611880" cy="6400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Libre Franklin"/>
              </a:rPr>
              <a:t>“This distracts from your pre-sales day job.”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1828800"/>
            <a:ext cx="6537960" cy="85953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74920" y="1892807"/>
            <a:ext cx="41148" cy="73152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1929384"/>
            <a:ext cx="6144768" cy="6949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The wedge IS pre-sales, paid: every install hands an AE a qualified, evidenced platform deal. Watch the wedge-to-Mission attach rate; kill it if it stalls.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2798064"/>
            <a:ext cx="3977639" cy="859536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2916936"/>
            <a:ext cx="3611880" cy="6400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Libre Franklin"/>
              </a:rPr>
              <a:t>“You are a consultant, not a product manager.”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74920" y="2798064"/>
            <a:ext cx="6537960" cy="85953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4920" y="2862072"/>
            <a:ext cx="41148" cy="73152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0" y="2898648"/>
            <a:ext cx="6144768" cy="6949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Cortex, the kits and the exhibit engine are shipped, team-adopted artifacts. The gap that remains is exactly the development goal this programme exists to close.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3767328"/>
            <a:ext cx="3977639" cy="859536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3886200"/>
            <a:ext cx="3611880" cy="6400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Libre Franklin"/>
              </a:rPr>
              <a:t>“The €5,000 is meant for training.”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74920" y="3767328"/>
            <a:ext cx="6537960" cy="85953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74920" y="3831336"/>
            <a:ext cx="41148" cy="73152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0" y="3867912"/>
            <a:ext cx="6144768" cy="6949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The programme’s own resources page says short courses fit narrow gaps, and deep transformation needs more. A live launch is the deeper curriculum.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4736592"/>
            <a:ext cx="3977639" cy="859536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5568" y="4855464"/>
            <a:ext cx="3611880" cy="6400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Libre Franklin"/>
              </a:rPr>
              <a:t>“Why now, before the platform matures?”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4920" y="4736592"/>
            <a:ext cx="6537960" cy="85953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74920" y="4800600"/>
            <a:ext cx="41148" cy="73152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0" y="4837176"/>
            <a:ext cx="6144768" cy="6949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The EAP window and the operating-model shift are both now. The wedges sell evidence, and evidence compounds earliest; waiting hands the diagnostic layer to the SIs.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3" name="TextBox 32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Per the Win the Room objection round: hold the position without losing the relationship. Each answer concedes the risk and names the control.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THE ASK · WHERE THIS GOES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I am asking for ownership, sponsorship and a seed, in order.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E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14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914400" y="1783080"/>
            <a:ext cx="45720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spc="100">
                <a:solidFill>
                  <a:srgbClr val="6A717C"/>
                </a:solidFill>
                <a:latin typeface="Libre Franklin"/>
              </a:rPr>
              <a:t>THE MOVE I AM MAKING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084831"/>
            <a:ext cx="2537460" cy="110642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203703"/>
            <a:ext cx="22082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A717C"/>
                </a:solidFill>
                <a:latin typeface="Libre Franklin"/>
              </a:rPr>
              <a:t>senior consultant 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450591"/>
            <a:ext cx="2208276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799"/>
                </a:solidFill>
                <a:latin typeface="Libre Franklin"/>
              </a:rPr>
              <a:t>Line P&amp;L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862072"/>
            <a:ext cx="2208276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owner of the products + services line, with a real quota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34740" y="2084831"/>
            <a:ext cx="2537460" cy="110642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9332" y="2203703"/>
            <a:ext cx="22082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A717C"/>
                </a:solidFill>
                <a:latin typeface="Libre Franklin"/>
              </a:rPr>
              <a:t>one pair of hands  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9332" y="2450591"/>
            <a:ext cx="2208276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799"/>
                </a:solidFill>
                <a:latin typeface="Libre Franklin"/>
              </a:rPr>
              <a:t>Cortex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9332" y="2862072"/>
            <a:ext cx="2208276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the team runs what I build: the AgenticOS, kits, methods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084831"/>
            <a:ext cx="2537460" cy="110642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2203703"/>
            <a:ext cx="22082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A717C"/>
                </a:solidFill>
                <a:latin typeface="Libre Franklin"/>
              </a:rPr>
              <a:t>deliverables  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450591"/>
            <a:ext cx="2208276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799"/>
                </a:solidFill>
                <a:latin typeface="Libre Franklin"/>
              </a:rPr>
              <a:t>Installs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2862072"/>
            <a:ext cx="2208276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every engagement leaves Banking OS components behind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75420" y="2084831"/>
            <a:ext cx="2537460" cy="110642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40012" y="2203703"/>
            <a:ext cx="22082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A717C"/>
                </a:solidFill>
                <a:latin typeface="Libre Franklin"/>
              </a:rPr>
              <a:t>€5,000 budget  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40012" y="2450591"/>
            <a:ext cx="2208276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799"/>
                </a:solidFill>
                <a:latin typeface="Libre Franklin"/>
              </a:rPr>
              <a:t>Seed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0012" y="2862072"/>
            <a:ext cx="2208276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product one packaged, demoed and launched with marketing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3474720"/>
            <a:ext cx="10705795" cy="5669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400" y="3529584"/>
            <a:ext cx="41148" cy="45720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3856" y="3538727"/>
            <a:ext cx="352044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1 · A named path to owning the 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600" y="3566160"/>
            <a:ext cx="6675120" cy="4206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The leadership development I want is commercial ownership: the product + services P&amp;L, reviewed on revenue.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4133087"/>
            <a:ext cx="10705795" cy="5669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400" y="4187951"/>
            <a:ext cx="41148" cy="45720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33856" y="4197096"/>
            <a:ext cx="352044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2 · ExCo-altitude sponsorship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0600" y="4224527"/>
            <a:ext cx="6675120" cy="4206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CMO air cover on the category story and launch collateral; a door to the EAP nominations.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" y="4791456"/>
            <a:ext cx="10705795" cy="5669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4846320"/>
            <a:ext cx="41148" cy="45720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33856" y="4855464"/>
            <a:ext cx="352044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3 · The €5,000 as seed, not training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0" y="4882896"/>
            <a:ext cx="6675120" cy="4206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It funds the Process X-Ray launch kit. The programme’s own resources page notes short courses fit narrow gaps; deep transformation needs a live build.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" y="550468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561898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Judge me on January: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one product in market, sold exactly the way the playbook says.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14400" y="6044183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4" name="TextBox 43"/>
          <p:cNvSpPr txBox="1"/>
          <p:nvPr/>
        </p:nvSpPr>
        <p:spPr>
          <a:xfrm>
            <a:off x="914400" y="611733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Per the programme’s development step, this initiative goes to my manager and an MT member; this deck and the playbook are that intake, delivered.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