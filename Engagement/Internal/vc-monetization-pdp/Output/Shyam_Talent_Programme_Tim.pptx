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HOUR: 15 min this deck, 10 min the playbook short version, 35 min working the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STRATEGY HOUSE. Roof = ambition, pillars = the two engines, beam = the commercial ladder, foundation = the machine. Right rail = the three numbers that define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CONVERGENCE. Three arrows, one join. If Tim pushes on any single arrow, the other two still carry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ARSENAL. Three big numbers, each defensible: 65 (apa_v3.json), 24h (pursuit-loop-method.md), 10 (engagement + tests folders).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AMMUNITION BELT. Five chevrons pointing at one target. The propellant row answers “why would they buy it” in three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LEVERAGE STACK. Bottom layer = given (six tiles). Top layer = my four additions. The arrows carry the whole argument: thin layer on a deep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 LADDER. Five rows, today-dot vs target-dot. Row three (category building) is the explicit Tim ask: mentorship where his team is world-class.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FLYWHEEL. Walk it once clockwise, then point right: the wheel is the mechanism, the rail is the money. DEFENSE: year figures are the playbook’s capacity-checked numbers, not aspirations.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OF THE HOUR. Ownership is the development goal, sponsorship is Tim’s currency, the seed is the smallest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93FBFE"/>
                </a:solidFill>
                <a:latin typeface="Libre Franklin"/>
              </a:rPr>
              <a:t>TALENT PROGRAMME · SHYAM × TIM RUTTNER · ONE 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424160" cy="1737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0">
                <a:solidFill>
                  <a:srgbClr val="FFFFFF"/>
                </a:solidFill>
                <a:latin typeface="Libre Franklin"/>
              </a:rPr>
              <a:t>The operator behind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Libre Franklin"/>
              </a:rPr>
              <a:t>the playbook.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5953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C1C4C8"/>
                </a:solidFill>
                <a:latin typeface="Libre Franklin"/>
              </a:rPr>
              <a:t>Seven questions, one exhibit each: the strategy, the why, the arsenal, the ammunition, what I leverage, what I build, and how it all feeds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82296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Shyam · July 2026 · companion to the Product Factory execution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Q1 · WHAT IS THE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strategy: turn value consulting into a product-led P&amp;L.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6812280" cy="603504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1874519"/>
            <a:ext cx="6355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AMBITION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057400"/>
            <a:ext cx="63550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Libre Franklin"/>
              </a:rPr>
              <a:t>The VC function becomes a revenue line that pre-installs Banking 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496312"/>
            <a:ext cx="3346704" cy="175564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15184"/>
            <a:ext cx="3017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ENGINE A ·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34640"/>
            <a:ext cx="301752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Four paid diagnostic SKUs, €15-100K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Each installs a layer: Missions, Nexus, Sentinel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Fees credit forward into the POC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2496312"/>
            <a:ext cx="3346704" cy="175564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615184"/>
            <a:ext cx="3017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ENGINE B ·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834640"/>
            <a:ext cx="301752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AI-native operating model + org design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Sold downstream, on Engine A evidence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Opens the CEO and CHRO door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361688"/>
            <a:ext cx="6812280" cy="40233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443984"/>
            <a:ext cx="6355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WEDGE LADDER · free Inspire  →  €60K wedge  →  €60K Mission POC  →  recurring assurance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873752"/>
            <a:ext cx="6812280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956048"/>
            <a:ext cx="63550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A717C"/>
                </a:solidFill>
                <a:latin typeface="Libre Franklin"/>
              </a:rPr>
              <a:t>FOUNDATIONS · the Cortex machine · evidence discipline · the locked design language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1810512"/>
            <a:ext cx="35204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WHAT SUCCESS LOOKS LIKE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2084831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2176272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59151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3-4 installs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706624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the proof year, €0.4-0.5M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182111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273551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456431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10 a year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803903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the cost-neutral rate, ~€1.2M covered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279392"/>
            <a:ext cx="3520440" cy="969264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370831"/>
            <a:ext cx="3200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THEN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553712"/>
            <a:ext cx="3200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1F3799"/>
                </a:solidFill>
                <a:latin typeface="Libre Franklin"/>
              </a:rPr>
              <a:t>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901183"/>
            <a:ext cx="3200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€30-50K per account per year + gain share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full execution behind each element is the 57-slide playbook; this house is its one-page compression.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Q2 · WHY ARE WE DOING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Why: three currents converge on this move, right now.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3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</a:t>
            </a:fld>
          </a:p>
        </p:txBody>
      </p:sp>
      <p:sp>
        <p:nvSpPr>
          <p:cNvPr id="12" name="Pentagon 11"/>
          <p:cNvSpPr/>
          <p:nvPr/>
        </p:nvSpPr>
        <p:spPr>
          <a:xfrm>
            <a:off x="914400" y="1874519"/>
            <a:ext cx="5989320" cy="1024128"/>
          </a:xfrm>
          <a:prstGeom prst="homePlate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020824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THE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002536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decade shifts from channels to operating models; whoever measures outcomes owns the renewal.</a:t>
            </a:r>
          </a:p>
        </p:txBody>
      </p:sp>
      <p:sp>
        <p:nvSpPr>
          <p:cNvPr id="15" name="Pentagon 14"/>
          <p:cNvSpPr/>
          <p:nvPr/>
        </p:nvSpPr>
        <p:spPr>
          <a:xfrm>
            <a:off x="914400" y="3081528"/>
            <a:ext cx="5989320" cy="1024128"/>
          </a:xfrm>
          <a:prstGeom prst="homePlat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227832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THE FUNCTION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209544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Value consulting must earn its keep: cost-neutral makes it protected, revenue makes it grow.</a:t>
            </a:r>
          </a:p>
        </p:txBody>
      </p:sp>
      <p:sp>
        <p:nvSpPr>
          <p:cNvPr id="18" name="Pentagon 17"/>
          <p:cNvSpPr/>
          <p:nvPr/>
        </p:nvSpPr>
        <p:spPr>
          <a:xfrm>
            <a:off x="914400" y="4288536"/>
            <a:ext cx="5989320" cy="1024128"/>
          </a:xfrm>
          <a:prstGeom prst="homePlate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434840"/>
            <a:ext cx="14630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416551"/>
            <a:ext cx="37947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I am ready for commercial ownership, and the systems I build already scale beyond my own hands.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874519"/>
            <a:ext cx="4224528" cy="3621024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2103120"/>
            <a:ext cx="3657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THE 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395728"/>
            <a:ext cx="3703320" cy="6217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Libre Franklin"/>
              </a:rPr>
              <a:t>A product-led value line serves all three at once.</a:t>
            </a:r>
          </a:p>
        </p:txBody>
      </p:sp>
      <p:sp>
        <p:nvSpPr>
          <p:cNvPr id="24" name="Oval 23"/>
          <p:cNvSpPr/>
          <p:nvPr/>
        </p:nvSpPr>
        <p:spPr>
          <a:xfrm>
            <a:off x="7699248" y="3264408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0416" y="3200400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BACKBASE 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416" y="3392424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pipeline that arrives pre-installed and pre-evidenced</a:t>
            </a:r>
          </a:p>
        </p:txBody>
      </p:sp>
      <p:sp>
        <p:nvSpPr>
          <p:cNvPr id="27" name="Oval 26"/>
          <p:cNvSpPr/>
          <p:nvPr/>
        </p:nvSpPr>
        <p:spPr>
          <a:xfrm>
            <a:off x="7699248" y="3941063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0416" y="3877056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THE TEAM GETS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0416" y="4069080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growth funded by revenue it generates itself</a:t>
            </a:r>
          </a:p>
        </p:txBody>
      </p:sp>
      <p:sp>
        <p:nvSpPr>
          <p:cNvPr id="30" name="Oval 29"/>
          <p:cNvSpPr/>
          <p:nvPr/>
        </p:nvSpPr>
        <p:spPr>
          <a:xfrm>
            <a:off x="7699248" y="4617719"/>
            <a:ext cx="109728" cy="109728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4553712"/>
            <a:ext cx="35661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I 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0416" y="4745736"/>
            <a:ext cx="361188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the leadership step: a line to own and be measured 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4" name="TextBox 33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market thesis is the Banking OS canon; the function thesis is the PDP north star; the third is the talent-programme conversation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Q3 · WHAT DO WE HAVE AT OUR DISPOSAL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At my disposal: evidence, a machine, and a shipped record.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processes in the APA V3 catalog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355848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283 steps, six layers deep, canon-labelled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3831336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conversational cost model (with Mayur + Deepak)</a:t>
            </a:r>
          </a:p>
        </p:txBody>
      </p:sp>
      <p:sp>
        <p:nvSpPr>
          <p:cNvPr id="21" name="Oval 20"/>
          <p:cNvSpPr/>
          <p:nvPr/>
        </p:nvSpPr>
        <p:spPr>
          <a:xfrm>
            <a:off x="1115568" y="4306824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autonomy framework: the value-side twin</a:t>
            </a:r>
          </a:p>
        </p:txBody>
      </p:sp>
      <p:sp>
        <p:nvSpPr>
          <p:cNvPr id="23" name="Oval 22"/>
          <p:cNvSpPr/>
          <p:nvPr/>
        </p:nvSpPr>
        <p:spPr>
          <a:xfrm>
            <a:off x="1115568" y="4782312"/>
            <a:ext cx="82296" cy="8229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98448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Benchmarks + ROI models from the validation cohort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0872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MACHINE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7448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per turn of the Pursuit Loop</a:t>
            </a:r>
          </a:p>
        </p:txBody>
      </p:sp>
      <p:sp>
        <p:nvSpPr>
          <p:cNvPr id="30" name="Oval 29"/>
          <p:cNvSpPr/>
          <p:nvPr/>
        </p:nvSpPr>
        <p:spPr>
          <a:xfrm>
            <a:off x="4745736" y="3355848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28616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Cortex: the VC AgenticOS, launched and governed</a:t>
            </a:r>
          </a:p>
        </p:txBody>
      </p:sp>
      <p:sp>
        <p:nvSpPr>
          <p:cNvPr id="32" name="Oval 31"/>
          <p:cNvSpPr/>
          <p:nvPr/>
        </p:nvSpPr>
        <p:spPr>
          <a:xfrm>
            <a:off x="4745736" y="3831336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28616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Flywheel: telemetry that ships its own fixes</a:t>
            </a:r>
          </a:p>
        </p:txBody>
      </p:sp>
      <p:sp>
        <p:nvSpPr>
          <p:cNvPr id="34" name="Oval 33"/>
          <p:cNvSpPr/>
          <p:nvPr/>
        </p:nvSpPr>
        <p:spPr>
          <a:xfrm>
            <a:off x="4745736" y="4306824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28616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The locked exhibit engine, ratified team default</a:t>
            </a:r>
          </a:p>
        </p:txBody>
      </p:sp>
      <p:sp>
        <p:nvSpPr>
          <p:cNvPr id="36" name="Oval 35"/>
          <p:cNvSpPr/>
          <p:nvPr/>
        </p:nvSpPr>
        <p:spPr>
          <a:xfrm>
            <a:off x="4745736" y="4782312"/>
            <a:ext cx="82296" cy="82296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28616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Publish-without-git, so consultants never stall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74736" y="1783080"/>
            <a:ext cx="3447288" cy="3520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1837943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RECORD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7616" y="2231136"/>
            <a:ext cx="310896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>
                <a:solidFill>
                  <a:srgbClr val="1F3799"/>
                </a:solidFill>
                <a:latin typeface="Libre Franklin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57616" y="2871216"/>
            <a:ext cx="31089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accounts shaped or validated</a:t>
            </a:r>
          </a:p>
        </p:txBody>
      </p:sp>
      <p:sp>
        <p:nvSpPr>
          <p:cNvPr id="43" name="Oval 42"/>
          <p:cNvSpPr/>
          <p:nvPr/>
        </p:nvSpPr>
        <p:spPr>
          <a:xfrm>
            <a:off x="8375904" y="3355848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58784" y="3255264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SNB Capital · BACB · ABSA ×5 workstreams</a:t>
            </a:r>
          </a:p>
        </p:txBody>
      </p:sp>
      <p:sp>
        <p:nvSpPr>
          <p:cNvPr id="45" name="Oval 44"/>
          <p:cNvSpPr/>
          <p:nvPr/>
        </p:nvSpPr>
        <p:spPr>
          <a:xfrm>
            <a:off x="8375904" y="3831336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58784" y="3730752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HSBC · Schroders · SEB · NFIS</a:t>
            </a:r>
          </a:p>
        </p:txBody>
      </p:sp>
      <p:sp>
        <p:nvSpPr>
          <p:cNvPr id="47" name="Oval 46"/>
          <p:cNvSpPr/>
          <p:nvPr/>
        </p:nvSpPr>
        <p:spPr>
          <a:xfrm>
            <a:off x="8375904" y="4306824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4206240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BECU, WSFS, MyState pipeline validations</a:t>
            </a:r>
          </a:p>
        </p:txBody>
      </p:sp>
      <p:sp>
        <p:nvSpPr>
          <p:cNvPr id="49" name="Oval 48"/>
          <p:cNvSpPr/>
          <p:nvPr/>
        </p:nvSpPr>
        <p:spPr>
          <a:xfrm>
            <a:off x="8375904" y="4782312"/>
            <a:ext cx="82296" cy="8229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58784" y="4681728"/>
            <a:ext cx="2926080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Nordic FinTech Forum 2026: the public POV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Counts are auditable in the Cortex repository: the APA catalog, the pursuit-loop method file, engagement and validation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Q4 · WHAT AMMUNITION DO WE FIRE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ammunition: five loaded offers and eight EAP slots.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FIVE ROUNDS · SHADE = FEASIBILITY TODAY</a:t>
            </a:r>
          </a:p>
        </p:txBody>
      </p:sp>
      <p:sp>
        <p:nvSpPr>
          <p:cNvPr id="13" name="Chevron 12"/>
          <p:cNvSpPr/>
          <p:nvPr/>
        </p:nvSpPr>
        <p:spPr>
          <a:xfrm>
            <a:off x="914400" y="2057400"/>
            <a:ext cx="2194560" cy="841248"/>
          </a:xfrm>
          <a:prstGeom prst="chevron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Process X-Ray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€50-75K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Prices the leakage; lands the Mission backlog</a:t>
            </a:r>
          </a:p>
        </p:txBody>
      </p:sp>
      <p:sp>
        <p:nvSpPr>
          <p:cNvPr id="17" name="Chevron 16"/>
          <p:cNvSpPr/>
          <p:nvPr/>
        </p:nvSpPr>
        <p:spPr>
          <a:xfrm>
            <a:off x="2962656" y="2057400"/>
            <a:ext cx="2194560" cy="841248"/>
          </a:xfrm>
          <a:prstGeom prst="chevron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8144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Value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€15-50K+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Cost per outcome; opens the recurring line</a:t>
            </a:r>
          </a:p>
        </p:txBody>
      </p:sp>
      <p:sp>
        <p:nvSpPr>
          <p:cNvPr id="21" name="Chevron 20"/>
          <p:cNvSpPr/>
          <p:nvPr/>
        </p:nvSpPr>
        <p:spPr>
          <a:xfrm>
            <a:off x="5010912" y="2057400"/>
            <a:ext cx="2194560" cy="841248"/>
          </a:xfrm>
          <a:prstGeom prst="chevron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Guardrail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€50-100K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Policy into rules; loads Sentinel</a:t>
            </a:r>
          </a:p>
        </p:txBody>
      </p:sp>
      <p:sp>
        <p:nvSpPr>
          <p:cNvPr id="25" name="Chevron 24"/>
          <p:cNvSpPr/>
          <p:nvPr/>
        </p:nvSpPr>
        <p:spPr>
          <a:xfrm>
            <a:off x="7059168" y="2057400"/>
            <a:ext cx="2194560" cy="841248"/>
          </a:xfrm>
          <a:prstGeom prst="chevron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34656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Cartographer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34656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€75-100K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Data into truth; scopes Nexus</a:t>
            </a:r>
          </a:p>
        </p:txBody>
      </p:sp>
      <p:sp>
        <p:nvSpPr>
          <p:cNvPr id="29" name="Chevron 28"/>
          <p:cNvSpPr/>
          <p:nvPr/>
        </p:nvSpPr>
        <p:spPr>
          <a:xfrm>
            <a:off x="9107424" y="2057400"/>
            <a:ext cx="2194560" cy="841248"/>
          </a:xfrm>
          <a:prstGeom prst="chevron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2176272"/>
            <a:ext cx="16459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Org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2395728"/>
            <a:ext cx="1600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€80-150K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3017520"/>
            <a:ext cx="1956816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The inverted-T org; the CHRO door</a:t>
            </a:r>
          </a:p>
        </p:txBody>
      </p:sp>
      <p:sp>
        <p:nvSpPr>
          <p:cNvPr id="33" name="Oval 32"/>
          <p:cNvSpPr/>
          <p:nvPr/>
        </p:nvSpPr>
        <p:spPr>
          <a:xfrm>
            <a:off x="10753344" y="2048256"/>
            <a:ext cx="859536" cy="85953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53344" y="2286000"/>
            <a:ext cx="859536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the
POC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3886200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THE PROPELLANT · WHAT MAKES EACH ROUND FIRE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8 EAP slots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nominated, never tendered; co-creation as the route past procurement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44568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44568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27448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Specimen packs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7448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the exact artifacts shown before any signature; the bank buys a known object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74736" y="4160520"/>
            <a:ext cx="3447288" cy="8412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4736" y="4215384"/>
            <a:ext cx="41148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57616" y="4251960"/>
            <a:ext cx="31089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Credit-forward fees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57616" y="4480560"/>
            <a:ext cx="315468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100% of the wedge credits into the POC; budget is never spent on a maybe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25780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37210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Every round is aimed at the same target: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a live Mission POC that installs Banking OS.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80176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53328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Shades: solid blue = high feasibility, mid = gated, light = a named dependency. Detail: playbook short version, slide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Q5 · WHAT DO I LEVERAGE FROM BACKBASE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From Backbase I leverage the platform; I add the packaging.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10705795" cy="11704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1938528"/>
            <a:ext cx="5486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WHAT I ADD ON TOP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71016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Productized packaging +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67328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value-evidence method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91656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The org-design practice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5984" y="2212848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 w="11430">
            <a:solidFill>
              <a:srgbClr val="93FBF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267712"/>
            <a:ext cx="2240280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Category collateral, with your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072384"/>
            <a:ext cx="3657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066F5"/>
                </a:solidFill>
                <a:latin typeface="Libre Franklin"/>
              </a:rPr>
              <a:t>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3419856"/>
            <a:ext cx="10705795" cy="192024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547872"/>
            <a:ext cx="73152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WHAT BACKBASE ALREADY GIVES ME · NOTHING HERE NEEDS BUILDING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930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Factory tooling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Designer, Modeler, Connector Studio, Simulation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6402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Nexus + Sentinel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402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the product the wedges pre-install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2440" y="384048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90448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The EAP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413308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8 slots of co-creation currency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930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AE channel + brand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930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accounts, trust, the 120+ logo base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6402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The cost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6402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Mayur + Deepak’s supply-side truth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572000"/>
            <a:ext cx="3291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8744" y="4636008"/>
            <a:ext cx="30175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FDE capacity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38744" y="4864608"/>
            <a:ext cx="30632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Mission Sprints staffed at install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48640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60070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ask is leverage, never construction: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I package what the company already built.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4400" y="6016751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8" name="TextBox 47"/>
          <p:cNvSpPr txBox="1"/>
          <p:nvPr/>
        </p:nvSpPr>
        <p:spPr>
          <a:xfrm>
            <a:off x="914400" y="6089903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This is why the build effort stays at person-weeks: every SKU productizes an existing Factory tool.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Q6 · WHAT AM I BUILDING IN MYSELF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skills I am building: from consultant to line owner.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7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18288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5F7DF7"/>
                </a:solidFill>
                <a:latin typeface="Libre Franklin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783080"/>
            <a:ext cx="16459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130552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Commercial ownership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240280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16" name="Oval 15"/>
          <p:cNvSpPr/>
          <p:nvPr/>
        </p:nvSpPr>
        <p:spPr>
          <a:xfrm>
            <a:off x="6793992" y="2167128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61304" y="2350008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shaping deals</a:t>
            </a:r>
          </a:p>
        </p:txBody>
      </p:sp>
      <p:sp>
        <p:nvSpPr>
          <p:cNvPr id="18" name="Oval 17"/>
          <p:cNvSpPr/>
          <p:nvPr/>
        </p:nvSpPr>
        <p:spPr>
          <a:xfrm>
            <a:off x="11201400" y="2148840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1965960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owning a quota and a P&amp;L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88920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Product management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6120" y="2898648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22" name="Oval 21"/>
          <p:cNvSpPr/>
          <p:nvPr/>
        </p:nvSpPr>
        <p:spPr>
          <a:xfrm>
            <a:off x="6391656" y="2825496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3008375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delivery kits</a:t>
            </a:r>
          </a:p>
        </p:txBody>
      </p:sp>
      <p:sp>
        <p:nvSpPr>
          <p:cNvPr id="24" name="Oval 23"/>
          <p:cNvSpPr/>
          <p:nvPr/>
        </p:nvSpPr>
        <p:spPr>
          <a:xfrm>
            <a:off x="11201400" y="2807208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2624327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SKU lifecycle: price, launch, iterate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447288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Category building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557016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28" name="Oval 27"/>
          <p:cNvSpPr/>
          <p:nvPr/>
        </p:nvSpPr>
        <p:spPr>
          <a:xfrm>
            <a:off x="5989320" y="3483864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56631" y="3666744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deck-level narrative</a:t>
            </a:r>
          </a:p>
        </p:txBody>
      </p:sp>
      <p:sp>
        <p:nvSpPr>
          <p:cNvPr id="30" name="Oval 29"/>
          <p:cNvSpPr/>
          <p:nvPr/>
        </p:nvSpPr>
        <p:spPr>
          <a:xfrm>
            <a:off x="11201400" y="3465576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3282696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launch collateral with your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105656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Executive altitude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46120" y="4215384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34" name="Oval 33"/>
          <p:cNvSpPr/>
          <p:nvPr/>
        </p:nvSpPr>
        <p:spPr>
          <a:xfrm>
            <a:off x="7598664" y="4142232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5976" y="4325112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COO and ops rooms</a:t>
            </a:r>
          </a:p>
        </p:txBody>
      </p:sp>
      <p:sp>
        <p:nvSpPr>
          <p:cNvPr id="36" name="Oval 35"/>
          <p:cNvSpPr/>
          <p:nvPr/>
        </p:nvSpPr>
        <p:spPr>
          <a:xfrm>
            <a:off x="11201400" y="4123944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3941064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CEO and CHRO conversations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764024"/>
            <a:ext cx="21945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Org-design practice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4873752"/>
            <a:ext cx="8046720" cy="0"/>
          </a:xfrm>
          <a:prstGeom prst="line">
            <a:avLst/>
          </a:prstGeom>
          <a:ln w="17780">
            <a:solidFill>
              <a:srgbClr val="D2D4D8"/>
            </a:solidFill>
          </a:ln>
          <a:effectLst/>
          <a:effectLst/>
        </p:spPr>
      </p:cxnSp>
      <p:sp>
        <p:nvSpPr>
          <p:cNvPr id="40" name="Oval 39"/>
          <p:cNvSpPr/>
          <p:nvPr/>
        </p:nvSpPr>
        <p:spPr>
          <a:xfrm>
            <a:off x="5586983" y="4800600"/>
            <a:ext cx="146304" cy="146304"/>
          </a:xfrm>
          <a:prstGeom prst="ellipse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54296" y="4983480"/>
            <a:ext cx="20116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method v0.1 on paper</a:t>
            </a:r>
          </a:p>
        </p:txBody>
      </p:sp>
      <p:sp>
        <p:nvSpPr>
          <p:cNvPr id="42" name="Oval 41"/>
          <p:cNvSpPr/>
          <p:nvPr/>
        </p:nvSpPr>
        <p:spPr>
          <a:xfrm>
            <a:off x="11201400" y="4782312"/>
            <a:ext cx="182880" cy="182880"/>
          </a:xfrm>
          <a:prstGeom prst="ellipse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4599432"/>
            <a:ext cx="22860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3799"/>
                </a:solidFill>
                <a:latin typeface="Libre Franklin"/>
              </a:rPr>
              <a:t>a flagship practice, evidence-fed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544068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55498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This is the development ask: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gap between the dots is what the programme and your sponsorship close.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5980176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7" name="TextBox 46"/>
          <p:cNvSpPr txBox="1"/>
          <p:nvPr/>
        </p:nvSpPr>
        <p:spPr>
          <a:xfrm>
            <a:off x="914400" y="6053328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Category building is the row where the CMO track matters most: I want to learn launching from the people who launch.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Q7 · HOW DOES IT FEED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flywheel: every install makes the next sale cheaper.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8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3703320" y="2130552"/>
            <a:ext cx="1362057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3" name="Connector 12"/>
          <p:cNvCxnSpPr/>
          <p:nvPr/>
        </p:nvCxnSpPr>
        <p:spPr>
          <a:xfrm>
            <a:off x="5065377" y="2916936"/>
            <a:ext cx="0" cy="1572768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4" name="Connector 13"/>
          <p:cNvCxnSpPr/>
          <p:nvPr/>
        </p:nvCxnSpPr>
        <p:spPr>
          <a:xfrm flipH="1">
            <a:off x="3703320" y="4489704"/>
            <a:ext cx="1362057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5" name="Connector 14"/>
          <p:cNvCxnSpPr/>
          <p:nvPr/>
        </p:nvCxnSpPr>
        <p:spPr>
          <a:xfrm flipH="1" flipV="1">
            <a:off x="2341262" y="4489704"/>
            <a:ext cx="1362058" cy="786384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2341262" y="2916935"/>
            <a:ext cx="0" cy="1572769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2341262" y="2130552"/>
            <a:ext cx="1362058" cy="786383"/>
          </a:xfrm>
          <a:prstGeom prst="line">
            <a:avLst/>
          </a:prstGeom>
          <a:ln w="15240">
            <a:solidFill>
              <a:srgbClr val="D2D4D8"/>
            </a:solidFill>
          </a:ln>
          <a:effectLst/>
          <a:effectLst/>
        </p:spPr>
      </p:cxnSp>
      <p:sp>
        <p:nvSpPr>
          <p:cNvPr id="18" name="Oval 17"/>
          <p:cNvSpPr/>
          <p:nvPr/>
        </p:nvSpPr>
        <p:spPr>
          <a:xfrm>
            <a:off x="3044952" y="3044952"/>
            <a:ext cx="1316736" cy="1316736"/>
          </a:xfrm>
          <a:prstGeom prst="ellipse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44952" y="3319272"/>
            <a:ext cx="1316736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93FBFE"/>
                </a:solidFill>
                <a:latin typeface="Libre Franklin"/>
              </a:rPr>
              <a:t>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39" y="3721607"/>
            <a:ext cx="12801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compounds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70632" y="1847088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25496" y="2011680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6391" y="1911095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Free wedge qualifies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32689" y="2633472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87553" y="2798064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449" y="2697480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Paid install lands 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2689" y="4206240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187553" y="4370832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449" y="4270248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Evidence harvested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0632" y="4992624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25496" y="5157216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36391" y="5056631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Kits sharpen; next sale cheaper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08574" y="4206240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63438" y="4370832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4334" y="4270248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Platform pull: POC + licence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08574" y="2633471"/>
            <a:ext cx="1865376" cy="56692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63438" y="2798063"/>
            <a:ext cx="237744" cy="23774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900" b="1">
                <a:solidFill>
                  <a:srgbClr val="FFFFFF"/>
                </a:solidFill>
                <a:latin typeface="Libre Franklin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4334" y="2697479"/>
            <a:ext cx="1444752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1">
                <a:solidFill>
                  <a:srgbClr val="071224"/>
                </a:solidFill>
                <a:latin typeface="Libre Franklin"/>
              </a:rPr>
              <a:t>Telemetry recurs €, funds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10512"/>
            <a:ext cx="39319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HOW THE WHEEL PAYS OUT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89520" y="2103120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176272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350008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€0.4-0.5M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2670048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3-4 installs, one per family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3072384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45536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YEAR TWO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3319272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~€1.2M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639312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ten installs a year: cost-neutral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4041648"/>
            <a:ext cx="4041648" cy="859536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0" y="4114800"/>
            <a:ext cx="36576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LAYERED ON TOP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4288536"/>
            <a:ext cx="23774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€30-50K /acct /yr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4608576"/>
            <a:ext cx="3703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telemetry recurrence + gain share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0" y="5047488"/>
            <a:ext cx="4041648" cy="603504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5148072"/>
            <a:ext cx="3584448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C5E48"/>
                </a:solidFill>
                <a:latin typeface="Libre Franklin"/>
              </a:rPr>
              <a:t>Unsized · </a:t>
            </a:r>
            <a:r>
              <a:rPr sz="1150" b="0">
                <a:solidFill>
                  <a:srgbClr val="071224"/>
                </a:solidFill>
                <a:latin typeface="Libre Franklin"/>
              </a:rPr>
              <a:t>licence pull-through from installs; sized with finance once the pilot lands.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5" name="TextBox 5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wheel’s discipline: node 3 is the moat (evidence nobody else holds) and node 6 pays for node 1’s next 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ASK · WHERE THIS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I am asking for ownership, sponsorship and a seed, in order.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9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9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4572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spc="100">
                <a:solidFill>
                  <a:srgbClr val="6A717C"/>
                </a:solidFill>
                <a:latin typeface="Libre Franklin"/>
              </a:rPr>
              <a:t>THE MOVE I AM MAKING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senior consultant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Line P&amp;L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owner of the products + services line, with a real quota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474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933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one pair of hands 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933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Cortex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933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the team runs what I build: the AgenticOS, kits, methods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deliverables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Installs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every engagement leaves Banking OS components behind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420" y="2084831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0012" y="2203703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€5,000 budget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0012" y="2450591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0012" y="2862072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product one packaged, demoed and launched with marketing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474720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3529584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3538727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1 · A named path to owning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3566160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The leadership development I want is commercial ownership: the product + services P&amp;L, reviewed on revenue.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133087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400" y="4187951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3856" y="4197096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2 · ExCo-altitude sponsorship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4224527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CMO air cover on the category story and launch collateral; a door to the EAP nominations.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791456"/>
            <a:ext cx="10705795" cy="5669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4846320"/>
            <a:ext cx="41148" cy="45720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3856" y="4855464"/>
            <a:ext cx="352044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3 · The €5,000 as seed, not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4882896"/>
            <a:ext cx="667512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It funds the Process X-Ray launch kit; the course it replaces would have taught me less than January will.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550468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561898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Judge me on January: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one product in market, sold exactly the way the playbook says.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6044183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4" name="TextBox 43"/>
          <p:cNvSpPr txBox="1"/>
          <p:nvPr/>
        </p:nvSpPr>
        <p:spPr>
          <a:xfrm>
            <a:off x="914400" y="611733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measurable commitments behind this sit in the playbook: proof-year targets, gates and the honest capacity math (chapters 05-06).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