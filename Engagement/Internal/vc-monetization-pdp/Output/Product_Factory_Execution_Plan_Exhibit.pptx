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COVER. One line and move: the function stops being a cost centre; here is the twelve-month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 OPENER. One breath: we stop selling reports; every paid engagement installs a component of Banking OS and pre-writes the next purchase.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offer passes the three-part filter: earns a fee, harvests proprietary evidence, pre-binds a Banking OS layer.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DEFENSE: the year-one number is deliberately conservative (capacity math, chapter 06). Overpromising year one burns the line’s credibility.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Tim: this is also the category story — co-innovation with named design partners, not another vendor diagnostic.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Must-have = the strategy already needs this to be true (cost program + AI ambition). Good-to-have = innovation-led, perfect EAP design partners.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the ten minutes here. If Tim asks for depth on any slide, the playbook chapter is the backup.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three-part design filter from the 29 Jun PDP session. Product-proximate is the moat; customer-proximate is space we 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PDP workstream 4. The moat: generic consultancies can run org design; only we can run it on the bank’s own autonomy evidence (X-Ray scores, Guardrail authority maps, telemetry).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 GRID. DEFENSE: the €1.2M is a working figure, owned by finance to confirm; the 10-install bar moves with it. Year-one phasing is in the critique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T03 segmented bar, to scale on the €120K package. Rung 0 free = funnel; rung 3 = the flywheel.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BRIDGE SLIDE. Vertically: rung = lifecycle stage the bank pays for. Horizontally: exit artifact = entry contract. The account never buys a maybe.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gates: Concept = qualified sponsor. Design = signed SoW + data access. Prototype = demo on client data. Proof = CFO-grade evidence. Proposal = offer + named Mission. Signature = order form. Install = layer live + expansion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CHAIN. This is what makes the wedge convert instead of inform.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allocation ask. The SE is the critical unlock; naming one person is ask #1.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T10 concern-answer. Use verbatim in the Tim and Mayur conversations; every answer is evidence-backed.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 to “why would a bank buy one layer”: it buys a Mission. The wedge only decides which lens goes deep.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productized Process &amp; Workspace Designer. ~60% of bank work lives between systems; the X-Ray prices that whitespace.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specimen pack: shown in the free wedge so the bank buys a known object. DEFENSE: all figures placeholders until re-based on client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diamond = decision Mayur owns (pilot green-light). Blue diamond = first revenue.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the Semantic Modeler. Ontology is key to every use case, so the lens ships thin in every wedge; this SKU is the deep version.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Coverage map opens the door; the truth-gap card carries the money argument. DEFENSE: placeholders until re-based.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 needs shared truth, so every RI opportunity is a Cartographer prospect.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Productizes Decision &amp; Policy. Sentinel = authority, policies, entitlements, with immutable auditability.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rule card changes the conversation: policy as executable, auditable logic. DEFENSE: placeholders until re-based.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Sells best where a Conversational Banking deal is already in flight and risk is the blocker.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Backlog items 2.2 (keystone) + 2.3 (SKU). Partner with Aayushi on value assurance.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waste register is the fastest trust-builder. DEFENSE: placeholders until re-based; gain-share is only offered where telemetry is installed.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keystone study is the single hardest dependency; it gates the whole recurring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PDP workstream 4. New roles per the backlog: Chief Agentic Operations Officer, Mission Owners, AgentOps, Nexus Stewards, Sentinel Governance, Exception Desks, Workforce Transition office.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Citibank framing: in the loop, on the loop, out of the loop. Ours: in (A1-A3), on (A4), above (A5), plus the not-delegated zone which risk owns. Detail nodes per posture.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is possible vs not possible. The not-permitted list is a starting position drawn from typical bank policy; each bank redraws it from its own delegation of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transition path from the PDP backlog (4.3). This is the slide that turns the org chart from a poster into a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Answers “how do we transition people to the right-hand side”: show the evidence (X-Ray), co-design roles with the floor, build the three skill sets, form exception desks, track % time on judgment work as the success metric.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pyramid-to-inverted-T exhibit is the flagship visual: the org chart follows the autonomy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to execute Engine B. The signed W6 roadmap is the deliverable that converts into the Workforce Transition office and the next Missions.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Coral diamond = the sequencing rule decision (never sold cold). This is the fifth row of the critique chapter.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one table (T13). Presentation order by layer logic; build order optimizes risk (see roadmap).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missing connection the consultant flagged: selling POCs with go-live is powerful only when the POC lands under a funded objective. This chain is the qualification test in the free wedge.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five-year-strategy lens the consultant asked for. Must-have = the strategy already needs this to be true. DEFENSE: classification is evidence-based (public signals), refreshed quarterly.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T04 waves. Sequencing: X-Ray first (lowest risk), Telemetry parallel (shares the keystone), Guardrail rides the Conversational pipeline, Cartographer lands on X-Ray demand.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PDP insight: the Factory already contains the discovery-end tools. Delivery cost stays at person-weeks.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Tim: the talent budget is seed capital for a product launch. For Mayur: the same asks already on the PDP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hidden assumptions. Validating the first three in September de-risks the sequence; EAP eligibility gates nominations.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free wedge exists partly to discover the sponsor’s threshold and the bank’s procurement rules before anything is priced.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nomination against program criteria is a selection, so procurement has nothing to tender. Scarcity creates urgency without discounting.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Mechanics 1-2 prevent the RFP trigger; 3-4 defuse the budget-on-a-maybe fear; 5 defuses the captive-diagnostic objection.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Self-critique per the repo’s conservative-bias standard. Overpromising year one burns the credibility the whole line depends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five go on the Mayur 1:1 agenda with the four asks. The EAP row also gates the Tim conversation.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CLOSE. The three this-week actions are the whole ask; everything else in the deck exists to earn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8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0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8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9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VALUE CONSULTING · PDP · INTERNAL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058400" cy="1737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0">
                <a:solidFill>
                  <a:srgbClr val="FFFFFF"/>
                </a:solidFill>
                <a:latin typeface="Libre Franklin"/>
              </a:rPr>
              <a:t>Product Factory: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Libre Franklin"/>
              </a:rPr>
              <a:t>from concept to revenue.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977639"/>
            <a:ext cx="859536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500" b="0">
                <a:solidFill>
                  <a:srgbClr val="C1C4C8"/>
                </a:solidFill>
                <a:latin typeface="Libre Franklin"/>
              </a:rPr>
              <a:t>Four paid product wedges that pre-install Banking OS: prove the model in year one, reach cost neutrality in year two, open a recurring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806440"/>
            <a:ext cx="914400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Shyam · July 2026 · for the talent programme (Tim Ruttner) and the PDP track (Mayur)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short version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Six slides for a ten-minute read. The full playbook behind them starts at chapter 01.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PLAY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We sell paid discovery that leaves Banking OS installed.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0 ·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Ignite Inspire: ~4 meetings surface the evidence and the wedge choice.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1460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58775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0604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1 · €60K wedge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6207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 product diagnostic on the bank’s own data: X-Ray, Cartographer, Guardrail or Telemetry.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24612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1927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33756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2 · €60K Mission POC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93591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top candidate goes live in 6-12 weeks via the Factory. Wedge fee credits 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4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05079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06908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32511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Value Assurance: quarterly cost-per-outcome proof that funds the next domain.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28346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TWO ENGINES, ONE WEDGE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Products install the technical layers; services install the human layer.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35661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Engine A (four product SKUs) pre-binds Nexus, Sentinel and Missions. Engine B (AI-native operating model) redesigns the org that runs them. B never sells cold.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one-liner: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5" name="TextBox 3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Full detail: chapters 01-02. Canon: knowledge/product/banking-os.md.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LINE-UP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offers, one motion: each installs part of Banking OS.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Process X-Ray · €50-75K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10340035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Prices the leakage in real work; installs the Mission backlog + integration map. First revenue Jan 2027.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14600"/>
            <a:ext cx="10705795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58775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06040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Value Telemetry · €15-50K + share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62072"/>
            <a:ext cx="10340035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Cost per resolved outcome on live AI; the recurring line. First revenue Jan 2027.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246120"/>
            <a:ext cx="10705795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1927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337560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Guardrail Studio · €50-100K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93591"/>
            <a:ext cx="10340035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Turns policy into executable rules; installs Sentinel readiness. First revenue Jun 2027.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40"/>
            <a:ext cx="10705795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05079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069080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Ontology Cartographer · €75-100K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325112"/>
            <a:ext cx="10340035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Maps scattered data to shared truth; installs the Nexus blueprint. First revenue Aug 2027.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709160"/>
            <a:ext cx="10705795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478231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15568" y="4800600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AI-Native Org Design · €80-150K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5568" y="5056632"/>
            <a:ext cx="10340035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Engine B flagship: the inverted-T target org, sold downstream of a wedge. First revenue May 2027.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Tickets are price points to pressure-test (chapter 05 assumptions). Every wedge ships all four lenses; the SKU sets which one goes deep.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proof year, then a cost-neutral line with recurring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874519"/>
            <a:ext cx="45720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 spc="100">
                <a:solidFill>
                  <a:srgbClr val="6A717C"/>
                </a:solidFill>
                <a:latin typeface="Libre Franklin"/>
              </a:rPr>
              <a:t>WHAT THE PLAN MOVES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Year one 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3-4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paid installs, one per product family (€0.4-0.5M)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3474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933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Year two  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933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10+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933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installs a year: the cost-neutral rate (~€1.2M covered)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967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First revenue  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Jan 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1967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X-Ray and Telemetry first signatures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75420" y="2194560"/>
            <a:ext cx="2537460" cy="110642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40012" y="2313432"/>
            <a:ext cx="22082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6A717C"/>
                </a:solidFill>
                <a:latin typeface="Libre Franklin"/>
              </a:rPr>
              <a:t>Recurring  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0012" y="2560320"/>
            <a:ext cx="2208276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000" b="1">
                <a:solidFill>
                  <a:srgbClr val="1F3799"/>
                </a:solidFill>
                <a:latin typeface="Libre Franklin"/>
              </a:rPr>
              <a:t>€30-50K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0012" y="2971800"/>
            <a:ext cx="2208276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a year per account, plus 15-35% gain share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3749039"/>
            <a:ext cx="5120640" cy="74980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3749039"/>
            <a:ext cx="4663440" cy="749808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re Franklin"/>
              </a:rPr>
              <a:t>Cost neutral in year two; beyond dot ten it is a revenue 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55080" y="3785615"/>
            <a:ext cx="5257800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Capacity-checked: 1.5 FTE pod caps year one at 4-5 installs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Year-two scale is funded by year-one revenue, delivering from kits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Team cost ~€1.2M is the PDP working figure, owned by finance to validate. Full math: chapter 06, honest critique.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ROUTE TO YES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Banks buy it by nomination, with the fee crediting forward.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Early Access nomination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8 slots remain in the mid-year cohort. Nominated against program criteria; nothing for procurement to tender.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15768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88920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80720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fee credits forward,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063239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On conversion the wedge fee credits into the Mission POC. The budget is never spent on a maybe.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648456"/>
            <a:ext cx="5394960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721608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73989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bank owns the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995928"/>
            <a:ext cx="502920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Vendor-neutral artifacts, a 10×-value-or-free floor, and the specimen pack shown before any signature.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783080"/>
            <a:ext cx="5074920" cy="27432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NOMINATED, NEVER TENDERED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Co-creation is the answer to “why you, you are new”.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347472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Roadmap influence, engineering at the table, joint proof. Scarcity is honest: when the slots are gone, the cohort closes.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4709160"/>
            <a:ext cx="5074920" cy="5669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66560" y="4809744"/>
            <a:ext cx="4617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Open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EAP eligibility (new logos vs existing customers) to confirm with the program owner.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1" name="TextBox 3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Full buying-criteria and pre-RFP mechanics: chapter 06.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WHO NEEDS IT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Must-have accounts show the pressure and the stated ambition.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7</a:t>
            </a:fld>
          </a:p>
        </p:txBody>
      </p:sp>
      <p:sp>
        <p:nvSpPr>
          <p:cNvPr id="12" name="Rectangle 11"/>
          <p:cNvSpPr/>
          <p:nvPr/>
        </p:nvSpPr>
        <p:spPr>
          <a:xfrm>
            <a:off x="914400" y="187451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94760" y="1874519"/>
            <a:ext cx="2880360" cy="1508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338327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94760" y="3383279"/>
            <a:ext cx="2880360" cy="1508760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0" y="196596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1F3799"/>
                </a:solidFill>
                <a:latin typeface="Libre Franklin"/>
              </a:rPr>
              <a:t>MUST-HAVE NOW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2185415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High cost pressure + stated AI ambition. Lead with X-Ray + EAP nomination.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196596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MUST-HAVE SOON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2185415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High pressure, ambition not yet articulated. Sell the ambition with the free wedge.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31920" y="347472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GOOD-TO-HAVE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694176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Ambition without pressure: innovation budgets, ideal EAP candidates.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474720"/>
            <a:ext cx="26060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LATER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3694176"/>
            <a:ext cx="260604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6A717C"/>
                </a:solidFill>
                <a:latin typeface="Libre Franklin"/>
              </a:rPr>
              <a:t>Neither yet visible. Keep in the free-wedge funnel.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983479"/>
            <a:ext cx="576072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STATED AI / DIGITAL AMBITION 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1600200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↑ STRATEGIC COST PRESSURE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086600" y="1874519"/>
            <a:ext cx="4526280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2029968"/>
            <a:ext cx="41148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SIGNALS TO READ (5-YEAR STRATEGY)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2304288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Cost-income guidance and named cost programs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9480" y="2615184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AI or agentic ambition stated in the strategy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69480" y="2926080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Branch and headcount reduction targets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323697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Digital attacker pressure in home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69480" y="3547872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M&amp;A integration or regulatory remediation load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Week one with the AEs: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classify the account list against these signals.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Archetypes, never named accounts on slides; classify real accounts from annual-report signals with the AE. Full version: chapter 04.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THE SHORT VERSION · THE 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Three decisions this week put product one in market.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1 · The Mayur 1:1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Quota treatment, pilot green-light, the named SE at 0.5 FTE, and the five open decisions of chapter 06.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715768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788920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807208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2 · EAP eligibility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063239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Confirm with the program owner whether the 8 slots take new logos, existing customers, or both; shortlist nominations.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648456"/>
            <a:ext cx="10705795" cy="8229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721608"/>
            <a:ext cx="41148" cy="6766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739896"/>
            <a:ext cx="10340035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3 · The Tim track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995928"/>
            <a:ext cx="10340035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Category story and launch collateral with marketing; the €5,000 talent budget becomes seed capital for Process X-Ray.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84632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96062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Everything else in this deck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exists to earn these three decisions.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full ask set and the honest critique behind the revised targets: chapters 05-06.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frameworks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thesis, the filter, the economics, the ladder and lifecycle, and the pod that runs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Every product earns a fee, harvests reality, installs the OS.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1 · It earns a fee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Each install is paid work at €15-100K, priced as a product with a fixed scope and a delivery kit.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916936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990088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00837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2 · It harvests proprietary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264408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engagement captures the bank’s real processes, data structures and policies. Evidence only Backbase holds.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4050791"/>
            <a:ext cx="5394960" cy="1005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4123944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142231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Test 3 · It pre-binds a Banking OS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4398264"/>
            <a:ext cx="5029200" cy="58521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output is a working component: Nexus, Sentinel or a Mission candidate, already present in the account.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37960" y="1783080"/>
            <a:ext cx="5074920" cy="324612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ONE-LINER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Paid discovery that leaves the platform installed.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93992" y="3977639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Each engagement ends with a live Banking OS component in the account, a quantified expansion case for the AE, and account intelligence competitors never see.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9" name="TextBox 2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Filter rule: a candidate that fails any one test is consulting and stays out of the line. Aligned to the Banking OS canon (banking-os.md).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TWO ENGINES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products harvest evidence; the services redesign the bank.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257800" cy="288036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2144" y="1947672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ENGINE A · PRODUCT FACTORY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2144" y="2194560"/>
            <a:ext cx="47548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071224"/>
                </a:solidFill>
                <a:latin typeface="Libre Franklin"/>
              </a:rPr>
              <a:t>Installs the technical layers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" y="2560320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Four SKUs: X-Ray, Cartographer, Guardrail, Telemetry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" y="2852927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Pre-binds Nexus, Sentinel and Mission candidates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52144" y="3145536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Earns €15-100K per install; fees credit 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2144" y="3438144"/>
            <a:ext cx="484632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· Harvests the account evidence nobody else holds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52144" y="4315968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→ the evidence engine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1783080"/>
            <a:ext cx="5257800" cy="28803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2824" y="1947672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ENGINE B · AI-NATIVE SERVICES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194560"/>
            <a:ext cx="47548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50" b="1">
                <a:solidFill>
                  <a:srgbClr val="FFFFFF"/>
                </a:solidFill>
                <a:latin typeface="Libre Franklin"/>
              </a:rPr>
              <a:t>Installs the human layer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560320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Maturity Assessment, Workforce Optimization, and the flagship AI-Native Org Design (v0.1 exists)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92824" y="2990087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Redesigns the org chart on the A1-A5 autonomy curve: pyramid to inverted-T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92824" y="3419856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Pre-binds the roles that run Banking OS: Mission Owners, AgentOps, Exception Desks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92824" y="3849624"/>
            <a:ext cx="484632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· Earns €80-150K per engagement (to validate)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2824" y="4315968"/>
            <a:ext cx="47548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→ the operating-model engine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Sequencing rule: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Engine B never sells cold; it runs on Engine A’s harvested evidence.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1" name="TextBox 3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Engine B passes the same three tests when fed by Engine A. Ticket range is an assumption to validate against market org-design pricing.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ECONOMICS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Ten installs cover the team cost; every one beyond is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12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874519"/>
            <a:ext cx="58521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00" b="0">
                <a:solidFill>
                  <a:srgbClr val="6A717C"/>
                </a:solidFill>
                <a:latin typeface="Libre Franklin"/>
              </a:rPr>
              <a:t>One dot = one paid install a year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002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860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718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6576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3434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0292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15000" y="22402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14400" y="29260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600200" y="2926080"/>
            <a:ext cx="402336" cy="402336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2860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9718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576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3434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292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715000" y="2926080"/>
            <a:ext cx="402336" cy="402336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14400" y="3931920"/>
            <a:ext cx="146304" cy="14630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3895344"/>
            <a:ext cx="29260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A717C"/>
                </a:solidFill>
                <a:latin typeface="Libre Franklin"/>
              </a:rPr>
              <a:t>Installs to cost neutrality (10)</a:t>
            </a:r>
          </a:p>
        </p:txBody>
      </p:sp>
      <p:sp>
        <p:nvSpPr>
          <p:cNvPr id="31" name="Oval 30"/>
          <p:cNvSpPr/>
          <p:nvPr/>
        </p:nvSpPr>
        <p:spPr>
          <a:xfrm>
            <a:off x="4160520" y="3931920"/>
            <a:ext cx="146304" cy="146304"/>
          </a:xfrm>
          <a:prstGeom prst="ellipse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79976" y="3895344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0">
                <a:solidFill>
                  <a:srgbClr val="6A717C"/>
                </a:solidFill>
                <a:latin typeface="Libre Franklin"/>
              </a:rPr>
              <a:t>Year-two expansion range (14-16)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60920" y="1965960"/>
            <a:ext cx="4270248" cy="21488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2194560"/>
            <a:ext cx="1828800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800" b="1">
                <a:solidFill>
                  <a:srgbClr val="4066F5"/>
                </a:solidFill>
                <a:latin typeface="Libre Franklin"/>
              </a:rPr>
              <a:t>10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80960" y="3017520"/>
            <a:ext cx="36576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50" b="0">
                <a:solidFill>
                  <a:srgbClr val="071224"/>
                </a:solidFill>
                <a:latin typeface="Libre Franklin"/>
              </a:rPr>
              <a:t>installs a year at an average package of €120K cover the ~€1.2M annual team cost.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Cost neutrality is the floor: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objective is the revenue line beyond dot ten.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Package = Assess &amp; Solution €60K + Mission POC €60K. Team cost ~€1.2M is the PDP working figure, to validate with finance. Chapter 04 phases year one at 3-4 installs.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LADDER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wedge stays free; depth and recurrence carry the price.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2148840"/>
            <a:ext cx="2286000" cy="12801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2221992"/>
            <a:ext cx="41148" cy="113385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240280"/>
            <a:ext cx="19202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Rung 0 · free wedge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496312"/>
            <a:ext cx="1920240" cy="8595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Ignite Inspire: ~4 meetings, benchmark and use-case shortlist. Grows the funnel.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73552" y="2606040"/>
            <a:ext cx="27432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1874519"/>
            <a:ext cx="530352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RUNGS 1 + 2 · THE €120K PACKAGE (TO SCALE)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11880" y="2148840"/>
            <a:ext cx="2651760" cy="7315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76472" y="2258568"/>
            <a:ext cx="237744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Assess &amp; Solution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148840"/>
            <a:ext cx="2651760" cy="73152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258568"/>
            <a:ext cx="237744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Libre Franklin"/>
              </a:rPr>
              <a:t>Mission POC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€60K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88552" y="2606040"/>
            <a:ext cx="27432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6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26880" y="2148840"/>
            <a:ext cx="2286000" cy="12801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528048" y="2258568"/>
            <a:ext cx="192024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28048" y="2505456"/>
            <a:ext cx="192024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Value Assurance
€30-50K a year
+ gain share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977639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14400" y="4050791"/>
            <a:ext cx="41148" cy="7223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4069079"/>
            <a:ext cx="4892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The free wedge feeds the funnel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" y="4325112"/>
            <a:ext cx="4892040" cy="4480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Four meetings surface the leakage evidence that qualifies the paid wedge. Zero friction to start.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55080" y="3977639"/>
            <a:ext cx="5257800" cy="868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4050791"/>
            <a:ext cx="41148" cy="7223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4069079"/>
            <a:ext cx="489204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Recurrence is the growth flywheel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56248" y="4325112"/>
            <a:ext cx="4892040" cy="4480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Telemetry converts every live deployment into quarterly revenue that compounds with AI consumption.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5" name="TextBox 3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Recurring range anchored on SAP and ServiceNow success plans (10-30% of licence) and FinOps gain-share practice (15-35% of realised savings).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LADDER MEETS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bank buys the ladder; the pod delivers it as one lifecycle.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E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14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755648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WHAT THE BANK BUYS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RUNG 0 · FREE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Ignite Inspire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Hypotheses, wedge choice, specimen pack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28416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3552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75887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40479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RUNG 1 · €60K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wedge product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40479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X-Ray, Cartographer, Guardrail or Telemetry on the bank’s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9903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7376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RUNG 2 · €60K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Mission POC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01968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Factory Mission Sprint: the top candidate live in 6-12 weeks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51392" y="2340864"/>
            <a:ext cx="3291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96528" y="2651760"/>
            <a:ext cx="438912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00" b="1">
                <a:solidFill>
                  <a:srgbClr val="4066F5"/>
                </a:solidFill>
                <a:latin typeface="Libre Franklin"/>
              </a:rPr>
              <a:t>05 · 06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198864" y="1993392"/>
            <a:ext cx="2395728" cy="118872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63456" y="2084832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93FBFE"/>
                </a:solidFill>
                <a:latin typeface="Libre Franklin"/>
              </a:rPr>
              <a:t>RUNG 3 · RECURRING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456" y="2286000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Value Assurance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6" y="2560320"/>
            <a:ext cx="210312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Quarterly cost-per-outcome proof funds the next domain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3529584"/>
            <a:ext cx="365760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6A717C"/>
                </a:solidFill>
                <a:latin typeface="Libre Franklin"/>
              </a:rPr>
              <a:t>HOW THE POD DELIVERS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2112264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7" name="Rounded Rectangle 36"/>
          <p:cNvSpPr/>
          <p:nvPr/>
        </p:nvSpPr>
        <p:spPr>
          <a:xfrm>
            <a:off x="914400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05840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01 Concept · 02 Design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873752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0" name="Rounded Rectangle 39"/>
          <p:cNvSpPr/>
          <p:nvPr/>
        </p:nvSpPr>
        <p:spPr>
          <a:xfrm>
            <a:off x="3675887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67327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03 Prototype · 04 Proof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635240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Rounded Rectangle 42"/>
          <p:cNvSpPr/>
          <p:nvPr/>
        </p:nvSpPr>
        <p:spPr>
          <a:xfrm>
            <a:off x="6437376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28816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07 Install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0396728" y="3182112"/>
            <a:ext cx="0" cy="585216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6" name="Rounded Rectangle 45"/>
          <p:cNvSpPr/>
          <p:nvPr/>
        </p:nvSpPr>
        <p:spPr>
          <a:xfrm>
            <a:off x="9198864" y="3767328"/>
            <a:ext cx="2395728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3970">
            <a:solidFill>
              <a:srgbClr val="4066F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290304" y="3767328"/>
            <a:ext cx="2212848" cy="457200"/>
          </a:xfrm>
          <a:prstGeom prst="rect">
            <a:avLst/>
          </a:prstGeom>
          <a:noFill/>
          <a:effectLst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1F3799"/>
                </a:solidFill>
                <a:latin typeface="Libre Franklin"/>
              </a:rPr>
              <a:t>Run · measure · expand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Read it both ways: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each rung is a paid lifecycle stage, and each exit artifact is the next purchase’s entry contract.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Stages 05 Proposal and 06 Signature are the arrows between rungs: each rung ends by proposing and signing the next one.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LIFECYCLE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One motion takes each product from concept to install.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0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Concept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· 1 wk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45436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55164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601468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1468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1468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+ SE · 1-2 wks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95928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42232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42232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SE · 2-3 wks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26964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36692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682996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82996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82996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· 2-4 wks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67728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077456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223760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Proposal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VC + AE · 1 wk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8492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618220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764524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64524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Signature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64524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AE + VC · 2-4 wks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49256" y="2450592"/>
            <a:ext cx="164592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58984" y="1920240"/>
            <a:ext cx="1449324" cy="14173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305288" y="2066543"/>
            <a:ext cx="329184" cy="329184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50" b="1">
                <a:solidFill>
                  <a:srgbClr val="FFFFFF"/>
                </a:solidFill>
                <a:latin typeface="Libre Franklin"/>
              </a:rPr>
              <a:t>07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305288" y="2505456"/>
            <a:ext cx="11750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Install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05288" y="2779776"/>
            <a:ext cx="11750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FDE + SE · 6-12 wks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3794760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3909060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It runs twice over: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first pass builds the product; every later pass is a 4-8 week cycle per install.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Durations are per-engagement once the product exists, ±30% tolerance. The first pass through stages 1-4 is the one-time build.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CONNECTING THE DOTS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Each deliverable is the entry contract of the next purchase.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INSPIRE (FREE)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Inspire pack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Leakage hypotheses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Wedge choice + scope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Specimen output pack</a:t>
            </a:r>
          </a:p>
        </p:txBody>
      </p:sp>
      <p:sp>
        <p:nvSpPr>
          <p:cNvPr id="16" name="Diamond 15"/>
          <p:cNvSpPr/>
          <p:nvPr/>
        </p:nvSpPr>
        <p:spPr>
          <a:xfrm>
            <a:off x="3392424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10128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75887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40479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THE WEDGE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79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evidence pack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0479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€ leakage, evidenced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Integration landscape map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Ranked Mission backlog</a:t>
            </a:r>
          </a:p>
        </p:txBody>
      </p:sp>
      <p:sp>
        <p:nvSpPr>
          <p:cNvPr id="22" name="Diamond 21"/>
          <p:cNvSpPr/>
          <p:nvPr/>
        </p:nvSpPr>
        <p:spPr>
          <a:xfrm>
            <a:off x="6153912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71616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37376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01968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AFTER THE POC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01968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live loop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01968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Resolution loop in production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Telemetry baseline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Sentinel-governed, auditable</a:t>
            </a:r>
          </a:p>
        </p:txBody>
      </p:sp>
      <p:sp>
        <p:nvSpPr>
          <p:cNvPr id="28" name="Diamond 27"/>
          <p:cNvSpPr/>
          <p:nvPr/>
        </p:nvSpPr>
        <p:spPr>
          <a:xfrm>
            <a:off x="8915400" y="2560320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833104" y="2788920"/>
            <a:ext cx="3657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G3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98864" y="1783080"/>
            <a:ext cx="2395728" cy="1874519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63456" y="1892807"/>
            <a:ext cx="21031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EVERY QUARTER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63456" y="2112264"/>
            <a:ext cx="210312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The value proof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63456" y="2404872"/>
            <a:ext cx="2103120" cy="11887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Cost per outcome, measured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Savings register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Next Mission ranked + funded</a:t>
            </a:r>
          </a:p>
        </p:txBody>
      </p:sp>
      <p:sp>
        <p:nvSpPr>
          <p:cNvPr id="34" name="Diamond 33"/>
          <p:cNvSpPr/>
          <p:nvPr/>
        </p:nvSpPr>
        <p:spPr>
          <a:xfrm>
            <a:off x="914400" y="4023359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3977639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81328" y="3977639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Sponsor signs the wedge SoW, inside their own delegated authority.</a:t>
            </a:r>
          </a:p>
        </p:txBody>
      </p:sp>
      <p:sp>
        <p:nvSpPr>
          <p:cNvPr id="37" name="Diamond 36"/>
          <p:cNvSpPr/>
          <p:nvPr/>
        </p:nvSpPr>
        <p:spPr>
          <a:xfrm>
            <a:off x="6355080" y="4023359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3977639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22008" y="3977639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ExCo funds Mission #1; the wedge fee credits into the POC.</a:t>
            </a:r>
          </a:p>
        </p:txBody>
      </p:sp>
      <p:sp>
        <p:nvSpPr>
          <p:cNvPr id="40" name="Diamond 39"/>
          <p:cNvSpPr/>
          <p:nvPr/>
        </p:nvSpPr>
        <p:spPr>
          <a:xfrm>
            <a:off x="914400" y="4498847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70432" y="4453127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81328" y="4453127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Measured value meets the case; the licence conversation opens.</a:t>
            </a:r>
          </a:p>
        </p:txBody>
      </p:sp>
      <p:sp>
        <p:nvSpPr>
          <p:cNvPr id="43" name="Diamond 42"/>
          <p:cNvSpPr/>
          <p:nvPr/>
        </p:nvSpPr>
        <p:spPr>
          <a:xfrm>
            <a:off x="6355080" y="4498847"/>
            <a:ext cx="164592" cy="164592"/>
          </a:xfrm>
          <a:prstGeom prst="diamond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11112" y="4453127"/>
            <a:ext cx="3657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G4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22008" y="4453127"/>
            <a:ext cx="4663440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next domain is funded; the loop repeats on the same Banking OS.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Nothing is a shelf report: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every artifact is authored as the input of the next purchase order.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G1-G4 are the account-level gates. Each product also has its own build gates (SE named, pilot green-light, R&amp;D alignment), shown on the roadmap.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RESOURCING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2.5-person pod runs the line; hiring follows revenue.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1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You · product owner · 1.0 FTE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SKU design, value narrative, proof economics, proposal. Owns the P&amp;L of the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Solution engineer · 0.5 FTE, named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Connectors, data extraction, Factory tooling at prototype and install. The technical spine.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FDE · on demand at install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Runs the Factory Mission Sprint once an install is signed. 6-12 weeks per Mission.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SME · on call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Risk and compliance review for Guardrail Studio; R&amp;D liaison for the Cartographer.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WHY THE SOLUTION ENGINEER MATTERS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One named SE across all four products, so skill compounds.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Every product runs on the same Factory tools: Connector Studio, Semantic Modeler, Simulation &amp; Testing. Each install makes the next one cheaper and faster.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FTEs are steady-state allocations. FDE capacity comes from standard Mission Sprint staffing at install and is charged to the delivery.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FRAMEWORKS · THE OBJECTIONS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three obvious objections have concrete answers.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18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1975104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“Banks will not pay for discovery.”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1828800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74920" y="1901952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03520" y="1956816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The market already does: AIB paid ~€80K for a weaker assessment. AWS, SAP and ServiceNow run the diagnostic-wedge motion; ours installs product.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999232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3145536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“We have no capacity to build products.”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2999232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74920" y="3072384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0" y="3127248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Build effort is 6-12 person-weeks per product because the Factory tools, the APA V3 catalog and the cost model already exist. One product at a time.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169664"/>
            <a:ext cx="3977639" cy="102412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33856" y="4315968"/>
            <a:ext cx="356616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“This distracts from platform sales.”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4920" y="4169664"/>
            <a:ext cx="6537960" cy="102412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74920" y="4242816"/>
            <a:ext cx="41148" cy="87782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0" y="4297680"/>
            <a:ext cx="6126480" cy="7863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Every install pre-binds Nexus, Sentinel or a Mission and hands the AE a quantified expansion case. The wedge is the land motion.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AIB reference: ~€80K external assessment (ADS), PDP session record, 29 Jun 2026. Wedge patterns: AWS OLA, SAP Outside-In, ServiceNow Inspire.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execution plans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Four products and the services flagship: what each does, its outputs, and the plan to market.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PLANS · HOW THE FOUR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A bank buys a Mission, and every wedge surveys all four lenses.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Ops pain is the trigger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Process X-Ray. Deep: work + leakage. Thin: ontology, guardrails, telemetry.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Data ambition (RI) is the trigger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Ontology Cartographer. Deep: shared truth. Thin: work, guardrails, telemetry.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Risk is blocking AI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Guardrail Studio. Deep: authority + policy. Thin: work, ontology, telemetry.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AI is live, ROI is doubted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Enter via Value Telemetry. Deep: measured value. Thin: work, ontology, guardrails.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ONE DEEP LENS, THREE THIN LENSES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Every engagement ships all four lenses; the wedge sets the depth.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Each wedge adds an ontology appendix, an authority snapshot and telemetry hooks beside its deep dive. The account always ends holding a full-stack blueprint.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entry door follows the account’s live buying trigger. All-lens coverage is standard because a Mission needs truth, guardrails and telemetry at once.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Process X-Ray reconstructs real work and prices the leakage.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 · scope 2-3 journeys from the APA matrix; agree access and baselines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inventory every system, interface and handoff per journey (the integration landscape)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2-4 · extract logs and queues; shadow the ops floor (6-8 sessions); rebuild actual vs designed flows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4-5 · price the leakage per step: time × volume × cost, abandonment × revenue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5-6 · rank Mission candidates; exec readout with CFO-grade evidence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COO or head of operations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SME time ~6-10 hours a week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Lite mode: ops MI packs + sampled cases; no InfoSec cycle, prospect-safe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Instrumented mode: read-only logs, for existing customers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SE 0.5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€ p.a. leakage per journey, evidenced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Integration landscape: systems, interfaces, API readiness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Ranked Mission backlog, top 3, with ROI case each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ontology + authority snapshots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The Rung-2 POC proposal, pre-written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systems map scopes Connector Studio before anyone commits.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Lite mode exists because prospects rarely grant system access pre-contract; it trades precision for zero InfoSec friction.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PROCESS X-RAY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X-Ray hands over the heatmap, systems map and Mission card.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VALUE-LEAKAGE HEATMAP · €M P.A.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65376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Onb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2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Serv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35808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Disp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21024" y="2167128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6A717C"/>
                </a:solidFill>
                <a:latin typeface="Libre Franklin"/>
              </a:rPr>
              <a:t>Lend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2478024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Retail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865376" y="2386584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65376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50592" y="2386584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35808" y="2386584"/>
            <a:ext cx="566928" cy="3657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35808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2.4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21024" y="2386584"/>
            <a:ext cx="566928" cy="36576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21024" y="2468880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2880360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65376" y="2788920"/>
            <a:ext cx="566928" cy="365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65376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0.5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50592" y="2788920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50592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35808" y="2788920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35808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1.2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21024" y="2788920"/>
            <a:ext cx="566928" cy="365760"/>
          </a:xfrm>
          <a:prstGeom prst="rect">
            <a:avLst/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21024" y="2871216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78992" y="3282696"/>
            <a:ext cx="7315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Comm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865376" y="3191256"/>
            <a:ext cx="566928" cy="365760"/>
          </a:xfrm>
          <a:prstGeom prst="rect">
            <a:avLst/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865376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0.3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450592" y="3191256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450592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035808" y="3191256"/>
            <a:ext cx="566928" cy="365760"/>
          </a:xfrm>
          <a:prstGeom prst="rect">
            <a:avLst/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035808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0.8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21024" y="3191256"/>
            <a:ext cx="566928" cy="3657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21024" y="3273552"/>
            <a:ext cx="56692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1.1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8992" y="3749039"/>
            <a:ext cx="3118104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Disputes · Retail leads: €2.4M p.a. across 41% manual touches and a 9.2-day cycle.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picks the domain the Mission starts in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INTEGRATION LANDSCAPE · DISPUTE JOURNEY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09159" y="218541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00599" y="223113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Core (T24)</a:t>
            </a:r>
          </a:p>
        </p:txBody>
      </p:sp>
      <p:sp>
        <p:nvSpPr>
          <p:cNvPr id="51" name="Oval 50"/>
          <p:cNvSpPr/>
          <p:nvPr/>
        </p:nvSpPr>
        <p:spPr>
          <a:xfrm>
            <a:off x="4818888" y="2468880"/>
            <a:ext cx="82296" cy="8229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946903" y="242316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API interface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18503" y="218541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9943" y="223113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CRM (SFDC)</a:t>
            </a:r>
          </a:p>
        </p:txBody>
      </p:sp>
      <p:sp>
        <p:nvSpPr>
          <p:cNvPr id="55" name="Oval 54"/>
          <p:cNvSpPr/>
          <p:nvPr/>
        </p:nvSpPr>
        <p:spPr>
          <a:xfrm>
            <a:off x="6428231" y="2468880"/>
            <a:ext cx="82296" cy="82296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56247" y="242316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API interface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709159" y="273405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800599" y="277977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Fraud (Falcon)</a:t>
            </a:r>
          </a:p>
        </p:txBody>
      </p:sp>
      <p:sp>
        <p:nvSpPr>
          <p:cNvPr id="59" name="Oval 58"/>
          <p:cNvSpPr/>
          <p:nvPr/>
        </p:nvSpPr>
        <p:spPr>
          <a:xfrm>
            <a:off x="4818888" y="3017520"/>
            <a:ext cx="82296" cy="822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46903" y="297180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file interface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18503" y="273405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09943" y="2779776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Cases (Pega)</a:t>
            </a:r>
          </a:p>
        </p:txBody>
      </p:sp>
      <p:sp>
        <p:nvSpPr>
          <p:cNvPr id="63" name="Oval 62"/>
          <p:cNvSpPr/>
          <p:nvPr/>
        </p:nvSpPr>
        <p:spPr>
          <a:xfrm>
            <a:off x="6428231" y="301752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556247" y="2971800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manual interface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09159" y="328269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00599" y="3328415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Mail (O365)</a:t>
            </a:r>
          </a:p>
        </p:txBody>
      </p:sp>
      <p:sp>
        <p:nvSpPr>
          <p:cNvPr id="67" name="Oval 66"/>
          <p:cNvSpPr/>
          <p:nvPr/>
        </p:nvSpPr>
        <p:spPr>
          <a:xfrm>
            <a:off x="4818888" y="356616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946903" y="3520439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manual interface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318503" y="3282696"/>
            <a:ext cx="1499616" cy="4572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 w="9525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409943" y="3328415"/>
            <a:ext cx="13350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Pay hub</a:t>
            </a:r>
          </a:p>
        </p:txBody>
      </p:sp>
      <p:sp>
        <p:nvSpPr>
          <p:cNvPr id="71" name="Oval 70"/>
          <p:cNvSpPr/>
          <p:nvPr/>
        </p:nvSpPr>
        <p:spPr>
          <a:xfrm>
            <a:off x="6428231" y="3566160"/>
            <a:ext cx="82296" cy="82296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556247" y="3520439"/>
            <a:ext cx="11887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file interface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09159" y="3977639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8 systems (+2 not shown) · 3 manual swivels · 2 API-ready · 4 to build via Connector Studio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scopes the integration work before commitment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39327" y="1920240"/>
            <a:ext cx="31089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MISSION CANDIDATE #1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339327" y="2157984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Libre Franklin"/>
              </a:rPr>
              <a:t>Card dispute resolution loop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339327" y="2761488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Value: €1.9M p.a., evidenced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339327" y="3054096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Autonomy target: A4, execute by exception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339327" y="3346704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Feasibility: high · 12 integration points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39327" y="3639312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8 live via APIs, 4 built in the Sprint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339327" y="3931920"/>
            <a:ext cx="3108960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C1C4C8"/>
                </a:solidFill>
                <a:latin typeface="Libre Franklin"/>
              </a:rPr>
              <a:t>· Mission length: 8 weeks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339327" y="4846320"/>
            <a:ext cx="3108960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→ becomes the Rung-2 POC scope, fee credited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5" name="TextBox 8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1 OF 4 · PROCESS X-RAY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X-Ray ships first: proof by December, revenue in January.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23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6163056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Aug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Delivery kit, pricing one-pager, demo script. 3 pw, VC.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Sep-Oct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Demo on the APA V3 catalog (65 processes) plus one friendly dataset. 5 pw.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Pilot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Prospect pilot green-light with Mayur. AIB-profile account.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Oct-Dec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leakage heatmap, top-3 Mission candidates with ROI. 6 pw.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Wedge sold at €50-75K; install starts as a Mission Sprint.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SE 0.5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Mission + ROI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Effort ±30%. Build is low-risk: the APA V3 catalog (65 processes, 283 steps), journey builder and leakage method already exist.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2 OF 4 · ONTOLOGY CARTOGRAPHER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maps scattered data to one shared truth.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inventory the data landscape: core, CRM, LMS, credit, workflow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harvest schemas and data dictionaries (metadata only)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3-5 · map entities to the banking ontology; surface overlaps and conflicts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5-7 · score truth-gaps per entity; price them in ops time and error cost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7-8 · phased Nexus binding blueprint with a precise entity scope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CDO or CIO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data stewards 4-6 hours a week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schema metadata only; customer data never leaves the bank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R&amp;D liaison: Semantic Modeler and Nexus teams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SE 1.0 + VC 0.5 (SE-led)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Ontology coverage map, entity by entity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Truth-gap report, priced in ops time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Data-source integration inventory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Phased Nexus blueprint: what binds first, and why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authority snapshots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shared truth is the precondition for RI and any A4-plus Mission.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Metadata-only access keeps the InfoSec review at schema level. Nexus is the system of truth; systems of record stay where they are.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ONTOLOGY CARTOGRAPHER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shows where the bank’s truth fragments.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ONTOLOGY COVERAGE MAP · BY 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85416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240280"/>
            <a:ext cx="36576" cy="38404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22402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Customer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07007" y="2441448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6 sources · 4 conflicts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688336" y="2185416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88336" y="2240280"/>
            <a:ext cx="36576" cy="3840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16352" y="22402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Account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16352" y="2441448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3 sources · aligned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" y="2770632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78992" y="2825496"/>
            <a:ext cx="36576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7" y="2825496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Product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3026664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4 sources · 2 conflicts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88336" y="2770632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88336" y="2825496"/>
            <a:ext cx="36576" cy="3840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16352" y="2825496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Transaction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816352" y="3026664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2 sources · aligned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8992" y="3355848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78992" y="3410712"/>
            <a:ext cx="36576" cy="38404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7" y="3410712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Collateral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07007" y="36118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fragmented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88336" y="3355848"/>
            <a:ext cx="1499616" cy="49377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88336" y="3410712"/>
            <a:ext cx="36576" cy="38404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16352" y="3410712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Case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16352" y="3611880"/>
            <a:ext cx="131673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absent as an entity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8992" y="4206240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Four definitions of “active customer” is the exhibit that lands.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conversation starter for the CDO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TRUTH-GAP REPORT · FRAGMENTATION COST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59" y="2194560"/>
            <a:ext cx="3118104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>
                <a:solidFill>
                  <a:srgbClr val="4066F5"/>
                </a:solidFill>
                <a:latin typeface="Libre Franklin"/>
              </a:rPr>
              <a:t>11 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9159" y="278892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for an RM to assemble one customer view across 5 screens</a:t>
            </a:r>
          </a:p>
        </p:txBody>
      </p:sp>
      <p:sp>
        <p:nvSpPr>
          <p:cNvPr id="44" name="Oval 43"/>
          <p:cNvSpPr/>
          <p:nvPr/>
        </p:nvSpPr>
        <p:spPr>
          <a:xfrm>
            <a:off x="4727447" y="3447288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374136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23% of fields disagree between systems</a:t>
            </a:r>
          </a:p>
        </p:txBody>
      </p:sp>
      <p:sp>
        <p:nvSpPr>
          <p:cNvPr id="46" name="Oval 45"/>
          <p:cNvSpPr/>
          <p:nvPr/>
        </p:nvSpPr>
        <p:spPr>
          <a:xfrm>
            <a:off x="4727447" y="3758184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92040" y="3685032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€1.1M p.a. of RM time reassembling truth</a:t>
            </a:r>
          </a:p>
        </p:txBody>
      </p:sp>
      <p:sp>
        <p:nvSpPr>
          <p:cNvPr id="48" name="Oval 47"/>
          <p:cNvSpPr/>
          <p:nvPr/>
        </p:nvSpPr>
        <p:spPr>
          <a:xfrm>
            <a:off x="4727447" y="4069080"/>
            <a:ext cx="82296" cy="82296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92040" y="3995928"/>
            <a:ext cx="293522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31% of complaints touch a data mismatch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€ case for shared truth, before licence talk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NEXUS BINDING BLUEPRINT · PHASED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339327" y="219456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85632" y="226771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Libre Franklin"/>
              </a:rPr>
              <a:t>Phase 1 · 12 wks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85632" y="249631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Libre Franklin"/>
              </a:rPr>
              <a:t>Core + CRM · 40 entities · customer, account, product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339327" y="292608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299923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Phase 2 · 10 wks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485632" y="322783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Credit + LMS · +25 entities · exposure, collateral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339327" y="3657600"/>
            <a:ext cx="3118104" cy="621792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485632" y="3730752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Phase 3 · next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485632" y="3959352"/>
            <a:ext cx="284378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50" b="0">
                <a:solidFill>
                  <a:srgbClr val="071224"/>
                </a:solidFill>
                <a:latin typeface="Libre Franklin"/>
              </a:rPr>
              <a:t>Cases + documents · the service layer of truth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39327" y="507492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makes the Nexus licence scope precise, so pricing stops being a guess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4" name="TextBox 63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2 OF 4 · ONTOLOGY CARTOGRAPHER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Cartographer is the deepest build and lands on X-Ray demand.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26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Diamond 12"/>
          <p:cNvSpPr/>
          <p:nvPr/>
        </p:nvSpPr>
        <p:spPr>
          <a:xfrm>
            <a:off x="1682495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23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794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Feb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R&amp;D gate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Alignment with the Semantic Modeler and Nexus teams on tooling reuse.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57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Mar-Apr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7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57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Ontology mapping demo on two sample cores. 6 pw, SE-led.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27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May-Jul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coverage map, truth-gap report, Nexus blueprint. 8 pw.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Aug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Sold at €75-100K, attached to Relationship Intelligence deals.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10-12 person-wks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SE 1.0 + VC 0.5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Nexus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Sequenced last as a full SKU: highest technical depth, needs R&amp;D alignment. The ontology lens ships thin in every other wedge from day one.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turns written policy into executable rules.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B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harvest delegation of authority, credit policy, SOPs, entitlement matrices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2-3 · map authority per process step: who may recommend, approve, execute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3-4 · score agent-readiness per step on the A1-A5 autonomy scale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4-5 · codification workshops (4-5) with risk and compliance: policy to executable rules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5-6 · audit-trail design; Sentinel readiness score and blueprint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CRO or COO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risk, compliance and ops SMEs in 4-5 workshops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documents and workshops; no system access needed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InfoSec stays off the critical path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SE 0.5 + compliance SME 0.2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Authority map: current vs agent-ready state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Guardrail backlog: 20-30 executable rules, each traced to policy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Audit-trail design for immutable evidence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Sentinel readiness score + install blueprint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ontology snapshots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this is the approval pack a risk committee needs before any agent acts.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Timed to the Conversational Banking pipeline: governed execution is the prerequisite for Transact and Resolve.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GUARDRAIL STUDIO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shows where an agent can safely act.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AUTHORITY MAP · CARD DISPUTE PROCESS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2249424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Freeze card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7007" y="2468879"/>
            <a:ext cx="914400" cy="13716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94560" y="2441448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A4 · agent executes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8992" y="2761488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07007" y="2816352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Provisional credit ≤ €500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207007" y="3035808"/>
            <a:ext cx="914400" cy="13716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94560" y="3008376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A4 · executes with 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78992" y="3328415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07007" y="3383279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Provisional credit &gt; €500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7007" y="3602735"/>
            <a:ext cx="914400" cy="137160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4560" y="3575303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A3 · human approves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78992" y="3895344"/>
            <a:ext cx="3118104" cy="4754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07007" y="3950207"/>
            <a:ext cx="21945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Account closure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07007" y="4169663"/>
            <a:ext cx="914400" cy="137160"/>
          </a:xfrm>
          <a:prstGeom prst="roundRect">
            <a:avLst>
              <a:gd name="adj" fmla="val 8000"/>
            </a:avLst>
          </a:prstGeom>
          <a:solidFill>
            <a:srgbClr val="D2D4D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94560" y="4142231"/>
            <a:ext cx="188366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A1 · human only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boundary, drawn from the bank’s own policy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GUARDRAIL RULE CARD · OF THE 20-30 BACKLOG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72583" y="2185416"/>
            <a:ext cx="3191256" cy="178308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5" y="2313432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1">
                <a:solidFill>
                  <a:srgbClr val="93FBFE"/>
                </a:solidFill>
                <a:latin typeface="Libre Franklin"/>
              </a:rPr>
              <a:t>GR-014 · Provisional credit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37175" y="2615184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IF dispute.amount ≤ €500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37175" y="2916936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AND fraud_score &lt; 0.2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37175" y="3218688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THEN agent EXECUTES, immutable audit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37175" y="3520440"/>
            <a:ext cx="2898648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Libre Franklin"/>
              </a:rPr>
              <a:t>ELSE route to human approver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59" y="416052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Source: Card Policy §4.2 · Status: codified · Owner: dispute 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each rule loads straight into Sentinel at install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SENTINEL READINESS · SCORED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2167128"/>
            <a:ext cx="3118104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200" b="1">
                <a:solidFill>
                  <a:srgbClr val="EC5E48"/>
                </a:solidFill>
                <a:latin typeface="Libre Franklin"/>
              </a:rPr>
              <a:t>34 / 100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9327" y="2807208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Authority mapped · 45%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39327" y="3035808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339327" y="3035808"/>
            <a:ext cx="1403146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39327" y="331927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Policies codified · 20%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39327" y="3547872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8339327" y="3547872"/>
            <a:ext cx="623620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39327" y="383133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Audit trails in place · 38%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39327" y="4059936"/>
            <a:ext cx="3118104" cy="100584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339327" y="4059936"/>
            <a:ext cx="1184879" cy="100584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39327" y="452628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Target: 80+ once the backlog is codified.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risk committee’s go/no-go dashboard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3 OF 4 · GUARDRAIL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Guardrail Studio attaches to Conversational deals in flight.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29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923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6794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Diamond 15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Decision &amp; Policy alignment; risk and compliance SME briefed. 3 pw.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557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Feb-Mar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557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557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Authority-map demo: recommend, approve, execute per process. 5 pw.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427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Apr-May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427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427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Paid pilot: guardrail backlog, entitlements map, Sentinel blueprint. 6 pw.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Jun 2027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Sold at €50-100K, riding Transact and Resolve deals.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8-10 person-wks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Sentinel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Governed execution is the prerequisite for Transact and Resolve, which makes the Sentinel-readiness wedge a natural attach on active deals.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4 OF 4 · VALUE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Value Telemetry measures the true cost per resolved outcome.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E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 · instrument the live deployment: interaction logs, model calls, consumption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1-2 · tag outcomes: resolved, escalated, abandoned; define the taxonomy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 · compute cost per outcome per use case (never per interaction)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2-3 · scan for waste: PTU over-provision, model routing, dead agents, retry loops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Wk 3 · re-prove ROI vs the original case; install the quarterly cadence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Prerequisite: a live AI deployment (Backbase or third party)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Access: read-only consumption + interaction logs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Bank effort: finance partner to validate cost lines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0.5 + SE 0.25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Dependency: the keystone cost-per-outcome model (with Deepak)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Cost-per-outcome baseline per use case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Waste register with € values and named owners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ROI re-proof vs the original business case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 quarterly value cadence, installed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Thin-lens appendices: leakage + guardrail observations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baseline becomes the yardstick every later Mission is measured against.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Only the vendor in the execution path measures cost per resolved outcome; external FinOps tools see the cloud bill. Gain-share per market practice.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VALUE TELEMETRY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Telemetry turns AI worth into a number the CFO can sign.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1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31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COST PER OUTCOME · BY 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11704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78992" y="2267712"/>
            <a:ext cx="41148" cy="10241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43584" y="2286000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Card freeze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3584" y="2523744"/>
            <a:ext cx="28437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1F3799"/>
                </a:solidFill>
                <a:latin typeface="Libre Franklin"/>
              </a:rPr>
              <a:t>€0.11 / outcome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43584" y="2889504"/>
            <a:ext cx="2807208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94% contained, zero human touches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78992" y="3493008"/>
            <a:ext cx="3118104" cy="117043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78992" y="3566160"/>
            <a:ext cx="41148" cy="102412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43584" y="3584448"/>
            <a:ext cx="284378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Dispute intake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43584" y="3822191"/>
            <a:ext cx="2843784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600" b="1">
                <a:solidFill>
                  <a:srgbClr val="EC5E48"/>
                </a:solidFill>
                <a:latin typeface="Libre Franklin"/>
              </a:rPr>
              <a:t>€1.87 / outcome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43584" y="4187952"/>
            <a:ext cx="2807208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3.2 human touches; 68% of simple intents on the premium model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unit economics of every use case, measured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WASTE REGISTER · €312K ANNUALIZED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59" y="222199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PTU over-provision · €140K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09159" y="2450592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09159" y="2450592"/>
            <a:ext cx="3118104" cy="109728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709159" y="273405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Model routing · €95K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09159" y="2962656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709159" y="2962656"/>
            <a:ext cx="2115856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59" y="3246120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Dead agents · €41K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709159" y="3474720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59" y="3474720"/>
            <a:ext cx="913159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09159" y="3758184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Retry loops · €36K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09159" y="3986784"/>
            <a:ext cx="3118104" cy="109728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709159" y="3986784"/>
            <a:ext cx="801798" cy="109728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09159" y="4389120"/>
            <a:ext cx="3118104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Each line has an owner and a fix; savings are machine-measurable, which is what makes gain-share defensible.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usually pays for the diagnostic by itself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ROI RE-PROOF · CASE VS MEASURED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39327" y="2221992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Original business case · €1.10M a year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339327" y="2450592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339327" y="2450592"/>
            <a:ext cx="3118104" cy="128016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39327" y="2843784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Measured today · €0.82M a year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39327" y="3072384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339327" y="3072384"/>
            <a:ext cx="2324404" cy="128016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39327" y="3465576"/>
            <a:ext cx="31181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After routing + PTU fixes · €1.05M a year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339327" y="3694176"/>
            <a:ext cx="3118104" cy="128016"/>
          </a:xfrm>
          <a:prstGeom prst="rect">
            <a:avLst/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339327" y="3694176"/>
            <a:ext cx="2976372" cy="1280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8339327" y="4251960"/>
            <a:ext cx="1920240" cy="29260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67344" y="4306824"/>
            <a:ext cx="173736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Case re-proved at 95%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renewal argued with the bank’s own numbers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6" name="TextBox 55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 4 OF 4 · VALUE TELEMETRY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Telemetry rides the keystone model and opens the recurring line.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32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Diamond 12"/>
          <p:cNvSpPr/>
          <p:nvPr/>
        </p:nvSpPr>
        <p:spPr>
          <a:xfrm>
            <a:off x="1682495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8591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Keystone gate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Extend the cost model to cost-per-outcome, with Deepak. ~5 use cases.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Design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SKU spec: diagnostic scope, telemetry set, gain-share terms. 4 pw.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Prototype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Cost-per-outcome dashboard on one live deployment’s data. 3 pw.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Nov-Dec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2-3 week diagnostic at a live customer: waste quantified, ROI re-proved.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Jan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signature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€15-50K diagnostic + 15-35% gain share; recurrence begins.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person-wks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2-3 wks · 3-4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0.5 + SE 0.25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MODEL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Recurring + gain share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Gain share of 15-35% of realised savings is market-validated (ProsperOps, nOps, Vantage) with a “10% or free” floor. Cost-model sample today: n=2 use cases.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AI-native operating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Engine B in full: loop postures, preconditions, the maturity path, the workforce shift, and how to run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AI-NATIVE OPERATING MODEL · 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redesigns the org chart for a world where agents work.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420624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1892807"/>
            <a:ext cx="3877055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THE ACTIVITIES, WEEK BY WEEK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148840"/>
            <a:ext cx="3877055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Maturity assessment (2-3 wks) · score every LOB × ops area on the A1-A5 curve; readiness on data, guardrails, skills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Workforce optimization (3-4 wks) · which roles rise, which collapse into agents; loop boundaries per function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Org design flagship (4-6 wks) · the inverted-T target: a thin judgment layer over an agent workforce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Transition path · function by function up the curve; the org chart follows the highest-autonomy function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1783080"/>
            <a:ext cx="310896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0352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1892807"/>
            <a:ext cx="277977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IT ENTAILS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2148840"/>
            <a:ext cx="277977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Sponsor: CEO, COO or CHRO; ExCo workshops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Inputs: Engine A evidence: X-Ray scores, authority maps, telemetry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HR data: role inventory, spans and layers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Pod: VC 1.0 + org/HR SME on call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Method: AI-Native Org Design draft v0.1 exists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95360" y="1783080"/>
            <a:ext cx="3017520" cy="31546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856231"/>
            <a:ext cx="41148" cy="300837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78240" y="1892807"/>
            <a:ext cx="268833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WHAT COMES OUT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2148840"/>
            <a:ext cx="2688336" cy="2697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A1-A5 maturity heatmap by function, current vs target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Workforce transition map: roles rising, collapsing, new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Target org chart: the inverted-T with the governance spine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New-role definitions: Mission Owners, AgentOps, Exception Desks</a:t>
            </a:r>
          </a:p>
          <a:p>
            <a:pPr algn="l">
              <a:lnSpc>
                <a:spcPct val="116000"/>
              </a:lnSpc>
              <a:spcAft>
                <a:spcPts val="4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· Function-by-function transition roadmap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Adds up: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Engine B opens the CEO and CHRO door Engine A cannot.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7" name="TextBox 2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Sold only downstream of a wedge install, so the design runs on the bank’s own evidence. Ticket €80-150K is an assumption to validate.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LOOP POSTURES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Three loop postures span the curve; one zone stays human.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3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2416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IN THE LOOP · A1-A3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Human decides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AI drafts, recommends, or executes only on approval.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Credit memos pre-assembled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Next-best-action for RMs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Payment repair suggestions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the decider, with better inputs.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21024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21024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49039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ON THE LOOP · 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Agent acts, human supervises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Execute by exception: the agent completes the loop and escalates edge cases.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67328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Dispute intake and triage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7328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KYC periodic refresh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67328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Routine servicing requests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67328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exception handler and supervisor.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27648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327648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55664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ABOVE THE LOOP ·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73952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Agent runs the process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Self-directed within guardrails; humans govern, design and audit.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73952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Document collection chase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73952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Status communication loops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Recon break clearing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73952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The human becomes: governor and Mission designer.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34272" y="1783080"/>
            <a:ext cx="2606040" cy="32461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034272" y="1783080"/>
            <a:ext cx="2606040" cy="310896"/>
          </a:xfrm>
          <a:prstGeom prst="roundRect">
            <a:avLst>
              <a:gd name="adj" fmla="val 8000"/>
            </a:avLst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62288" y="1837943"/>
            <a:ext cx="235000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NOT DELEGATED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2128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Human only, by design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487168"/>
            <a:ext cx="2313432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Risk keeps these out of agent hands regardless of capability.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3127248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Final credit above thresholds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3383280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Vulnerable-customer journeys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3639312"/>
            <a:ext cx="2313432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· Regulatory attestations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4544568"/>
            <a:ext cx="2313432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00" b="1">
                <a:solidFill>
                  <a:srgbClr val="EC5E48"/>
                </a:solidFill>
                <a:latin typeface="Libre Franklin"/>
              </a:rPr>
              <a:t>The human stays: accountable judgment.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autonomy scale is the operating-model axis: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posture, the role and the org all follow it.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Terminology per the PDP autonomy framework (A1-A5). Market reference: a large US bank runs the same three cases as in, on and out of the loop.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PERMISSION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Each step up the curve has preconditions; some moves stay off.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47088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65376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A2 → A3 · execute on approval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Policy codified for the step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Immutable audit trail live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2130552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Approval UX in the workspace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898648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14400" y="2962656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" y="2980944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A3 → A4 · execute by exception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3246120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Guardrails live in Sentinel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Nexus truth for the journey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3246120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Exception desk stood up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Model performance ≥ agreed floor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014215"/>
            <a:ext cx="6949440" cy="987552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14400" y="4078224"/>
            <a:ext cx="41148" cy="85953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15568" y="4096511"/>
            <a:ext cx="658368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A4 → A5 · self-directed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4361688"/>
            <a:ext cx="662940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Regulator comfort documented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Two quarters of clean A4 evidence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4361688"/>
            <a:ext cx="3291840" cy="5943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Rollback and kill-switch tested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Telemetry mature (cost per outcome)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92440" y="1783080"/>
            <a:ext cx="3538728" cy="33101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20" y="1920240"/>
            <a:ext cx="32004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EC5E48"/>
                </a:solidFill>
                <a:latin typeface="Libre Franklin"/>
              </a:rPr>
              <a:t>NOT PERMITTED FOR NOW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223113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Autonomous final credit decisions above policy thresholds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277977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Autonomous action on vulnerable-customer journeys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20" y="3328415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Attestations and regulatory filings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87705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Any action without an immutable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75320" y="4425696"/>
            <a:ext cx="3200400" cy="51206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Cross-border data pooling outside residency rules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permission map is drawn per bank: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Guardrail Studio’s output is exactly this slide, on their policy.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7" name="TextBox 36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Preconditions compound: nothing reaches A4 without Sentinel and Nexus for that journey, which is why the wedges precede the org design.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MATURITY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org follows the highest-autonomy function up the curve.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37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EARLY · A1-A3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Assist and approve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Existing teams keep the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 literacy + approval discipline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First guardrails codified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% of steps AI-assisted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3063240"/>
            <a:ext cx="21945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MID · A4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Execute by exception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Exception desks form from the processing floor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AgentOps stands up (home of FinOps)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Mission Owners named per LOB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9160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containment % · cost per outcome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73568" y="3063240"/>
            <a:ext cx="21945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74736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LATE · A5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Self-directed in guardrails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2542032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The governance spine is the centre of gravity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3017520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Thin judgment layer over the agent workforce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39328" y="349300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Workforce Transition office completes moves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39328" y="422452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Metric: outcomes per FTE · value per Mission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Function by function: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 bank moves domains up the curve one at a time, and the chart follows the leader.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1" name="TextBox 4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Phase gates are the B3 preconditions. A function can be LATE while the bank average is EARLY; the org chart follows the most autonomous function.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WORKFORCE SHIFT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Skills shift from processing to judgment, supervision, design.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AUGMENTED ROLES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AI sharpens human judgment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RMs: next-best-action, pre-briefed meetings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Credit officers: pre-assembled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Risk analysts: surfaced anomalies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interrogating AI output, override discipline, data literacy.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4568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AUTONOMOUS ZONES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Humans move above the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Servicing, disputes intake, KYC refresh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Processing floor re-skills into exception desks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Supervisors read agent telemetry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exception triage, root-cause analysis, agent performance review.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1783080"/>
            <a:ext cx="3447288" cy="28803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NEW ROLES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2212848"/>
            <a:ext cx="3118104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Humans design the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2542032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Mission Owners and Mission designers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2962656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AgentOps: deploy, monitor, tune, FinOps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3383279"/>
            <a:ext cx="3118104" cy="40233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Nexus Stewards and Sentinel Governance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3913632"/>
            <a:ext cx="3118104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Skills to build: mission design, guardrail authoring, data-as-product stewardship.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The transition motion: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evidence, co-design with the floor, skills academy, exception desks, then measure judgment time.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Sequenced to avoid a layoffs-first read: the processing floor re-skills into exception desks before any structural change is announced.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SAMPLE OUTPUTS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draws the target org from the bank’s own evidence.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39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AUTONOMY MATURITY HEATMAP · CURRENT → 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78992" y="2194560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07007" y="2286000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Disputes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24912" y="2267712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24912" y="2295144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82111" y="2276856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56432" y="2267712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56432" y="2295144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2670048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7" y="2761488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Onboarding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24912" y="2743200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24912" y="2770632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1" y="2752344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56432" y="2743200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56432" y="2770632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8992" y="3145536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07007" y="3236976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KYC review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912" y="3218688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724912" y="3246120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1" y="3227832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56432" y="3218688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56432" y="3246120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78992" y="3621024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07007" y="3712463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Contact centre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24912" y="3694176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724912" y="3721608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82111" y="3703320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456432" y="3694176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456432" y="3721608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A4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78992" y="4096512"/>
            <a:ext cx="3118104" cy="38404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07007" y="4187952"/>
            <a:ext cx="146304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Credit servicing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724912" y="4169664"/>
            <a:ext cx="420624" cy="237744"/>
          </a:xfrm>
          <a:prstGeom prst="roundRect">
            <a:avLst>
              <a:gd name="adj" fmla="val 8000"/>
            </a:avLst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24912" y="4197096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071224"/>
                </a:solidFill>
                <a:latin typeface="Libre Franklin"/>
              </a:rPr>
              <a:t>A1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82111" y="4178808"/>
            <a:ext cx="23774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56432" y="4169664"/>
            <a:ext cx="420624" cy="237744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56432" y="4197096"/>
            <a:ext cx="42062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Libre Franklin"/>
              </a:rPr>
              <a:t>A3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78992" y="5166360"/>
            <a:ext cx="3118104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scored from X-Ray and Guardrail evidence, never from interviews alone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44568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59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THE ORG SHIFT · PYRAMID → INVERTED-T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02936" y="2331720"/>
            <a:ext cx="566928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965191" y="2660904"/>
            <a:ext cx="1042415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27447" y="2990088"/>
            <a:ext cx="1517904" cy="274320"/>
          </a:xfrm>
          <a:prstGeom prst="rect">
            <a:avLst/>
          </a:prstGeom>
          <a:solidFill>
            <a:srgbClr val="5F7DF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09159" y="3429000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Today: layers of human processing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190488" y="2697480"/>
            <a:ext cx="27432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19088" y="2331720"/>
            <a:ext cx="1554480" cy="27432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37375" y="2377440"/>
            <a:ext cx="1517904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750" b="1">
                <a:solidFill>
                  <a:srgbClr val="FFFFFF"/>
                </a:solidFill>
                <a:latin typeface="Libre Franklin"/>
              </a:rPr>
              <a:t>Human judgment layer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04303" y="2642616"/>
            <a:ext cx="384048" cy="658368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19088" y="3429000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850" b="0">
                <a:solidFill>
                  <a:srgbClr val="6A717C"/>
                </a:solidFill>
                <a:latin typeface="Libre Franklin"/>
              </a:rPr>
              <a:t>Governance + AgentOps spine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09159" y="3977639"/>
            <a:ext cx="3118104" cy="329184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18888" y="4050791"/>
            <a:ext cx="2898648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Agent workforce running Missions underneath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59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the flagship exhibit for the CEO and CHRO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174736" y="1783080"/>
            <a:ext cx="3447288" cy="3794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1430">
            <a:solidFill>
              <a:srgbClr val="D2D4D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39327" y="1883664"/>
            <a:ext cx="3118104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NEW ROLES ON THE TARGET CHART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8339327" y="2194560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339327" y="2240279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458200" y="2231136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Mission Owners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20655" y="2240279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own agent-delivered outcomes per LOB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339327" y="2688336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339327" y="2734056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458200" y="2724912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AgentOps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820655" y="2734056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deploy, monitor, optimize the fleet; home of FinOps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339327" y="3182112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8339327" y="3227832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458200" y="3218688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Nexus Stewards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820655" y="3227832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data-as-product; keepers of shared truth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339327" y="3675887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8339327" y="3721607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458200" y="3712463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Sentinel Governance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820655" y="3721607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AI assurance, authority, audit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339327" y="4169664"/>
            <a:ext cx="3118104" cy="402336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339327" y="4215384"/>
            <a:ext cx="36576" cy="31089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458200" y="4206240"/>
            <a:ext cx="141732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071224"/>
                </a:solidFill>
                <a:latin typeface="Libre Franklin"/>
              </a:rPr>
              <a:t>Exception Desks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20655" y="4215384"/>
            <a:ext cx="1545336" cy="32918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00" b="0">
                <a:solidFill>
                  <a:srgbClr val="6A717C"/>
                </a:solidFill>
                <a:latin typeface="Libre Franklin"/>
              </a:rPr>
              <a:t>the re-skilled processing floor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339327" y="5212080"/>
            <a:ext cx="3118104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→ every role binds the org to a Banking OS construct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8" name="TextBox 8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Illustrative specimen: every figure is a placeholder, re-based on the bank’s own data during the engagement.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HOW TO RUN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Six workshops take an ExCo from evidence to a signed target org.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60704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36192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Evidence readout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X-Ray leakage + Guardrail authority data on the bank’s own journeys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ExCo + COO team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44568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690872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66360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Loop postures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Map every function to in, on, above the loop; agree the not-delegated zone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COO + CRO + LOB heads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74736" y="182880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21040" y="195681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96528" y="201168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Permission map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8" y="2395728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Preconditions per step; what is possible now vs preconditioned vs off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8" y="292608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CRO + compliance + IT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60704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Target org draft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inverted-T: judgment layer, governance spine, agent workforce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8992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CEO + CHRO + COO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44568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690872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66360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Workforce plan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09160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Role moves, skills academy, exception-desk 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9160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CHRO + LOB heads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74736" y="3337560"/>
            <a:ext cx="3447288" cy="137160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21040" y="3465576"/>
            <a:ext cx="365760" cy="365760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 wrap="square" lIns="0" rIns="0"/>
          <a:lstStyle/>
          <a:p>
            <a:pPr algn="ctr"/>
            <a:r>
              <a:rPr sz="1000" b="1">
                <a:solidFill>
                  <a:srgbClr val="FFFFFF"/>
                </a:solidFill>
                <a:latin typeface="Libre Franklin"/>
              </a:rPr>
              <a:t>W6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96528" y="3520440"/>
            <a:ext cx="2743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Transition roadmap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9328" y="3904487"/>
            <a:ext cx="310896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Function-by-function sequence, metrics, sign-off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39328" y="4434840"/>
            <a:ext cx="310896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1F3799"/>
                </a:solidFill>
                <a:latin typeface="Libre Franklin"/>
              </a:rPr>
              <a:t>ExCo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Cadence: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six workshops over 6-8 weeks, each producing a signed artifact, ending in the transition roadmap.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5" name="TextBox 4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W1 requires a completed wedge (the sequencing rule). Attendee lists are the minimum quorum; the CHRO joins from W4 at the latest.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ENGINE B · THE PLAN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Engine B hardens v0.1 now and sells downstream of X-Ray.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9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41</a:t>
            </a:fld>
          </a:p>
        </p:txBody>
      </p:sp>
      <p:cxnSp>
        <p:nvCxnSpPr>
          <p:cNvPr id="12" name="Connector 11"/>
          <p:cNvCxnSpPr/>
          <p:nvPr/>
        </p:nvCxnSpPr>
        <p:spPr>
          <a:xfrm>
            <a:off x="1783080" y="2697480"/>
            <a:ext cx="8961120" cy="0"/>
          </a:xfrm>
          <a:prstGeom prst="line">
            <a:avLst/>
          </a:prstGeom>
          <a:ln w="20320">
            <a:solidFill>
              <a:srgbClr val="D2D4D8"/>
            </a:solidFill>
          </a:ln>
          <a:effectLst/>
          <a:effectLst/>
        </p:spPr>
      </p:cxnSp>
      <p:sp>
        <p:nvSpPr>
          <p:cNvPr id="13" name="Oval 12"/>
          <p:cNvSpPr/>
          <p:nvPr/>
        </p:nvSpPr>
        <p:spPr>
          <a:xfrm>
            <a:off x="170535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4563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Diamond 14"/>
          <p:cNvSpPr/>
          <p:nvPr/>
        </p:nvSpPr>
        <p:spPr>
          <a:xfrm>
            <a:off x="6163056" y="2596896"/>
            <a:ext cx="201168" cy="201168"/>
          </a:xfrm>
          <a:prstGeom prst="diamond">
            <a:avLst/>
          </a:prstGeom>
          <a:solidFill>
            <a:srgbClr val="EC5E48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426196" y="2619756"/>
            <a:ext cx="155448" cy="155448"/>
          </a:xfrm>
          <a:prstGeom prst="ellipse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Diamond 16"/>
          <p:cNvSpPr/>
          <p:nvPr/>
        </p:nvSpPr>
        <p:spPr>
          <a:xfrm>
            <a:off x="10643616" y="2596896"/>
            <a:ext cx="201168" cy="201168"/>
          </a:xfrm>
          <a:prstGeom prst="diamond">
            <a:avLst/>
          </a:prstGeom>
          <a:solidFill>
            <a:srgbClr val="4066F5"/>
          </a:solidFill>
          <a:ln w="1270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Sep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Method hardening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Pressure-test org-design v0.1 with Mayur; codify the kit. 4 pw.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Oct-Dec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Evidence binding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0896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Wire the method to X-Ray and Guardrail outputs.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Q1 2027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Sequencing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First sale only downstream of a wedge install; never sold cold.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Mar-May 2027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First engagement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Maturity + workforce + org design at the X-Ray pilot account.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29800" y="2286000"/>
            <a:ext cx="1828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Jun 2027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29800" y="2916936"/>
            <a:ext cx="18288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Flagship scale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3172968"/>
            <a:ext cx="1828800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CEO/CHRO-altitude offer; Early Access cohort accounts first.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" y="4343400"/>
            <a:ext cx="10705795" cy="9144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88720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BUILD EFFORT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pw (v0.1 exists)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65168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DELIVERY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65168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1617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POD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1617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VC 1.0 + org SME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18066" y="4489704"/>
            <a:ext cx="2264968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93FBFE"/>
                </a:solidFill>
                <a:latin typeface="Libre Franklin"/>
              </a:rPr>
              <a:t>PRE-BINDS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18066" y="4745736"/>
            <a:ext cx="2264968" cy="43891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FFFFFF"/>
                </a:solidFill>
                <a:latin typeface="Libre Franklin"/>
              </a:rPr>
              <a:t>The human layer of the OS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Ticket €80-150K is an assumption to validate against market org-design pricing. The moat is the evidence feed, never the method alone.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EXECUTION PLANS · THE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Twelve months of product build fits inside the existing pod.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A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42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914400" y="196596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PRODUCT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196596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ONE-TIME 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196596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DELIVERY PER INSTALL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196596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POD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196596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4066F5"/>
                </a:solidFill>
                <a:latin typeface="Libre Franklin"/>
              </a:rPr>
              <a:t>FIRST REVENUE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2368296"/>
            <a:ext cx="10698480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18" name="TextBox 17"/>
          <p:cNvSpPr txBox="1"/>
          <p:nvPr/>
        </p:nvSpPr>
        <p:spPr>
          <a:xfrm>
            <a:off x="914400" y="251460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Process X-Ray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251460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8-10 pw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51460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4-6 wks · 12-14 pw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51460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SE 0.5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251460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Jan 2027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14400" y="291693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4" name="TextBox 23"/>
          <p:cNvSpPr txBox="1"/>
          <p:nvPr/>
        </p:nvSpPr>
        <p:spPr>
          <a:xfrm>
            <a:off x="914400" y="306324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06324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10-12 pw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306324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wks · 12-16 pw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38160" y="306324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SE 1.0 + VC 0.5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306324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Aug 2027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914400" y="346557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0" name="TextBox 29"/>
          <p:cNvSpPr txBox="1"/>
          <p:nvPr/>
        </p:nvSpPr>
        <p:spPr>
          <a:xfrm>
            <a:off x="914400" y="361188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Guardrail Studio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61188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8-10 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43600" y="361188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5-6 wks · 8-10 pw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61188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SE 0.5 + SME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361188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Jun 2027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14400" y="401421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914400" y="4160520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Value Telemetry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4160520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pw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4160520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2-3 wks · 3-4 pw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60" y="4160520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0.5 + SE 0.25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0" y="4160520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Jan 2027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14400" y="456285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42" name="TextBox 41"/>
          <p:cNvSpPr txBox="1"/>
          <p:nvPr/>
        </p:nvSpPr>
        <p:spPr>
          <a:xfrm>
            <a:off x="914400" y="4709159"/>
            <a:ext cx="32918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AI-Native Org Design (Engine B)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06240" y="4709159"/>
            <a:ext cx="17373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pw (v0.1)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43600" y="4709159"/>
            <a:ext cx="219456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6-8 wks · 10-14 pw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709159"/>
            <a:ext cx="237744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VC 1.0 + org SME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4709159"/>
            <a:ext cx="1097280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150" b="0">
                <a:solidFill>
                  <a:srgbClr val="071224"/>
                </a:solidFill>
                <a:latin typeface="Libre Franklin"/>
              </a:rPr>
              <a:t>May 2027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914400" y="5111496"/>
            <a:ext cx="10698480" cy="0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48" name="Rounded Rectangle 47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Never two builds at once: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sequence keeps total build load at 38-48 person-weeks over twelve months.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51" name="TextBox 50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pw = person-weeks. Build = one-time productization. Delivery = per client install once productized. All efforts carry ±30% tolerance.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The business connection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Every POC lands under a named business objective, and the account list splits into must-have and good-to-have.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BUSINESS CONNECTION · THE BRIDGE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Every POC lands under a named business objective, or it waits.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C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BUSINESS AMBITION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The 5-year strategy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Cost programs, growth targets, AI ambition, license to operate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6936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81528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9544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INVESTMENT OBJECTIVE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9544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What the CFO funds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9544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Cut cost-to-serve · grow revenue · de-risk and comply · scale without headcount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48656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76672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4066F5"/>
                </a:solidFill>
                <a:latin typeface="Libre Franklin"/>
              </a:rPr>
              <a:t>VALUE POOL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6672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The Banking OS math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6672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071224"/>
                </a:solidFill>
                <a:latin typeface="Libre Franklin"/>
              </a:rPr>
              <a:t>Cost-to-serve down 20-40% · conversion up 10-25% · AI to production 3-5× faster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51192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15783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MISSION POC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Go-live, in production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The top wedge candidate live in 6-12 weeks, telemetry from day 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18319" y="288036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582912" y="1920240"/>
            <a:ext cx="2011680" cy="23774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710928" y="2048256"/>
            <a:ext cx="1755648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93FBFE"/>
                </a:solidFill>
                <a:latin typeface="Libre Franklin"/>
              </a:rPr>
              <a:t>MEASURED PROOF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10928" y="2395728"/>
            <a:ext cx="1755648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The renewal engine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2871216"/>
            <a:ext cx="1755648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900" b="0">
                <a:solidFill>
                  <a:srgbClr val="FFFFFF"/>
                </a:solidFill>
                <a:latin typeface="Libre Franklin"/>
              </a:rPr>
              <a:t>Cost per outcome vs the case, quarterly; funds the next objective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A use case without an objective is a demo: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under an objective it is an investment with a payback date.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Value pools per the Banking OS canon (three pools, $150M-300M+ annual unlock, bank-size dependent). The POC inherits its target from the objective, never the reverse.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BUSINESS CONNECTION · THE ACCOUNT LENS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Must-have shows in the strategy before it shows in the pipeline.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D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14400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60704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MUST-HAVE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High cost pressure and stated AI ambition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992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Named cost or CIR program in flight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AI or agentic ambition in the strategy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Digital attacker in the home market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X-Ray + EAP nomination, ExCo altitude, this quarter.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44568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44568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90872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MUST-HAVE SOON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The pressure is visible, the ambition is not yet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Margin compression, no stated 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Headcount or branch targets without a how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Regulatory remediation load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9160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free wedge sells the ambition; the evidence writes their case.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74736" y="1783080"/>
            <a:ext cx="3447288" cy="3017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174736" y="1783080"/>
            <a:ext cx="3447288" cy="310896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837943"/>
            <a:ext cx="3172968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Libre Franklin"/>
              </a:rPr>
              <a:t>GOOD-TO-HAVE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9328" y="2212848"/>
            <a:ext cx="3118104" cy="4572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50" b="1">
                <a:solidFill>
                  <a:srgbClr val="071224"/>
                </a:solidFill>
                <a:latin typeface="Libre Franklin"/>
              </a:rPr>
              <a:t>Ambition without acute pressure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9328" y="2761488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Innovation budget and appetite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9328" y="3145536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Digital leadership positioning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9328" y="3529584"/>
            <a:ext cx="3118104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· Early agentic experiments running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9328" y="4041648"/>
            <a:ext cx="3118104" cy="6583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1">
                <a:solidFill>
                  <a:srgbClr val="1F3799"/>
                </a:solidFill>
                <a:latin typeface="Libre Franklin"/>
              </a:rPr>
              <a:t>Motion: ideal EAP design partners; Telemetry on whatever already runs.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Classify with the AEs in week one: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annual-report signals sort the account list before any outreach.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9" name="TextBox 3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Archetypes on the slide, named accounts in the working session. Signals read from public strategy documents; classification validated with the AE.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Mobilization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twelve-month sequence, how the Delivery Factory carries it, and the asks that unlock 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SEQUENCE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One product at a time reaches four SKUs inside twelve months.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2F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47</a:t>
            </a:fld>
          </a:p>
        </p:txBody>
      </p:sp>
      <p:sp>
        <p:nvSpPr>
          <p:cNvPr id="12" name="TextBox 11"/>
          <p:cNvSpPr txBox="1"/>
          <p:nvPr/>
        </p:nvSpPr>
        <p:spPr>
          <a:xfrm>
            <a:off x="2487168" y="1764791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2783" y="1764791"/>
            <a:ext cx="1828800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00" b="0">
                <a:solidFill>
                  <a:srgbClr val="6A717C"/>
                </a:solidFill>
                <a:latin typeface="Libre Franklin"/>
              </a:rPr>
              <a:t>2027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87168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Aug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87168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16" name="TextBox 15"/>
          <p:cNvSpPr txBox="1"/>
          <p:nvPr/>
        </p:nvSpPr>
        <p:spPr>
          <a:xfrm>
            <a:off x="3244291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Sep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244291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18" name="TextBox 17"/>
          <p:cNvSpPr txBox="1"/>
          <p:nvPr/>
        </p:nvSpPr>
        <p:spPr>
          <a:xfrm>
            <a:off x="4001414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Oct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01414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0" name="TextBox 19"/>
          <p:cNvSpPr txBox="1"/>
          <p:nvPr/>
        </p:nvSpPr>
        <p:spPr>
          <a:xfrm>
            <a:off x="4758537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Nov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758537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2" name="TextBox 21"/>
          <p:cNvSpPr txBox="1"/>
          <p:nvPr/>
        </p:nvSpPr>
        <p:spPr>
          <a:xfrm>
            <a:off x="551566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Dec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51566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4" name="TextBox 23"/>
          <p:cNvSpPr txBox="1"/>
          <p:nvPr/>
        </p:nvSpPr>
        <p:spPr>
          <a:xfrm>
            <a:off x="627278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Jan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27278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6" name="TextBox 25"/>
          <p:cNvSpPr txBox="1"/>
          <p:nvPr/>
        </p:nvSpPr>
        <p:spPr>
          <a:xfrm>
            <a:off x="7029907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Feb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029907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778703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Mar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8703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0" name="TextBox 29"/>
          <p:cNvSpPr txBox="1"/>
          <p:nvPr/>
        </p:nvSpPr>
        <p:spPr>
          <a:xfrm>
            <a:off x="854415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Apr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4415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2" name="TextBox 31"/>
          <p:cNvSpPr txBox="1"/>
          <p:nvPr/>
        </p:nvSpPr>
        <p:spPr>
          <a:xfrm>
            <a:off x="9301276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May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01276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10058400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Jun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058400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6" name="TextBox 35"/>
          <p:cNvSpPr txBox="1"/>
          <p:nvPr/>
        </p:nvSpPr>
        <p:spPr>
          <a:xfrm>
            <a:off x="10815523" y="2002536"/>
            <a:ext cx="757123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900" b="1">
                <a:solidFill>
                  <a:srgbClr val="6A717C"/>
                </a:solidFill>
                <a:latin typeface="Libre Franklin"/>
              </a:rPr>
              <a:t>Jul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0815523" y="2258568"/>
            <a:ext cx="0" cy="3227831"/>
          </a:xfrm>
          <a:prstGeom prst="line">
            <a:avLst/>
          </a:prstGeom>
          <a:ln w="9525">
            <a:solidFill>
              <a:srgbClr val="E6E7E9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238658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Keystone study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62579" y="238658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54019" y="242316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With Deepak</a:t>
            </a:r>
          </a:p>
        </p:txBody>
      </p:sp>
      <p:sp>
        <p:nvSpPr>
          <p:cNvPr id="41" name="Diamond 40"/>
          <p:cNvSpPr/>
          <p:nvPr/>
        </p:nvSpPr>
        <p:spPr>
          <a:xfrm>
            <a:off x="3171139" y="244144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14400" y="293522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Process X-Ray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05456" y="293522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62579" y="293522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54019" y="297180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76825" y="293522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68265" y="297180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91071" y="2935224"/>
            <a:ext cx="5263286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82511" y="2971800"/>
            <a:ext cx="511698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Sell + install</a:t>
            </a:r>
          </a:p>
        </p:txBody>
      </p:sp>
      <p:sp>
        <p:nvSpPr>
          <p:cNvPr id="50" name="Diamond 49"/>
          <p:cNvSpPr/>
          <p:nvPr/>
        </p:nvSpPr>
        <p:spPr>
          <a:xfrm>
            <a:off x="3928262" y="299008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Diamond 50"/>
          <p:cNvSpPr/>
          <p:nvPr/>
        </p:nvSpPr>
        <p:spPr>
          <a:xfrm>
            <a:off x="6199631" y="299008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14400" y="3483864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Value Telemetry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3262579" y="348386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4019702" y="3483864"/>
            <a:ext cx="720547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4776825" y="3483864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68265" y="3520440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91071" y="3483864"/>
            <a:ext cx="5263286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82511" y="3520440"/>
            <a:ext cx="5116982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Recurring</a:t>
            </a:r>
          </a:p>
        </p:txBody>
      </p:sp>
      <p:sp>
        <p:nvSpPr>
          <p:cNvPr id="59" name="Diamond 58"/>
          <p:cNvSpPr/>
          <p:nvPr/>
        </p:nvSpPr>
        <p:spPr>
          <a:xfrm>
            <a:off x="6199631" y="353872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4400" y="403250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Guardrail Studio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91071" y="403250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48195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39635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562441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653881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0076688" y="403250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168128" y="406907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Sell</a:t>
            </a:r>
          </a:p>
        </p:txBody>
      </p:sp>
      <p:sp>
        <p:nvSpPr>
          <p:cNvPr id="68" name="Diamond 67"/>
          <p:cNvSpPr/>
          <p:nvPr/>
        </p:nvSpPr>
        <p:spPr>
          <a:xfrm>
            <a:off x="9985248" y="408736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58114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Ontology Cartographer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048195" y="458114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7805318" y="4581143"/>
            <a:ext cx="1477670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96758" y="4617719"/>
            <a:ext cx="1331366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Prototype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9319564" y="458114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411004" y="461771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Proof</a:t>
            </a:r>
          </a:p>
        </p:txBody>
      </p:sp>
      <p:sp>
        <p:nvSpPr>
          <p:cNvPr id="75" name="Diamond 74"/>
          <p:cNvSpPr/>
          <p:nvPr/>
        </p:nvSpPr>
        <p:spPr>
          <a:xfrm>
            <a:off x="6956755" y="4636007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4400" y="5129783"/>
            <a:ext cx="1536192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00" b="1">
                <a:solidFill>
                  <a:srgbClr val="071224"/>
                </a:solidFill>
                <a:latin typeface="Libre Franklin"/>
              </a:rPr>
              <a:t>Org Design (Engine B)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3262579" y="5129783"/>
            <a:ext cx="720547" cy="256032"/>
          </a:xfrm>
          <a:prstGeom prst="roundRect">
            <a:avLst>
              <a:gd name="adj" fmla="val 8000"/>
            </a:avLst>
          </a:prstGeom>
          <a:solidFill>
            <a:srgbClr val="B5C1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4019702" y="512978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1142" y="516635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Evidence binding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7805318" y="5129783"/>
            <a:ext cx="2234793" cy="256032"/>
          </a:xfrm>
          <a:prstGeom prst="roundRect">
            <a:avLst>
              <a:gd name="adj" fmla="val 8000"/>
            </a:avLst>
          </a:prstGeom>
          <a:solidFill>
            <a:srgbClr val="1F379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96758" y="5166359"/>
            <a:ext cx="2088489" cy="1828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850" b="1">
                <a:solidFill>
                  <a:srgbClr val="FFFFFF"/>
                </a:solidFill>
                <a:latin typeface="Libre Franklin"/>
              </a:rPr>
              <a:t>First engagement</a:t>
            </a:r>
          </a:p>
        </p:txBody>
      </p:sp>
      <p:sp>
        <p:nvSpPr>
          <p:cNvPr id="82" name="Diamond 81"/>
          <p:cNvSpPr/>
          <p:nvPr/>
        </p:nvSpPr>
        <p:spPr>
          <a:xfrm>
            <a:off x="7713878" y="5184648"/>
            <a:ext cx="146304" cy="146304"/>
          </a:xfrm>
          <a:prstGeom prst="diamond">
            <a:avLst/>
          </a:prstGeom>
          <a:solidFill>
            <a:srgbClr val="EC5E48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Diamond 82"/>
          <p:cNvSpPr/>
          <p:nvPr/>
        </p:nvSpPr>
        <p:spPr>
          <a:xfrm>
            <a:off x="9985248" y="5184648"/>
            <a:ext cx="146304" cy="146304"/>
          </a:xfrm>
          <a:prstGeom prst="diamond">
            <a:avLst/>
          </a:prstGeom>
          <a:solidFill>
            <a:srgbClr val="4066F5"/>
          </a:solidFill>
          <a:ln w="10160">
            <a:solidFill>
              <a:srgbClr val="FFFFF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84" name="Connector 8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85" name="TextBox 8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Coral diamonds = decisions an owner must make (SE named · pilot green-light · R&amp;D alignment · sequencing). Blue diamonds = first revenue per product.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DELIVERY FACTORY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Delivery Factory carries every stage through to install.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0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48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Semantic Modeler + Connector Studio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97280" y="3154680"/>
            <a:ext cx="2176271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16" name="TextBox 15"/>
          <p:cNvSpPr txBox="1"/>
          <p:nvPr/>
        </p:nvSpPr>
        <p:spPr>
          <a:xfrm>
            <a:off x="1097280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 working demo on the bank’s own data, in weeks.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1003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39312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22191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PROOF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22191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Simulation &amp; Testing + Ops telemetry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822191" y="3154680"/>
            <a:ext cx="2176273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2" name="TextBox 21"/>
          <p:cNvSpPr txBox="1"/>
          <p:nvPr/>
        </p:nvSpPr>
        <p:spPr>
          <a:xfrm>
            <a:off x="3822191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CFO-grade evidence runs with zero production risk.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85916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64224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47104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INSTALL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47104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Mission Contract, Nexus + Sentinel binding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47104" y="3154680"/>
            <a:ext cx="2176272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6547104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Banking OS layer live in 6-12 weeks via the agentic SDLC.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10828" y="2971800"/>
            <a:ext cx="173736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00" b="0">
                <a:solidFill>
                  <a:srgbClr val="6A717C"/>
                </a:solidFill>
                <a:latin typeface="Libre Franklin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89136" y="1874519"/>
            <a:ext cx="2542032" cy="265176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72015" y="2057400"/>
            <a:ext cx="2176272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4066F5"/>
                </a:solidFill>
                <a:latin typeface="Libre Franklin"/>
              </a:rPr>
              <a:t>RUN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72015" y="2331720"/>
            <a:ext cx="2176272" cy="6858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250" b="1">
                <a:solidFill>
                  <a:srgbClr val="071224"/>
                </a:solidFill>
                <a:latin typeface="Libre Franklin"/>
              </a:rPr>
              <a:t>Deployment &amp; Ops Control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72015" y="3154680"/>
            <a:ext cx="2176273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4" name="TextBox 33"/>
          <p:cNvSpPr txBox="1"/>
          <p:nvPr/>
        </p:nvSpPr>
        <p:spPr>
          <a:xfrm>
            <a:off x="9272015" y="3273552"/>
            <a:ext cx="2176272" cy="10972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Live telemetry that feeds Value Telemetry and the expansion case.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" y="5138928"/>
            <a:ext cx="10705795" cy="437997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5253228"/>
            <a:ext cx="10248595" cy="256032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1">
                <a:solidFill>
                  <a:srgbClr val="93FBFE"/>
                </a:solidFill>
                <a:latin typeface="Libre Franklin"/>
              </a:rPr>
              <a:t>Nothing built from scratch: </a:t>
            </a:r>
            <a:r>
              <a:rPr sz="1350" b="0">
                <a:solidFill>
                  <a:srgbClr val="FFFFFF"/>
                </a:solidFill>
                <a:latin typeface="Libre Franklin"/>
              </a:rPr>
              <a:t>the products are the Factory’s discovery tools, productized.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Factory toolchain per the Banking OS canon: Process &amp; Workspace Designer · Semantic Modeler · Agent Builder · Decision &amp; Policy · Connector Studio · Simulation &amp; Testing · Ops Control.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THE ASK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Four decisions unlock execution; the €5,000 seeds product one.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1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49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1 · Name the solution engineer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0.5 FTE from the regional pool, committed by September. The single critical-path resource.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624328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97480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715768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2 · Green-light one prospect pilot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971800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AIB-profile account for the X-Ray proof, by October. A prospect; existing customers stay out of scope.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465576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538728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557016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3 · Back the keystone study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813048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Cost-per-outcome model with Deepak in September. Value Telemetry and the FinOps line depend on it.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306824"/>
            <a:ext cx="5394960" cy="73152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379976"/>
            <a:ext cx="41148" cy="585216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398264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4 · Agree the commercial treatment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654296"/>
            <a:ext cx="5029200" cy="31089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Quota recognition of ~€200K so the line carries a real target from day one.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329184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THE €5,000 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The talent budget launches product number one.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402336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Packaging and delivery kit for Process X-Ray, a demo on the APA V3 catalog, launch collateral with marketing, and pricing pressure-tests with three friendly accounts.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Quota (~€200K) and pilot-account choice are open PDP items (1.3, 1.4) for the next Mayur 1:1. Keystone scope sits with Deepak (2.2).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MOBILIZATION · PLANNING BASIS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Six explicit assumptions carry the plan, each with an owner.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2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50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3856" y="1856231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Team cost ~€1.2M a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1856231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PDP working figure</a:t>
            </a:r>
          </a:p>
        </p:txBody>
      </p:sp>
      <p:sp>
        <p:nvSpPr>
          <p:cNvPr id="15" name="Oval 14"/>
          <p:cNvSpPr/>
          <p:nvPr/>
        </p:nvSpPr>
        <p:spPr>
          <a:xfrm>
            <a:off x="9098280" y="200253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62872" y="193852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12680" y="1856231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Mayur + finance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42316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3856" y="249631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Effort estimates within ±30%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249631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Analogous VC engagements; first build recalibrates</a:t>
            </a:r>
          </a:p>
        </p:txBody>
      </p:sp>
      <p:sp>
        <p:nvSpPr>
          <p:cNvPr id="21" name="Oval 20"/>
          <p:cNvSpPr/>
          <p:nvPr/>
        </p:nvSpPr>
        <p:spPr>
          <a:xfrm>
            <a:off x="9098280" y="2642615"/>
            <a:ext cx="109728" cy="10972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62872" y="257860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Medium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9631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First build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063239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3856" y="3136391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SE at 0.5 FTE is available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3136391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Regional pool capacity, unconfirmed</a:t>
            </a:r>
          </a:p>
        </p:txBody>
      </p:sp>
      <p:sp>
        <p:nvSpPr>
          <p:cNvPr id="27" name="Oval 26"/>
          <p:cNvSpPr/>
          <p:nvPr/>
        </p:nvSpPr>
        <p:spPr>
          <a:xfrm>
            <a:off x="9098280" y="328269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62872" y="3218687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136391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SE leadership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370332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3856" y="377647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Tickets of €15-100K clear the market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377647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AIB paid ~€80K for a weaker ADS; SAP + AWS wedges</a:t>
            </a:r>
          </a:p>
        </p:txBody>
      </p:sp>
      <p:sp>
        <p:nvSpPr>
          <p:cNvPr id="33" name="Oval 32"/>
          <p:cNvSpPr/>
          <p:nvPr/>
        </p:nvSpPr>
        <p:spPr>
          <a:xfrm>
            <a:off x="9098280" y="3922776"/>
            <a:ext cx="109728" cy="109728"/>
          </a:xfrm>
          <a:prstGeom prst="ellipse">
            <a:avLst/>
          </a:prstGeom>
          <a:solidFill>
            <a:srgbClr val="B4530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62872" y="385876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Medium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12680" y="377647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First 3 deals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34340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3856" y="441655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Wedge-to-Mission attach 50%+ in 6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441655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SAP and ServiceNow expansion patterns</a:t>
            </a:r>
          </a:p>
        </p:txBody>
      </p:sp>
      <p:sp>
        <p:nvSpPr>
          <p:cNvPr id="39" name="Oval 38"/>
          <p:cNvSpPr/>
          <p:nvPr/>
        </p:nvSpPr>
        <p:spPr>
          <a:xfrm>
            <a:off x="9098280" y="456285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62872" y="449884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012680" y="441655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Pilot cohort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" y="4983480"/>
            <a:ext cx="10705795" cy="54864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3856" y="5056632"/>
            <a:ext cx="3749039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EAP slots open to our nominations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83480" y="5056632"/>
            <a:ext cx="393192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000" b="0">
                <a:solidFill>
                  <a:srgbClr val="071224"/>
                </a:solidFill>
                <a:latin typeface="Libre Franklin"/>
              </a:rPr>
              <a:t>8 slots remain; eligibility unconfirmed</a:t>
            </a:r>
          </a:p>
        </p:txBody>
      </p:sp>
      <p:sp>
        <p:nvSpPr>
          <p:cNvPr id="45" name="Oval 44"/>
          <p:cNvSpPr/>
          <p:nvPr/>
        </p:nvSpPr>
        <p:spPr>
          <a:xfrm>
            <a:off x="9098280" y="5202936"/>
            <a:ext cx="109728" cy="109728"/>
          </a:xfrm>
          <a:prstGeom prst="ellipse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5138928"/>
            <a:ext cx="685800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6A717C"/>
                </a:solidFill>
                <a:latin typeface="Libre Franklin"/>
              </a:rPr>
              <a:t>Low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12680" y="5056632"/>
            <a:ext cx="15544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4066F5"/>
                </a:solidFill>
                <a:latin typeface="Libre Franklin"/>
              </a:rPr>
              <a:t>Validate: Program owner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9" name="TextBox 48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Repo standard: every assumption documented, conservative, sensitivity-tested before any figure becomes client-facing or budget-committed.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21207" y="521207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743200" cy="1463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600" b="0">
                <a:solidFill>
                  <a:srgbClr val="3A4A6B"/>
                </a:solidFill>
                <a:latin typeface="Libre Franklin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94760"/>
            <a:ext cx="9875520" cy="8229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Libre Franklin"/>
              </a:rPr>
              <a:t>Selling into apprehension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526280"/>
            <a:ext cx="8686800" cy="6400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The bank’s buying criteria, the Early Access route around the RFP, and the honest critique.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1207" y="6355080"/>
            <a:ext cx="11146536" cy="11887"/>
          </a:xfrm>
          <a:prstGeom prst="rect">
            <a:avLst/>
          </a:prstGeom>
          <a:solidFill>
            <a:srgbClr val="2E3A5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BUYING CRITERIA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questions decide a pre-RFP purchase; the wedge answers all.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4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52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1892807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“Can one sponsor sign it?”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09160" y="1783080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09160" y="1837943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0" y="1892807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price, sized inside the sponsor’s delegated authority; anything larger phases into rungs.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2578608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88336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“What is our InfoSec exposure?”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2578608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09160" y="2633472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688336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Lite modes run on MI packs and schema metadata; customer data never leaves the bank.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3374136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3483864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“What if we stop after this?”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3374136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709160" y="3429000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37760" y="3483864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 owns every artifact outright; the evidence is vendor-neutral and usable in any later tender.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14400" y="4169663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15568" y="4279392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“Is the spend defensible to audit?”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09160" y="4169663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09160" y="4224527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37760" y="4279392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scope, named deliverables, a value floor (10× fee or free), full fee credit on conversion.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4400" y="4965192"/>
            <a:ext cx="3611880" cy="704088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5568" y="5074920"/>
            <a:ext cx="32461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“Why you? You are new to this.”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709160" y="4965192"/>
            <a:ext cx="6903720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09160" y="5020055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5074920"/>
            <a:ext cx="6492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Co-creation instead of procurement: an Early Access nomination with roadmap influence and joint proof.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8" name="TextBox 3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Delegated-authority thresholds vary by bank; price each rung inside one named sponsor’s delegation and validate per account in the free wedge.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EARLY ACCESS ROUTE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Early Access is the pre-RFP route: nominated, never tendered.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5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53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56231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1874519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Named roadmap influence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213055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bank co-shapes Banking OS: direct input on Nexus, Sentinel and Mission patterns.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1460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58775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260604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Fee becomes participation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286207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wedge fee is framed as program participation and credits forward into the Mission POC.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24612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31927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333756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Engineering at the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3593591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 direct line to Factory engineering during the Mission; issues resolve in days.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40"/>
            <a:ext cx="5394960" cy="640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050792"/>
            <a:ext cx="41148" cy="493775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15568" y="4069080"/>
            <a:ext cx="5029200" cy="237744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071224"/>
                </a:solidFill>
                <a:latin typeface="Libre Franklin"/>
              </a:rPr>
              <a:t>Joint proof, joint story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" y="4325112"/>
            <a:ext cx="5029200" cy="219455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Co-authored case study and reference rights; the bank is a design partner.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37960" y="1783080"/>
            <a:ext cx="5074920" cy="2743200"/>
          </a:xfrm>
          <a:prstGeom prst="roundRect">
            <a:avLst>
              <a:gd name="adj" fmla="val 8000"/>
            </a:avLst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1984248"/>
            <a:ext cx="4562856" cy="219456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50" b="1">
                <a:solidFill>
                  <a:srgbClr val="93FBFE"/>
                </a:solidFill>
                <a:latin typeface="Libre Franklin"/>
              </a:rPr>
              <a:t>NOMINATED, NEVER TENDERED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93992" y="2258568"/>
            <a:ext cx="4562856" cy="9144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550" b="1">
                <a:solidFill>
                  <a:srgbClr val="FFFFFF"/>
                </a:solidFill>
                <a:latin typeface="Libre Franklin"/>
              </a:rPr>
              <a:t>8 slots remain in the mid-year cohort.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93992" y="3474720"/>
            <a:ext cx="456285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50" b="0">
                <a:solidFill>
                  <a:srgbClr val="C1C4C8"/>
                </a:solidFill>
                <a:latin typeface="Libre Franklin"/>
              </a:rPr>
              <a:t>A bank joins by nomination against program criteria, so there is nothing to RFP. The scarcity is honest: when the slots are gone, the cohort closes.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4709160"/>
            <a:ext cx="5074920" cy="566928"/>
          </a:xfrm>
          <a:prstGeom prst="roundRect">
            <a:avLst>
              <a:gd name="adj" fmla="val 8000"/>
            </a:avLst>
          </a:prstGeom>
          <a:noFill/>
          <a:ln w="15240">
            <a:solidFill>
              <a:srgbClr val="EC5E48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4809744"/>
            <a:ext cx="4617720" cy="38404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EC5E48"/>
                </a:solidFill>
                <a:latin typeface="Libre Franklin"/>
              </a:rPr>
              <a:t>Open · </a:t>
            </a:r>
            <a:r>
              <a:rPr sz="1150" b="0">
                <a:solidFill>
                  <a:srgbClr val="071224"/>
                </a:solidFill>
                <a:latin typeface="Libre Franklin"/>
              </a:rPr>
              <a:t>eligibility (new logos vs existing customers) unconfirmed; verify with the program owner first.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5" name="TextBox 34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Slot count (8 remaining) per the mid-year program status. Positioning: new to the category and hungry to co-innovate; the EAP makes that a strength.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THE PRE-RFP MECHANICS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mechanics keep the wedge inside the sponsor’s pen.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6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54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37943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1874519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1 · A product SKU, never a services engagement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1892807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Fixed price, fixed scope, catalogued deliverables. Procurement treats it like a software purchase.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2578608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14400" y="2633472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2670048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2 · Sized to the sponsor’s pen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2688336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Each rung sits inside one executive’s delegated authority; larger ambitions phase across rungs.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" y="3374136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3429000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33856" y="3465576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3 · The fee credits forward, 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3483864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On conversion the wedge fee credits into the Mission POC or licence. The budget is never spent on a maybe.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4169663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4224527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3856" y="4261103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4 · The specimen pack sells before the SoW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7800" y="4279392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The free wedge ends by showing the exact artifacts. The bank buys a known object.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965192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14400" y="5020055"/>
            <a:ext cx="41148" cy="594360"/>
          </a:xfrm>
          <a:prstGeom prst="rect">
            <a:avLst/>
          </a:pr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33856" y="5056631"/>
            <a:ext cx="3977639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100" b="1">
                <a:solidFill>
                  <a:srgbClr val="071224"/>
                </a:solidFill>
                <a:latin typeface="Libre Franklin"/>
              </a:rPr>
              <a:t>5 · The bank owns the evidence, floor-guaranteed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57800" y="5074920"/>
            <a:ext cx="621792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0">
                <a:solidFill>
                  <a:srgbClr val="071224"/>
                </a:solidFill>
                <a:latin typeface="Libre Franklin"/>
              </a:rPr>
              <a:t>All artifacts are the bank’s property, vendor-neutral, with a value floor: 10× fee documented, or free.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33" name="TextBox 3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The one thing never to do: dodge procurement by making the work free. Free diagnostics re-break the economics; the credit-forward fee is the middle path.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HONEST CRITIQUE 1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The math caps year one at four installs; call it a proof year.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7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55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DEMAND OF TEN INSTALLS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071224"/>
                </a:solidFill>
                <a:latin typeface="Libre Franklin"/>
              </a:rPr>
              <a:t>120-140 person-weeks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Delivery effort alone, per the register; excludes the build.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44568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5736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POD SUPPLY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45736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071224"/>
                </a:solidFill>
                <a:latin typeface="Libre Franklin"/>
              </a:rPr>
              <a:t>≈ 70 person-weeks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45736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1.5 FTE across build, sell, deliver and the PDP itself.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74736" y="1874519"/>
            <a:ext cx="3447288" cy="1783080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75904" y="2057400"/>
            <a:ext cx="3063240" cy="20116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950" b="1">
                <a:solidFill>
                  <a:srgbClr val="4066F5"/>
                </a:solidFill>
                <a:latin typeface="Libre Franklin"/>
              </a:rPr>
              <a:t>REALISTIC CEILING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75904" y="2331720"/>
            <a:ext cx="306324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900" b="1">
                <a:solidFill>
                  <a:srgbClr val="EC5E48"/>
                </a:solidFill>
                <a:latin typeface="Libre Franklin"/>
              </a:rPr>
              <a:t>4-5 installs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75904" y="3017520"/>
            <a:ext cx="3063240" cy="5029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000" b="0">
                <a:solidFill>
                  <a:srgbClr val="6A717C"/>
                </a:solidFill>
                <a:latin typeface="Libre Franklin"/>
              </a:rPr>
              <a:t>The honest year-one number, with zero slack for surprises.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977639"/>
            <a:ext cx="10705795" cy="960120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4114800"/>
            <a:ext cx="24688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00" b="1">
                <a:solidFill>
                  <a:srgbClr val="1F3799"/>
                </a:solidFill>
                <a:latin typeface="Libre Franklin"/>
              </a:rPr>
              <a:t>The revised plan.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0" y="4096512"/>
            <a:ext cx="7772400" cy="7772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0">
                <a:solidFill>
                  <a:srgbClr val="071224"/>
                </a:solidFill>
                <a:latin typeface="Libre Franklin"/>
              </a:rPr>
              <a:t>Year one proves the model: 3-4 paid installs (€0.4-0.5M), one per product family, plus the Early Access cohort. Year two reaches the ten-install cost-neutral rate with two delivery consultants funded by year-one revenue.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28" name="TextBox 27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Revision to the chapter-1 economics: ten a year remains the cost-neutral bar, reached in year two with delivery consultants and the kits.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523951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3" name="Connector 2"/>
          <p:cNvCxnSpPr/>
          <p:nvPr/>
        </p:nvCxnSpPr>
        <p:spPr>
          <a:xfrm>
            <a:off x="523951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4" name="Connector 3"/>
          <p:cNvCxnSpPr/>
          <p:nvPr/>
        </p:nvCxnSpPr>
        <p:spPr>
          <a:xfrm>
            <a:off x="11667744" y="0"/>
            <a:ext cx="0" cy="6439204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cxnSp>
        <p:nvCxnSpPr>
          <p:cNvPr id="5" name="Connector 4"/>
          <p:cNvCxnSpPr/>
          <p:nvPr/>
        </p:nvCxnSpPr>
        <p:spPr>
          <a:xfrm>
            <a:off x="0" y="6439204"/>
            <a:ext cx="121916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6" name="Freeform 5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4066F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742492"/>
            <a:ext cx="9528048" cy="22860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350" b="0" spc="120">
                <a:solidFill>
                  <a:srgbClr val="4066F5"/>
                </a:solidFill>
                <a:latin typeface="Libre Franklin"/>
              </a:rPr>
              <a:t>APPREHENSION · HONEST CRITIQUE 2 OF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009497"/>
            <a:ext cx="10003536" cy="9601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200"/>
              </a:spcAft>
            </a:pPr>
            <a:r>
              <a:rPr sz="2500" b="1">
                <a:solidFill>
                  <a:srgbClr val="071224"/>
                </a:solidFill>
                <a:latin typeface="Libre Franklin"/>
              </a:rPr>
              <a:t>Five contradictions need a named decision before we sell.</a:t>
            </a:r>
          </a:p>
        </p:txBody>
      </p:sp>
      <p:pic>
        <p:nvPicPr>
          <p:cNvPr id="9" name="Picture 8" descr="backbase_logo_bl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7215" y="6569964"/>
            <a:ext cx="975664" cy="158191"/>
          </a:xfrm>
          <a:prstGeom prst="rect">
            <a:avLst/>
          </a:prstGeom>
          <a:effectLst/>
        </p:spPr>
      </p:pic>
      <p:cxnSp>
        <p:nvCxnSpPr>
          <p:cNvPr id="10" name="Connector 9"/>
          <p:cNvCxnSpPr/>
          <p:nvPr/>
        </p:nvCxnSpPr>
        <p:spPr>
          <a:xfrm>
            <a:off x="11706148" y="6508699"/>
            <a:ext cx="0" cy="227685"/>
          </a:xfrm>
          <a:prstGeom prst="line">
            <a:avLst/>
          </a:prstGeom>
          <a:ln w="11430">
            <a:solidFill>
              <a:srgbClr val="9A9EA6"/>
            </a:solidFill>
          </a:ln>
          <a:effectLst/>
          <a:effectLst/>
        </p:spPr>
      </p:cxnSp>
      <p:sp>
        <p:nvSpPr>
          <p:cNvPr id="11" name="TextBox 10"/>
          <p:cNvSpPr txBox="1"/>
          <p:nvPr/>
        </p:nvSpPr>
        <p:spPr>
          <a:xfrm>
            <a:off x="11770156" y="6508699"/>
            <a:ext cx="384048" cy="227685"/>
          </a:xfrm>
          <a:prstGeom prst="rect">
            <a:avLst/>
          </a:prstGeom>
          <a:noFill/>
          <a:effectLst/>
        </p:spPr>
        <p:txBody>
          <a:bodyPr wrap="none" anchor="ctr" lIns="0" rIns="0" tIns="0" bIns="0">
            <a:spAutoFit/>
          </a:bodyPr>
          <a:lstStyle/>
          <a:p>
            <a:fld id="{B7A1C0DE-2026-4728-8000-000000000038}" type="slidenum">
              <a:rPr lang="en-US" sz="1275" b="1" dirty="0">
                <a:solidFill>
                  <a:srgbClr val="000000"/>
                </a:solidFill>
                <a:latin typeface="Libre Franklin"/>
              </a:rPr>
              <a:t>56</a:t>
            </a:fld>
          </a:p>
        </p:txBody>
      </p:sp>
      <p:sp>
        <p:nvSpPr>
          <p:cNvPr id="12" name="Rounded Rectangle 11"/>
          <p:cNvSpPr/>
          <p:nvPr/>
        </p:nvSpPr>
        <p:spPr>
          <a:xfrm>
            <a:off x="914400" y="1783080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14400" y="1837943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33856" y="1865376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Prospect-only rule vs Telemetry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865376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The pilot must be a prospect (Mayur’s ask), yet Telemetry needs a live deployment, usually an existing customer.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64040" y="1892807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82912" y="1938528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Mayur: scope the rule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" y="2578608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14400" y="2633472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33856" y="2660903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Credited fees vs the revenue KPI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2660903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 credited fee is pipeline; an uncredited install is revenue. Pick the line’s primary KPI before quota is set.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464040" y="2688336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82912" y="2734056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Mayur + finance: fix the KPI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3374136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400" y="3429000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33856" y="3456432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The wedge reads as a tollbooth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3456432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A €60K gate in front of a platform deal pushes AEs to give discovery away free unless wedge revenue credits the account team.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3483864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82912" y="3529584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Sales: align incentives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" y="4169663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4224527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33856" y="4251959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EAP eligibility is unconfirmed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4251959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Whether the 8 slots take new logos, existing customers, or both changes which accounts get nominated first.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464040" y="4279392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582912" y="4325112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Program owner: confirm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" y="4965192"/>
            <a:ext cx="10705795" cy="704088"/>
          </a:xfrm>
          <a:prstGeom prst="roundRect">
            <a:avLst>
              <a:gd name="adj" fmla="val 8000"/>
            </a:avLst>
          </a:prstGeom>
          <a:solidFill>
            <a:srgbClr val="F5F6F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4400" y="5020055"/>
            <a:ext cx="41148" cy="594360"/>
          </a:xfrm>
          <a:prstGeom prst="rect">
            <a:avLst/>
          </a:prstGeom>
          <a:solidFill>
            <a:srgbClr val="EC5E4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47488"/>
            <a:ext cx="2697480" cy="5486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071224"/>
                </a:solidFill>
                <a:latin typeface="Libre Franklin"/>
              </a:rPr>
              <a:t>Engine B fights MBB on their turf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7639" y="5047488"/>
            <a:ext cx="5349240" cy="566928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950" b="0">
                <a:solidFill>
                  <a:srgbClr val="071224"/>
                </a:solidFill>
                <a:latin typeface="Libre Franklin"/>
              </a:rPr>
              <a:t>Generic org design is customer-proximate space we lose; it is defensible only on Engine A’s harvested evidence.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64040" y="5074920"/>
            <a:ext cx="2011680" cy="475488"/>
          </a:xfrm>
          <a:prstGeom prst="roundRect">
            <a:avLst>
              <a:gd name="adj" fmla="val 8000"/>
            </a:avLst>
          </a:prstGeom>
          <a:solidFill>
            <a:srgbClr val="E6E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82912" y="5120640"/>
            <a:ext cx="1783080" cy="41148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900" b="1">
                <a:solidFill>
                  <a:srgbClr val="1F3799"/>
                </a:solidFill>
                <a:latin typeface="Libre Franklin"/>
              </a:rPr>
              <a:t>You: enforce sequencing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14400" y="5998464"/>
            <a:ext cx="10705795" cy="0"/>
          </a:xfrm>
          <a:prstGeom prst="line">
            <a:avLst/>
          </a:prstGeom>
          <a:ln w="9525">
            <a:solidFill>
              <a:srgbClr val="D2D4D8"/>
            </a:solidFill>
          </a:ln>
          <a:effectLst/>
          <a:effectLst/>
        </p:spPr>
      </p:cxnSp>
      <p:sp>
        <p:nvSpPr>
          <p:cNvPr id="43" name="TextBox 42"/>
          <p:cNvSpPr txBox="1"/>
          <p:nvPr/>
        </p:nvSpPr>
        <p:spPr>
          <a:xfrm>
            <a:off x="914400" y="6071616"/>
            <a:ext cx="10705795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8F949C"/>
                </a:solidFill>
                <a:latin typeface="Libre Franklin"/>
              </a:rPr>
              <a:t>Each row is a real tension surfaced deliberately: resolving them on paper now is cheaper than discovering them inside a live account.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22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0" y="-2011680"/>
            <a:ext cx="8686800" cy="4754880"/>
          </a:xfrm>
          <a:prstGeom prst="rect">
            <a:avLst/>
          </a:prstGeom>
          <a:solidFill>
            <a:srgbClr val="142A6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79" y="-1280160"/>
            <a:ext cx="5669280" cy="2926080"/>
          </a:xfrm>
          <a:prstGeom prst="rect">
            <a:avLst/>
          </a:prstGeom>
          <a:solidFill>
            <a:srgbClr val="1B389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371246" y="371246"/>
            <a:ext cx="152705" cy="151790"/>
          </a:xfrm>
          <a:custGeom>
            <a:avLst/>
            <a:gdLst/>
            <a:ahLst/>
            <a:cxnLst/>
            <a:rect l="l" t="t" r="r" b="b"/>
            <a:pathLst>
              <a:path w="9168" h="9096">
                <a:moveTo>
                  <a:pt x="19" y="4762"/>
                </a:moveTo>
                <a:lnTo>
                  <a:pt x="4567" y="4762"/>
                </a:lnTo>
                <a:lnTo>
                  <a:pt x="4566" y="0"/>
                </a:lnTo>
                <a:lnTo>
                  <a:pt x="9168" y="0"/>
                </a:lnTo>
                <a:lnTo>
                  <a:pt x="9168" y="9096"/>
                </a:lnTo>
                <a:lnTo>
                  <a:pt x="0" y="9096"/>
                </a:lnTo>
                <a:close/>
              </a:path>
            </a:pathLst>
          </a:cu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058400" cy="32004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250" b="1">
                <a:solidFill>
                  <a:srgbClr val="93FBFE"/>
                </a:solidFill>
                <a:latin typeface="Libre Franklin"/>
              </a:rPr>
              <a:t>THE MOTION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10058400" cy="12801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Libre Franklin"/>
              </a:rPr>
              <a:t>Land fast. Prove value. Expand.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246120"/>
            <a:ext cx="8229600" cy="7315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0">
                <a:solidFill>
                  <a:srgbClr val="C1C4C8"/>
                </a:solidFill>
                <a:latin typeface="Libre Franklin"/>
              </a:rPr>
              <a:t>One product in market by January. A proof year of 3-4 installs. Cost neutral in year two. The platform pre-installed in every account we touch.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315968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4242816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book the Mayur 1:1: quota, pilot green-light, SE allocation, the five decisions.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718304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645152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confirm EAP eligibility with the program owner; shortlist nominations.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5120640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5047488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This week · follow up with Tim: category story, launch collateral, talent-budget plan.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5522976"/>
            <a:ext cx="100584" cy="100584"/>
          </a:xfrm>
          <a:prstGeom prst="ellipse">
            <a:avLst/>
          </a:prstGeom>
          <a:solidFill>
            <a:srgbClr val="93FBF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70432" y="5449824"/>
            <a:ext cx="9601200" cy="36576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150" b="0">
                <a:solidFill>
                  <a:srgbClr val="FFFFFF"/>
                </a:solidFill>
                <a:latin typeface="Libre Franklin"/>
              </a:rPr>
              <a:t>September · scope the keystone cost-per-outcome study with Deepak.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98480" y="6446520"/>
            <a:ext cx="969264" cy="274320"/>
          </a:xfrm>
          <a:prstGeom prst="rect">
            <a:avLst/>
          </a:prstGeom>
          <a:noFill/>
          <a:effectLst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Libre Franklin"/>
              </a:rPr>
              <a:t>Backbase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