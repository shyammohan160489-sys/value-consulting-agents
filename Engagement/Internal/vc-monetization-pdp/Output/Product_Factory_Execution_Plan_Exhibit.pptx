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One line and move: the function stops being a cost centre; here is the twelve-month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 OPENER. Walk the ladder left to right in one breath: free proof of pain, paid proof on their data, a live loop, then quarterly proof that funds the next domain. Nothing asks for platform faith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what/why/outcome/feasibility grid. Every offer passes the three-part filter: earns a fee, harvests proprietary evidence, pre-binds a Banking OS layer. Feasibility DEFENSE: HIGH = assets exist and no access barrier; GATED = a named precondition; MEDIUM = a real dependency (R&amp;D alignment, sequencing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DEFENSE: the year-one number is deliberately conservative (capacity math, chapter 06). Overpromising year one burns the line’s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Tim: this is also the category story — co-innovation with named design partners, not another vendor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Must-have = the strategy already needs this to be true (cost program + AI ambition). Good-to-have = innovation-led, perfect EAP design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ten minutes here. If Tim asks for depth on any slide, the playbook chapter is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three-part design filter from the 29 Jun PDP session. Product-proximate is the moat; customer-proximate is space we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PDP workstream 4. The moat: generic consultancies can run org design; only we can run it on the bank’s own autonomy evidence (X-Ray scores, Guardrail authority maps, telemetry).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 GRID. DEFENSE: the €1.2M is a working figure, owned by finance to confirm; the 10-install bar moves with it. Year-one phasing is in the critique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T03 segmented bar, to scale on the €120K package. Rung 0 free = funnel; rung 3 = the flywheel.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SLIDE. Vertically: rung = lifecycle stage the bank pays for. Horizontally: exit artifact = entry contract. The account never buys a maybe.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gates: Concept = qualified sponsor. Design = signed SoW + data access. Prototype = demo on client data. Proof = CFO-grade evidence. Proposal = offer + named Mission. Signature = order form. Install = layer live + expansion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CHAIN. This is what makes the wedge convert instead of inform.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allocation ask. The SE is the critical unlock; naming one person is ask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T10 concern-answer. Use verbatim in the Tim and Mayur conversations; every answer is evidence-backed.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“why would a bank buy one layer”: it buys a Mission. The wedge only decides which lens goes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productized Process &amp; Workspace Designer. ~60% of bank work lives between systems; the X-Ray prices that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specimen pack: shown in the free wedge so the bank buys a known object. DEFENSE: all figures placeholders until re-based on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diamond = decision Mayur owns (pilot green-light). Blue diamond = first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Productizes the Semantic Modeler. Ontology is key to every use case, so the lens ships thin in every wedge; this SKU is the deep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map opens the door; the truth-gap card carries the money argument. DEFENSE: placeholders until re-based.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 needs shared truth, so every RI opportunity is a Cartographer prospect.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Productizes Decision &amp; Policy. Sentinel = authority, policies, entitlements, with immutable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card changes the conversation: policy as executable, auditable logic. DEFENSE: placeholders until re-based.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Sells best where a Conversational Banking deal is already in flight and risk is the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Backlog items 2.2 (keystone) + 2.3 (SKU). Partner with Aayushi on value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waste register is the fastest trust-builder. DEFENSE: placeholders until re-based; gain-share is only offered where telemetry is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keystone study is the single hardest dependency; it gates the whole recurring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PDP workstream 4. New roles per the backlog: Chief Agentic Operations Officer, Mission Owners, AgentOps, Nexus Stewards, Sentinel Governance, Exception Desks, Workforce Transition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Citibank framing: in the loop, on the loop, out of the loop. Ours: in (A1-A3), on (A4), above (A5), plus the not-delegated zone which risk owns. Detail nodes per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possible vs not possible. The not-permitted list is a starting position drawn from typical bank policy; each bank redraws it from its own delegation of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transition path from the PDP backlog (4.3). This is the slide that turns the org chart from a poster into 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“how do we transition people to the right-hand side”: show the evidence (X-Ray), co-design roles with the floor, build the three skill sets, form exception desks, track % time on judgment work as the success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pyramid-to-inverted-T exhibit is the flagship visual: the org chart follows the autonomy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execute Engine B. The signed W6 roadmap is the deliverable that converts into the Workforce Transition office and the next 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diamond = the sequencing rule decision (never sold cold). This is the fifth row of the critique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table (T13). Presentation order by layer logic; build order optimizes risk (see roadmap).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missing connection the consultant flagged: selling POCs with go-live is powerful only when the POC lands under a funded objective. This chain is the qualification test in the free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five-year-strategy lens the consultant asked for. Must-have = the strategy already needs this to be true. DEFENSE: classification is evidence-based (public signals), refreshed quarterly.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T04 waves. Sequencing: X-Ray first (lowest risk), Telemetry parallel (shares the keystone), Guardrail rides the Conversational pipeline, Cartographer lands on X-Ray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PDP insight: the Factory already contains the discovery-end tools. Delivery cost stays at person-weeks.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Tim: the talent budget is seed capital for a product launch. For Mayur: the same asks already on the PDP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hidden assumptions. Validating the first three in September de-risks the sequence; EAP eligibility gates nominations.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 wedge exists partly to discover the sponsor’s threshold and the bank’s procurement rules before anything is priced.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nomination against program criteria is a selection, so procurement has nothing to tender. Scarcity creates urgency without discounting.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Mechanics 1-2 prevent the RFP trigger; 3-4 defuse the budget-on-a-maybe fear; 5 defuses the captive-diagnostic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Self-critique per the repo’s conservative-bias standard. Overpromising year one burns the credibility the whole line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go on the Mayur 1:1 agenda with the four asks. The EAP row also gates the Tim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The three this-week actions are the whole ask; everything else in the deck exists to earn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93FBFE"/>
                </a:solidFill>
                <a:latin typeface="Libre Franklin"/>
              </a:rPr>
              <a:t>VALUE CONSULTING · PDP ·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400" b="0">
                <a:solidFill>
                  <a:srgbClr val="FFFFFF"/>
                </a:solidFill>
                <a:latin typeface="Libre Franklin"/>
              </a:rPr>
              <a:t>Product Factory: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Libre Franklin"/>
              </a:rPr>
              <a:t>from concept to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859536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C1C4C8"/>
                </a:solidFill>
                <a:latin typeface="Libre Franklin"/>
              </a:rPr>
              <a:t>Four paid product wedges that pre-install Banking OS: prove the model in year one, reach cost neutrality in year two, open a recurring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91440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A717C"/>
                </a:solidFill>
                <a:latin typeface="Libre Franklin"/>
              </a:rPr>
              <a:t>Shyam · July 2026 · for the talent programme (Tim Rutten) and the PDP track (Mayur)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short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Six slides for a ten-minute read. The full playbook behind them starts at chapter 01.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We sell paid discovery that leaves Banking OS installed.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3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93852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RUNG 0 ·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4884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71224"/>
                </a:solidFill>
                <a:latin typeface="Libre Franklin"/>
              </a:rPr>
              <a:t>Ignite Inspire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50592"/>
            <a:ext cx="2103120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~4 meetings: benchmark, leakage hypotheses, and the choice of wedge. Zero friction to 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0156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4066F5"/>
                </a:solidFill>
                <a:latin typeface="Libre Franklin"/>
              </a:rPr>
              <a:t>YOU LEAVE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602736"/>
            <a:ext cx="21031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Specimen pack + a scoped SoW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697480"/>
            <a:ext cx="310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999232"/>
            <a:ext cx="42062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066F5"/>
                </a:solidFill>
                <a:latin typeface="Libre Franklin"/>
              </a:rPr>
              <a:t>propose
· 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75887" y="1828800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193852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RUNG 1 · €60K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214884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71224"/>
                </a:solidFill>
                <a:latin typeface="Libre Franklin"/>
              </a:rPr>
              <a:t>The wedge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2450592"/>
            <a:ext cx="2103120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One diagnostic runs deep on the bank’s own data: X-Ray, Cartographer, Guardrail or Telemetry.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340156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4066F5"/>
                </a:solidFill>
                <a:latin typeface="Libre Franklin"/>
              </a:rPr>
              <a:t>YOU LEAVE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79" y="3602736"/>
            <a:ext cx="21031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Evidence pack + ranked Mission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2697480"/>
            <a:ext cx="310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4184" y="2999232"/>
            <a:ext cx="42062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066F5"/>
                </a:solidFill>
                <a:latin typeface="Libre Franklin"/>
              </a:rPr>
              <a:t>propose
· 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7376" y="1828800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193852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RUNG 2 · €60K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214884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Libre Franklin"/>
              </a:rPr>
              <a:t>Mission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2450592"/>
            <a:ext cx="2103120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Libre Franklin"/>
              </a:rPr>
              <a:t>The top candidate goes live via the Factory in 6-12 weeks. The Rung-1 fee credits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40156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93FBFE"/>
                </a:solidFill>
                <a:latin typeface="Libre Franklin"/>
              </a:rPr>
              <a:t>YOU LEAVE 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3602736"/>
            <a:ext cx="21031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A live loop + telemetry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2697480"/>
            <a:ext cx="31089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2999232"/>
            <a:ext cx="42062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1">
                <a:solidFill>
                  <a:srgbClr val="4066F5"/>
                </a:solidFill>
                <a:latin typeface="Libre Franklin"/>
              </a:rPr>
              <a:t>propose
· sign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98864" y="1828800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193852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3FBFE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214884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Libre Franklin"/>
              </a:rPr>
              <a:t>Value Assurance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2450592"/>
            <a:ext cx="2103120" cy="8686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Libre Franklin"/>
              </a:rPr>
              <a:t>Quarterly cost-per-outcome proof at €30-50K a year plus gain share; compounds with AI use.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3401568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93FBFE"/>
                </a:solidFill>
                <a:latin typeface="Libre Franklin"/>
              </a:rPr>
              <a:t>YOU LEAVE WITH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3602736"/>
            <a:ext cx="21031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The next Mission ranked + funded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370832"/>
            <a:ext cx="1070579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F3799"/>
                </a:solidFill>
                <a:latin typeface="Libre Franklin"/>
              </a:rPr>
              <a:t>Read left to right: </a:t>
            </a:r>
            <a:r>
              <a:rPr sz="1100" b="0">
                <a:solidFill>
                  <a:srgbClr val="071224"/>
                </a:solidFill>
                <a:latin typeface="Libre Franklin"/>
              </a:rPr>
              <a:t>each rung is cheap to enter, and its exit artifact is written as the entry contract of the next rung.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84632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6062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one-liner: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paid discovery that leaves the platform installed.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6" name="TextBox 4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Engine A products fill Rung 1; the Factory Mission Sprint is Rung 2; Engine B sells downstream of Rung 1. Full detail: chapters 01-03.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LINE-UP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offers: what each sells, why us, and what the bank gets.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78892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WHAT IT SELLS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WHY ONLY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WHAT THE BANK 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6688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938528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993392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020824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395728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€50-75K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Observes real flows across the 6-12 systems per journey; prices the leakage in the messy middle.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Productizes the Process &amp; Workspace Designer; runs the APA matrix on live client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The Mission candidate + ROI evidence; feeds Customer Ops and Bank Ops sales.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2020824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2048256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2286000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Assets exist; lite mode needs no InfoSec 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2724912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779776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2807208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182112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€15-50K +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Cost-per-outcome observability on live AI deployments; waste scan and ROI re-proof.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Only the vendor in the execution path sees cost per resolved outcome; extends the cost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Waste register + re-proved ROI; the recurring Value Assurance line, the NRR engine.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76688" y="2807208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6688" y="2834640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 ·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3072384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Needs a live deployment + the keystone study.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511296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3566160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3593591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3968496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€50-100K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Codifies authority, policy and entitlements into executable, auditable guardrails.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Rules load straight into Sentinel; the platform executes what the workshop writes.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The risk committee’s approval pack; unblocks Transact and Resolve deals in flight.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76688" y="3593591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621024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858768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Documents and workshops only; no system access.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4297680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4352544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" y="4379976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754880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€75-100K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Maps the bank’s scattered data into the shared banking ontology; prices the truth gap.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Pre-installs Nexus; metadata-only, customer data never leaves the bank.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The € case for shared truth + the Nexus blueprint; feeds Relationship Intelligence.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76688" y="4379976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76688" y="4407408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071224"/>
                </a:solidFill>
                <a:latin typeface="Libre Franklin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6688" y="4645152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Deepest build; needs R&amp;D alignment first.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" y="5084064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" y="5138928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5166360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AI-Native Org Design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5541264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€80-150K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Redesigns the org chart on the A1-A5 autonomy curve: pyramid to inverted-T.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Runs on Engine A evidence no consultancy holds; binds the human layer of the OS.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Target org + transition roadmap; opens the CEO and CHRO door, locks in renewal.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76688" y="5166360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5193792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071224"/>
                </a:solidFill>
                <a:latin typeface="Libre Franklin"/>
              </a:rPr>
              <a:t>MEDIUM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6688" y="5431536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v0.1 exists; sells only downstream of a wedge.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7" name="TextBox 6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Tickets are price points to pressure-test (chapter 05 assumptions). Feasibility rates build + sell risk today; gates are on the roadmap, chapter 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proof year, then a cost-neutral line with recurring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4572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spc="100">
                <a:solidFill>
                  <a:srgbClr val="6A717C"/>
                </a:solidFill>
                <a:latin typeface="Libre Franklin"/>
              </a:rPr>
              <a:t>WHAT THE PLAN MOVES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Year one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paid installs, one per product family (€0.4-0.5M)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474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33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Year two 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33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933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installs a year: the cost-neutral rate (~€1.2M covered)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First revenue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Jan 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X-Ray and Telemetry first signatures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542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001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Recurring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001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€30-50K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001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a year per account, plus 15-35% gain 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49039"/>
            <a:ext cx="5120640" cy="74980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3749039"/>
            <a:ext cx="4663440" cy="7498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re Franklin"/>
              </a:rPr>
              <a:t>Cost neutral in year two; beyond dot ten it is a revenue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785615"/>
            <a:ext cx="5257800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Capacity-checked: 1.5 FTE pod caps year one at 4-5 installs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Year-two scale is funded by year-one revenue, delivering from kits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Team cost ~€1.2M is the PDP working figure, owned by finance to validate. Full math: chapter 06, honest critique.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ROUTE TO 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Banks buy it by nomination, with the fee crediting forward.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Early Access nomination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8 slots remain in the mid-year cohort. Nominated against program criteria; nothing for procurement to tender.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15768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0720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fee credits forward,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63239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On conversion the wedge fee credits into the Mission POC. The budget is never spent on a maybe.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48456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21608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73989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bank owns 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95928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Vendor-neutral artifacts, a 10×-value-or-free floor, and the specimen pack shown before any signature.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78308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NOMINATED, NEVER TENDERED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Co-creation is the answer to “why you, you are new”.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47472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Roadmap influence, engineering at the table, joint proof. Scarcity is honest: when the slots are gone, the cohort closes.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709160"/>
            <a:ext cx="5074920" cy="5669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809744"/>
            <a:ext cx="4617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EC5E48"/>
                </a:solidFill>
                <a:latin typeface="Libre Franklin"/>
              </a:rPr>
              <a:t>Open · </a:t>
            </a:r>
            <a:r>
              <a:rPr sz="1150" b="0">
                <a:solidFill>
                  <a:srgbClr val="071224"/>
                </a:solidFill>
                <a:latin typeface="Libre Franklin"/>
              </a:rPr>
              <a:t>EAP eligibility (new logos vs existing customers) to confirm with the program owner.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Full buying-criteria and pre-RFP mechanics: chapter 06.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WHO NEEDS IT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Must-have accounts show the pressure and the stated ambition.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7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914400" y="187451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874519"/>
            <a:ext cx="2880360" cy="1508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8327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338327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96596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F3799"/>
                </a:solidFill>
                <a:latin typeface="Libre Franklin"/>
              </a:rPr>
              <a:t>MUST-HAVE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185415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High cost pressure + stated AI ambition. Lead with X-Ray + EAP nomination.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6596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MUST-HAVE SOON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85415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High pressure, ambition not yet articulated. Sell the ambition with the free wedge.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7472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GOOD-TO-HAVE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94176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Ambition without pressure: innovation budgets, ideal EAP candidates.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94176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6A717C"/>
                </a:solidFill>
                <a:latin typeface="Libre Franklin"/>
              </a:rPr>
              <a:t>Neither yet visible. Keep in the free-wedge funnel.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79"/>
            <a:ext cx="57607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STATED AI / DIGITAL AMBITION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60020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↑ STRATEGIC COST PRESSURE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874519"/>
            <a:ext cx="4526280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029968"/>
            <a:ext cx="41148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SIGNALS TO READ (5-YEAR STRATEGY)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304288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Cost-income guidance and named cost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615184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AI or agentic ambition stated in the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26080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Branch and headcount reduction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236976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Digital attacker pressure in home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47872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M&amp;A integration or regulatory remediation load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Week one with the AEs: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classify the account list against these signals.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Archetypes, never named accounts on slides; classify real accounts from annual-report signals with the AE. Full version: chapter 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Three decisions this week put product one in market.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1 · The Mayur 1:1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Quota treatment, pilot green-light, the named SE at 0.5 FTE, and the five open decisions of chapter 06.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15768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07208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2 · EAP 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63239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Confirm with the program owner whether the 8 slots take new logos, existing customers, or both; shortlist nominations.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48456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21608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739896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3 · The Tim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95928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Category story and launch collateral with marketing; the €5,000 talent budget becomes seed capital for Process X-Ray.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4632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6062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Everything else in this deck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exists to earn these three decisions.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full ask set and the honest critique behind the revised targets: chapters 05-06.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thesis, the filter, the economics, the ladder and lifecycle, and the pod that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Every product earns a fee, harvests reality, installs the OS.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1 · It earns a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Each install is paid work at €15-100K, priced as a product with a fixed scope and a delivery kit.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16936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990088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00837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2 · It harvests proprietary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264408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engagement captures the bank’s real processes, data structures and policies. Evidence only Backbase holds.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0791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123944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142231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3 · It pre-binds a Banking OS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398264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output is a working component: Nexus, Sentinel or a Mission candidate, already present in the account.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78308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THE ONE-LINER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Paid discovery that leaves the platform installed.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977639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Each engagement ends with a live Banking OS component in the account, a quantified expansion case for the AE, and account intelligence competitors never see.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9" name="TextBox 2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Filter rule: a candidate that fails any one test is consulting and stays out of the line. Aligned to the Banking OS canon (banking-os.md).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TWO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products harvest evidence; the services redesign the bank.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B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257800" cy="288036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1947672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ENGINE A · PRODUCT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194560"/>
            <a:ext cx="47548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071224"/>
                </a:solidFill>
                <a:latin typeface="Libre Franklin"/>
              </a:rPr>
              <a:t>Installs the technical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560320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Four SKUs: X-Ray, Cartographer, Guardrail,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852927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Pre-binds Nexus, Sentinel and Mission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14553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Earns €15-100K per install; fees credit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438144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Harvests the account evidence nobody else 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315968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→ the evidence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783080"/>
            <a:ext cx="5257800" cy="28803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947672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ENGINE B · AI-NATIVE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194560"/>
            <a:ext cx="47548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Libre Franklin"/>
              </a:rPr>
              <a:t>Installs the human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560320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Maturity Assessment, Workforce Optimization, and the flagship AI-Native Org Design (v0.1 exists)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2990087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Redesigns the org chart on the A1-A5 autonomy curve: pyramid to inverted-T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3419856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Pre-binds the roles that run Banking OS: Mission Owners, AgentOps, Exception Desks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849624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Earns €80-150K per engagement (to validate)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315968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3FBFE"/>
                </a:solidFill>
                <a:latin typeface="Libre Franklin"/>
              </a:rPr>
              <a:t>→ the operating-model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Sequencing rule: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Engine B never sells cold; it runs on Engine A’s harvested evidence.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Engine B passes the same three tests when fed by Engine A. Ticket range is an assumption to validate against market org-design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Ten installs cover the team cost; every one beyond is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12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58521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A717C"/>
                </a:solidFill>
                <a:latin typeface="Libre Franklin"/>
              </a:rPr>
              <a:t>One dot = one paid install a year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002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29260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9260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860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8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34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150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3931920"/>
            <a:ext cx="146304" cy="14630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3895344"/>
            <a:ext cx="29260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A717C"/>
                </a:solidFill>
                <a:latin typeface="Libre Franklin"/>
              </a:rPr>
              <a:t>Installs to cost neutrality (10)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3931920"/>
            <a:ext cx="146304" cy="146304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9976" y="3895344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A717C"/>
                </a:solidFill>
                <a:latin typeface="Libre Franklin"/>
              </a:rPr>
              <a:t>Year-two expansion range (14-16)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965960"/>
            <a:ext cx="4270248" cy="2148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194560"/>
            <a:ext cx="18288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800" b="1">
                <a:solidFill>
                  <a:srgbClr val="4066F5"/>
                </a:solidFill>
                <a:latin typeface="Libre Franklin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017520"/>
            <a:ext cx="36576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0">
                <a:solidFill>
                  <a:srgbClr val="071224"/>
                </a:solidFill>
                <a:latin typeface="Libre Franklin"/>
              </a:rPr>
              <a:t>installs a year at an average package of €120K cover the ~€1.2M annual team cost.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Cost neutrality is the floor: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objective is the revenue line beyond dot ten.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Package = Assess &amp; Solution €60K + Mission POC €60K. Team cost ~€1.2M is the PDP working figure, to validate with finance. Chapter 04 phases year one at 3-4 installs.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wedge stays free; depth and recurrence carry the price.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21488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221992"/>
            <a:ext cx="41148" cy="11338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240280"/>
            <a:ext cx="19202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0 · free wedge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96312"/>
            <a:ext cx="1920240" cy="8595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Ignite Inspire: ~4 meetings, benchmark and use-case shortlist. Grows the funnel.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606040"/>
            <a:ext cx="27432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874519"/>
            <a:ext cx="53035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RUNGS 1 + 2 · THE €120K PACKAGE (TO SCALE)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148840"/>
            <a:ext cx="2651760" cy="73152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2258568"/>
            <a:ext cx="237744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Libre Franklin"/>
              </a:rPr>
              <a:t>Assess &amp; Solution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48840"/>
            <a:ext cx="2651760" cy="73152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258568"/>
            <a:ext cx="237744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Libre Franklin"/>
              </a:rPr>
              <a:t>Mission POC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606040"/>
            <a:ext cx="27432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1488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258568"/>
            <a:ext cx="192024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505456"/>
            <a:ext cx="192024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Value Assurance
€30-50K a year
+ gain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050791"/>
            <a:ext cx="41148" cy="7223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069079"/>
            <a:ext cx="48920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free wedge feeds the 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325112"/>
            <a:ext cx="4892040" cy="4480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Four meetings surface the leakage evidence that qualifies the paid wedge. Zero friction to start.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977639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050791"/>
            <a:ext cx="41148" cy="7223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069079"/>
            <a:ext cx="48920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Recurrence is the growth flywheel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325112"/>
            <a:ext cx="4892040" cy="4480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Telemetry converts every live deployment into quarterly revenue that compounds with AI consumption.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5" name="TextBox 3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Recurring range anchored on SAP and ServiceNow success plans (10-30% of licence) and FinOps gain-share practice (15-35% of realised savings).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LADDER MEETS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bank buys the ladder; the pod delivers it as one lifecycle.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E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14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A717C"/>
                </a:solidFill>
                <a:latin typeface="Libre Franklin"/>
              </a:rPr>
              <a:t>WHAT THE BANK BUYS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RUNG 0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Ignite Inspire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Hypotheses, wedge choice, specimen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5887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79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RUNG 1 · €60K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wedge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X-Ray, Cartographer, Guardrail or Telemetry on the bank’s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3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7376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RUNG 2 · €60K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Mission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Factory Mission Sprint: the top candidate live in 6-12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98864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63456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3FBFE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Value Assurance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Quarterly cost-per-outcome proof funds the next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529584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A717C"/>
                </a:solidFill>
                <a:latin typeface="Libre Franklin"/>
              </a:rPr>
              <a:t>HOW THE POD DELIVERS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12264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7" name="Rounded Rectangle 36"/>
          <p:cNvSpPr/>
          <p:nvPr/>
        </p:nvSpPr>
        <p:spPr>
          <a:xfrm>
            <a:off x="914400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01 Concept · 02 Design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73752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0" name="Rounded Rectangle 39"/>
          <p:cNvSpPr/>
          <p:nvPr/>
        </p:nvSpPr>
        <p:spPr>
          <a:xfrm>
            <a:off x="3675887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67327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03 Prototype · 04 Proof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Rounded Rectangle 42"/>
          <p:cNvSpPr/>
          <p:nvPr/>
        </p:nvSpPr>
        <p:spPr>
          <a:xfrm>
            <a:off x="6437376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07 Install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96728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6" name="Rounded Rectangle 45"/>
          <p:cNvSpPr/>
          <p:nvPr/>
        </p:nvSpPr>
        <p:spPr>
          <a:xfrm>
            <a:off x="9198864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0304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Run · measure · expand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Read it both ways: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each rung is a paid lifecycle stage, and each exit artifact is the next purchase’s entry contract.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Stages 05 Proposal and 06 Signature are the arrows between rungs: each rung ends by proposing and signing the next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One motion takes each product from concept to install.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· 1 wk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5436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5164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1468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1468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1468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+ SE · 1-2 wks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95928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2232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SE · 2-3 wks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6964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6692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82996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2996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2996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· 2-4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77456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23760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+ AE · 1 wk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8492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18220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64524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4524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Signature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4524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AE + VC · 2-4 wks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58984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05288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5288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Install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5288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FDE + SE · 6-12 wks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379476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390906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It runs twice over: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first pass builds the product; every later pass is a 4-8 week cycle per install.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Durations are per-engagement once the product exists, ±30% tolerance. The first pass through stages 1-4 is the one-time build.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CONNECTING THE DOTS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Each deliverable is the entry contract of the next purchase.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INSPIRE (FREE)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Inspire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Leakage hypotheses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Wedge choice + scope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Specimen output pack</a:t>
            </a:r>
          </a:p>
        </p:txBody>
      </p:sp>
      <p:sp>
        <p:nvSpPr>
          <p:cNvPr id="16" name="Diamond 15"/>
          <p:cNvSpPr/>
          <p:nvPr/>
        </p:nvSpPr>
        <p:spPr>
          <a:xfrm>
            <a:off x="3392424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THE 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evidence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€ leakage, evidenced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Integration landscape map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Ranked Mission backlog</a:t>
            </a:r>
          </a:p>
        </p:txBody>
      </p:sp>
      <p:sp>
        <p:nvSpPr>
          <p:cNvPr id="22" name="Diamond 21"/>
          <p:cNvSpPr/>
          <p:nvPr/>
        </p:nvSpPr>
        <p:spPr>
          <a:xfrm>
            <a:off x="6153912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THE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live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Resolution loop in production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Telemetry baseline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Sentinel-governed, auditable</a:t>
            </a:r>
          </a:p>
        </p:txBody>
      </p:sp>
      <p:sp>
        <p:nvSpPr>
          <p:cNvPr id="28" name="Diamond 27"/>
          <p:cNvSpPr/>
          <p:nvPr/>
        </p:nvSpPr>
        <p:spPr>
          <a:xfrm>
            <a:off x="8915400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8864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6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EVERY QUARTER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value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Cost per outcome, measured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Savings register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Next Mission ranked + funded</a:t>
            </a:r>
          </a:p>
        </p:txBody>
      </p:sp>
      <p:sp>
        <p:nvSpPr>
          <p:cNvPr id="34" name="Diamond 33"/>
          <p:cNvSpPr/>
          <p:nvPr/>
        </p:nvSpPr>
        <p:spPr>
          <a:xfrm>
            <a:off x="914400" y="4023359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3977639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977639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Sponsor signs the wedge SoW, inside their own delegated authority.</a:t>
            </a:r>
          </a:p>
        </p:txBody>
      </p:sp>
      <p:sp>
        <p:nvSpPr>
          <p:cNvPr id="37" name="Diamond 36"/>
          <p:cNvSpPr/>
          <p:nvPr/>
        </p:nvSpPr>
        <p:spPr>
          <a:xfrm>
            <a:off x="6355080" y="4023359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3977639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3977639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ExCo funds Mission #1; the wedge fee credits into the POC.</a:t>
            </a:r>
          </a:p>
        </p:txBody>
      </p:sp>
      <p:sp>
        <p:nvSpPr>
          <p:cNvPr id="40" name="Diamond 39"/>
          <p:cNvSpPr/>
          <p:nvPr/>
        </p:nvSpPr>
        <p:spPr>
          <a:xfrm>
            <a:off x="914400" y="4498847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0432" y="4453127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453127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Measured value meets the case; the licence conversation opens.</a:t>
            </a:r>
          </a:p>
        </p:txBody>
      </p:sp>
      <p:sp>
        <p:nvSpPr>
          <p:cNvPr id="43" name="Diamond 42"/>
          <p:cNvSpPr/>
          <p:nvPr/>
        </p:nvSpPr>
        <p:spPr>
          <a:xfrm>
            <a:off x="6355080" y="4498847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4453127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4453127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next domain is funded; the loop repeats on the same Banking 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Nothing is a shelf report: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every artifact is authored as the input of the next purchase order.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G1-G4 are the account-level gates. Each product also has its own build gates (SE named, pilot green-light, R&amp;D alignment), shown on the roadmap.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RESOURCING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2.5-person pod runs the line; hiring follows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1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You · product owner · 1.0 FTE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SKU design, value narrative, proof economics, proposal. Owns the P&amp;L of the 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Solution engineer · 0.5 FTE, named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Connectors, data extraction, Factory tooling at prototype and install. The technical spine.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FDE · on demand at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Runs the Factory Mission Sprint once an install is signed. 6-12 weeks per 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SME · on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Risk and compliance review for Guardrail Studio; R&amp;D liaison for the Cartographer.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WHY THE SOLUTION ENGINEER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One named SE across all four products, so skill compounds.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Every product runs on the same Factory tools: Connector Studio, Semantic Modeler, Simulation &amp; Testing. Each install makes the next one cheaper and faster.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FTEs are steady-state allocations. FDE capacity comes from standard Mission Sprint staffing at install and is charged to the delivery.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OBJECTIONS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three obvious objections have concrete answers.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1975104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“Banks will not pay for discovery.”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901952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56816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The market already does: AIB paid ~€80K for a weaker assessment. AWS, SAP and ServiceNow run the diagnostic-wedge motion; ours installs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99232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145536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“We have no capacity to build products.”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999232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3072384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127248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Build effort is 6-12 person-weeks per product because the Factory tools, the APA V3 catalog and the cost model already exist. One product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69664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315968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“This distracts from platform sales.”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4169664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4242816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4297680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Every install pre-binds Nexus, Sentinel or a Mission and hands the AE a quantified expansion case. The wedge is the land motion.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AIB reference: ~€80K external assessment (ADS), PDP session record, 29 Jun 2026. Wedge patterns: AWS OLA, SAP Outside-In, ServiceNow Inspire.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execution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Four products and the services flagship: what each does, its outputs, and the plan to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PLANS · HOW THE FOUR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bank buys a Mission, and every wedge surveys all four lenses.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Ops pain is the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Process X-Ray. Deep: work + leakage. Thin: ontology, guardrails,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Data ambition (RI) is the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Ontology Cartographer. Deep: shared truth. Thin: work, guardrails,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Risk is blocking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Guardrail Studio. Deep: authority + policy. Thin: work, ontology, telemetry.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AI is live, ROI is doubted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Value Telemetry. Deep: measured value. Thin: work, ontology, guardrails.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ONE DEEP LENS, THREE THIN LENSES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Every engagement ships all four lenses; the wedge sets the depth.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Each wedge adds an ontology appendix, an authority snapshot and telemetry hooks beside its deep dive. The account always ends holding a full-stack blueprint.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entry door follows the account’s live buying trigger. All-lens coverage is standard because a Mission needs truth, guardrails and telemetry at once.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1 OF 4 · PROCESS X-RAY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Process X-Ray reconstructs real work and prices the leakage.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 · scope 2-3 journeys from the APA matrix; agree access and baselines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inventory every system, interface and handoff per journey (the integration landscape)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2-4 · extract logs and queues; shadow the ops floor (6-8 sessions); rebuild actual vs designed flows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4-5 · price the leakage per step: time × volume × cost, abandonment × revenue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5-6 · rank Mission candidates; exec readout with CFO-grade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COO or head of operations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SME time ~6-10 hours a week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Lite mode: ops MI packs + sampled cases; no InfoSec cycle, prospect-safe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Instrumented mode: read-only logs, for existing customers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SE 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€ p.a. leakage per journey, evidenced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Integration landscape: systems, interfaces, API readiness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Ranked Mission backlog, top 3, with ROI case each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ontology + authority snapshots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The Rung-2 POC proposal, pre-written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systems map scopes Connector Studio before anyone commits.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Lite mode exists because prospects rarely grant system access pre-contract; it trades precision for zero InfoSec friction.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PROCESS X-RAY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X-Ray hands over the heatmap, systems map and Mission card.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22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VALUE-LEAKAGE HEATMAP · €M P.A.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Onb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Serv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Disp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478024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Retail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5376" y="2386584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2" y="2386584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5808" y="2386584"/>
            <a:ext cx="566928" cy="3657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2.4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386584"/>
            <a:ext cx="566928" cy="36576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2880360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65376" y="2788920"/>
            <a:ext cx="566928" cy="365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65376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2" y="2788920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2788920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21024" y="2788920"/>
            <a:ext cx="566928" cy="36576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024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3282696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Comm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65376" y="3191256"/>
            <a:ext cx="566928" cy="365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5376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50592" y="3191256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35808" y="3191256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21024" y="3191256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21024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3749039"/>
            <a:ext cx="3118104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Disputes · Retail leads: €2.4M p.a. across 41% manual touches and a 9.2-day cycle.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picks the domain the Mission starts 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INTEGRATION LANDSCAPE · DISPUTE JOURNEY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59" y="218541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599" y="223113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Core (T24)</a:t>
            </a:r>
          </a:p>
        </p:txBody>
      </p:sp>
      <p:sp>
        <p:nvSpPr>
          <p:cNvPr id="51" name="Oval 50"/>
          <p:cNvSpPr/>
          <p:nvPr/>
        </p:nvSpPr>
        <p:spPr>
          <a:xfrm>
            <a:off x="4818888" y="2468880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46903" y="242316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API interface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18503" y="218541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9943" y="223113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CRM (SFDC)</a:t>
            </a:r>
          </a:p>
        </p:txBody>
      </p:sp>
      <p:sp>
        <p:nvSpPr>
          <p:cNvPr id="55" name="Oval 54"/>
          <p:cNvSpPr/>
          <p:nvPr/>
        </p:nvSpPr>
        <p:spPr>
          <a:xfrm>
            <a:off x="6428231" y="2468880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7" y="242316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API interface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09159" y="273405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599" y="277977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Fraud (Falcon)</a:t>
            </a:r>
          </a:p>
        </p:txBody>
      </p:sp>
      <p:sp>
        <p:nvSpPr>
          <p:cNvPr id="59" name="Oval 58"/>
          <p:cNvSpPr/>
          <p:nvPr/>
        </p:nvSpPr>
        <p:spPr>
          <a:xfrm>
            <a:off x="4818888" y="3017520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46903" y="297180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file interface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18503" y="273405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9943" y="277977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Cases (Pega)</a:t>
            </a:r>
          </a:p>
        </p:txBody>
      </p:sp>
      <p:sp>
        <p:nvSpPr>
          <p:cNvPr id="63" name="Oval 62"/>
          <p:cNvSpPr/>
          <p:nvPr/>
        </p:nvSpPr>
        <p:spPr>
          <a:xfrm>
            <a:off x="6428231" y="301752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6247" y="297180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manual interface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09159" y="328269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599" y="3328415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Mail (O365)</a:t>
            </a:r>
          </a:p>
        </p:txBody>
      </p:sp>
      <p:sp>
        <p:nvSpPr>
          <p:cNvPr id="67" name="Oval 66"/>
          <p:cNvSpPr/>
          <p:nvPr/>
        </p:nvSpPr>
        <p:spPr>
          <a:xfrm>
            <a:off x="4818888" y="356616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46903" y="3520439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manual interface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18503" y="328269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9943" y="3328415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Pay hub</a:t>
            </a:r>
          </a:p>
        </p:txBody>
      </p:sp>
      <p:sp>
        <p:nvSpPr>
          <p:cNvPr id="71" name="Oval 70"/>
          <p:cNvSpPr/>
          <p:nvPr/>
        </p:nvSpPr>
        <p:spPr>
          <a:xfrm>
            <a:off x="6428231" y="3566160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56247" y="3520439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file interface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09159" y="3977639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8 systems (+2 not shown) · 3 manual swivels · 2 API-ready · 4 to build via Connector Studio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scopes the integration work before commitment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9327" y="1920240"/>
            <a:ext cx="31089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MISSION CANDIDATE #1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7" y="2157984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re Franklin"/>
              </a:rPr>
              <a:t>Card dispute resolution loop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9327" y="2761488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Value: €1.9M p.a., evidenced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054096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Autonomy target: A4, execute by exception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9327" y="3346704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Feasibility: high · 12 integration points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7" y="3639312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8 live via APIs, 4 built in the Sprint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39327" y="3931920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Mission length: 8 weeks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846320"/>
            <a:ext cx="310896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→ becomes the Rung-2 POC scope, fee credited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5" name="TextBox 8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1 OF 4 · PROCESS X-RAY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X-Ray ships first: proof by December, revenue in January.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23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6163056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Aug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Delivery kit, pricing one-pager, demo script. 3 pw, VC.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Sep-Oct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Demo on the APA V3 catalog (65 processes) plus one friendly dataset. 5 pw.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Pilot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Prospect pilot green-light with Mayur. AIB-profile account.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Oct-Dec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leakage heatmap, top-3 Mission candidates with ROI. 6 pw.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Wedge sold at €50-75K; install starts as a Mission Sprint.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SE 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Mission + ROI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Effort ±30%. Build is low-risk: the APA V3 catalog (65 processes, 283 steps), journey builder and leakage method already exist.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2 OF 4 · ONTOLOGY CARTOGRAPHER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maps scattered data to one shared truth.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inventory the data landscape: core, CRM, LMS, credit, workflow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harvest schemas and data dictionaries (metadata only)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3-5 · map entities to the banking ontology; surface overlaps and conflicts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5-7 · score truth-gaps per entity; price them in ops time and error cost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7-8 · phased Nexus binding blueprint with a precise entity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CDO or CIO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data stewards 4-6 hours a week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schema metadata only; customer data never leaves the bank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R&amp;D liaison: Semantic Modeler and Nexus teams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SE 1.0 + VC 0.5 (SE-led)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Ontology coverage map, entity by entity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Truth-gap report, priced in ops time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Data-source integration inventory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Phased Nexus blueprint: what binds first, and why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authority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shared truth is the precondition for RI and any A4-plus Mission.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Metadata-only access keeps the InfoSec review at schema level. Nexus is the system of truth; systems of record stay where they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ONTOLOGY CARTOGRAPHER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shows where the bank’s truth fragments.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9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ONTOLOGY COVERAGE MAP · BY 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85416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240280"/>
            <a:ext cx="36576" cy="38404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22402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441448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6 sources · 4 conflicts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88336" y="2185416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88336" y="2240280"/>
            <a:ext cx="36576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22402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441448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3 sources · aligned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2770632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8992" y="2825496"/>
            <a:ext cx="3657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7" y="2825496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3026664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4 sources · 2 conflicts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88336" y="2770632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88336" y="2825496"/>
            <a:ext cx="36576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6352" y="2825496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3026664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2 sources · aligned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" y="3355848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" y="3410712"/>
            <a:ext cx="3657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7" y="3410712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Collateral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36118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fragmented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88336" y="3355848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88336" y="3410712"/>
            <a:ext cx="36576" cy="38404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3410712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36118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absent as an 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206240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Four definitions of “active customer” is the exhibit that lands.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conversation starter for the CDO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TRUTH-GAP REPORT · FRAGMENTATION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2194560"/>
            <a:ext cx="311810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4066F5"/>
                </a:solidFill>
                <a:latin typeface="Libre Franklin"/>
              </a:rPr>
              <a:t>11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278892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for an RM to assemble one customer view across 5 screens</a:t>
            </a:r>
          </a:p>
        </p:txBody>
      </p:sp>
      <p:sp>
        <p:nvSpPr>
          <p:cNvPr id="44" name="Oval 43"/>
          <p:cNvSpPr/>
          <p:nvPr/>
        </p:nvSpPr>
        <p:spPr>
          <a:xfrm>
            <a:off x="4727447" y="3447288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3374136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23% of fields disagree between systems</a:t>
            </a:r>
          </a:p>
        </p:txBody>
      </p:sp>
      <p:sp>
        <p:nvSpPr>
          <p:cNvPr id="46" name="Oval 45"/>
          <p:cNvSpPr/>
          <p:nvPr/>
        </p:nvSpPr>
        <p:spPr>
          <a:xfrm>
            <a:off x="4727447" y="3758184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685032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€1.1M p.a. of RM time reassembling truth</a:t>
            </a:r>
          </a:p>
        </p:txBody>
      </p:sp>
      <p:sp>
        <p:nvSpPr>
          <p:cNvPr id="48" name="Oval 47"/>
          <p:cNvSpPr/>
          <p:nvPr/>
        </p:nvSpPr>
        <p:spPr>
          <a:xfrm>
            <a:off x="4727447" y="406908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3995928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31% of complaints touch a data mismatch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€ case for shared truth, before licence talk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NEXUS BINDING BLUEPRINT · PHASED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39327" y="219456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226771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re Franklin"/>
              </a:rPr>
              <a:t>Phase 1 · 12 wks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249631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Libre Franklin"/>
              </a:rPr>
              <a:t>Core + CRM · 40 entities · customer, account, product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9327" y="292608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299923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Phase 2 · 10 wks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322783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Credit + LMS · +25 entities · exposure, collateral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9327" y="365760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85632" y="373075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Phase 3 · 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395935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Cases + documents · the service layer of truth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9327" y="507492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makes the Nexus licence scope precise, so pricing stops being a guess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4" name="TextBox 63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2 OF 4 · ONTOLOGY CARTOGRAPHER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is the deepest build and lands on X-Ray demand.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26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Diamond 12"/>
          <p:cNvSpPr/>
          <p:nvPr/>
        </p:nvSpPr>
        <p:spPr>
          <a:xfrm>
            <a:off x="1682495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23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794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Feb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R&amp;D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Alignment with the Semantic Modeler and Nexus teams on tooling reuse.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57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Mar-Apr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7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57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Ontology mapping demo on two sample cores. 6 pw, SE-led.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27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May-Jul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7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27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coverage map, truth-gap report, Nexus blueprint. 8 pw.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Aug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Sold at €75-100K, attached to Relationship Intelligence deals.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10-12 person-wks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SE 1.0 + VC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Nexus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Sequenced last as a full SKU: highest technical depth, needs R&amp;D alignment. The ontology lens ships thin in every other wedge from day 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3 OF 4 · GUARDRAIL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turns written policy into executable rules.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B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harvest delegation of authority, credit policy, SOPs, entitlement matrices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2-3 · map authority per process step: who may recommend, approve, execute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3-4 · score agent-readiness per step on the A1-A5 autonomy scale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4-5 · codification workshops (4-5) with risk and compliance: policy to executable rules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5-6 · audit-trail design; Sentinel readiness score and blueprint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CRO or COO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risk, compliance and ops SMEs in 4-5 workshops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documents and workshops; no system access needed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InfoSec stays off the critical path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SE 0.5 + compliance SME 0.2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Authority map: current vs agent-ready state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Guardrail backlog: 20-30 executable rules, each traced to policy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Audit-trail design for immutable evidence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Sentinel readiness score + install blueprint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ontology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this is the approval pack a risk committee needs before any agent acts.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Timed to the Conversational Banking pipeline: governed execution is the prerequisite for Transact and Resolve.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GUARDRAIL STUDIO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shows where an agent can safely act.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AUTHORITY MAP · CARD DISPUTE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2249424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Freeze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7" y="2468879"/>
            <a:ext cx="914400" cy="13716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441448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A4 · agent executes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2761488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2816352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Provisional credit ≤ €500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7" y="3035808"/>
            <a:ext cx="914400" cy="13716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008376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A4 · executes with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3328415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7" y="3383279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Provisional credit &gt; €500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7" y="3602735"/>
            <a:ext cx="914400" cy="137160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575303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A3 · human approves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" y="3895344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7" y="3950207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Account closure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7007" y="4169663"/>
            <a:ext cx="914400" cy="137160"/>
          </a:xfrm>
          <a:prstGeom prst="roundRect">
            <a:avLst>
              <a:gd name="adj" fmla="val 8000"/>
            </a:avLst>
          </a:prstGeom>
          <a:solidFill>
            <a:srgbClr val="D2D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142231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A1 · human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boundary, drawn from the bank’s own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GUARDRAIL RULE CARD · OF THE 20-30 BACKLOG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72583" y="2185416"/>
            <a:ext cx="3191256" cy="178308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5" y="2313432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>
                <a:solidFill>
                  <a:srgbClr val="93FBFE"/>
                </a:solidFill>
                <a:latin typeface="Libre Franklin"/>
              </a:rPr>
              <a:t>GR-014 · Provisional credit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5" y="2615184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IF dispute.amount ≤ €500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7175" y="2916936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AND fraud_score &lt; 0.2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5" y="3218688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THEN agent EXECUTES, immutable 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5" y="3520440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ELSE route to human approver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416052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Source: Card Policy §4.2 · Status: codified · Owner: dispute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each rule loads straight into Sentinel at install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SENTINEL READINESS · SCORED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167128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EC5E48"/>
                </a:solidFill>
                <a:latin typeface="Libre Franklin"/>
              </a:rPr>
              <a:t>34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2807208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Authority mapped · 45%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9327" y="3035808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39327" y="3035808"/>
            <a:ext cx="1403146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331927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Policies codified · 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7" y="3547872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39327" y="3547872"/>
            <a:ext cx="623620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383133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Audit trails in place · 38%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9327" y="4059936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9327" y="4059936"/>
            <a:ext cx="1184879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452628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Target: 80+ once the backlog is codified.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risk committee’s go/no-go dashboard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6" name="TextBox 5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3 OF 4 · GUARDRAIL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attaches to Conversational deals in flight.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29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23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794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Decision &amp; Policy alignment; risk and compliance SME briefed. 3 pw.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57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Feb-Mar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7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57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Authority-map demo: recommend, approve, execute per process. 5 pw.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27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Apr-May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7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27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guardrail backlog, entitlements map, Sentinel blueprint. 6 pw.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Jun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Sold at €50-100K, riding Transact and Resolve deals.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SE 0.5 + SME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Sentinel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Governed execution is the prerequisite for Transact and Resolve, which makes the Sentinel-readiness wedge a natural attach on active deals.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4 OF 4 · VALUE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Value Telemetry measures the true cost per resolved outcome.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E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 · instrument the live deployment: interaction logs, model calls, consumption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tag outcomes: resolved, escalated, abandoned; define the taxonomy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 · compute cost per outcome per use case (never per interaction)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2-3 · scan for waste: PTU over-provision, model routing, dead agents, retry loops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 · re-prove ROI vs the original case; install the quarterly cadence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Prerequisite: a live AI deployment (Backbase or third party)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read-only consumption + interaction logs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finance partner to validate cost lines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0.5 + SE 0.25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Dependency: the keystone cost-per-outcome model (with Deepak)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Cost-per-outcome baseline per use case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Waste register with € values and named owners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ROI re-proof vs the original business case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 quarterly value cadence, installed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guardrail observations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baseline becomes the yardstick every later Mission is measured against.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Only the vendor in the execution path measures cost per resolved outcome; external FinOps tools see the cloud bill. Gain-share per market practice.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VALUE TELEMETRY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Telemetry turns AI worth into a number the CFO can sign.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COST PER OUTCOME · BY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11704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267712"/>
            <a:ext cx="41148" cy="10241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2286000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Card freeze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523744"/>
            <a:ext cx="28437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F3799"/>
                </a:solidFill>
                <a:latin typeface="Libre Franklin"/>
              </a:rPr>
              <a:t>€0.11 /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889504"/>
            <a:ext cx="280720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94% contained, zero human touches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3493008"/>
            <a:ext cx="3118104" cy="11704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3566160"/>
            <a:ext cx="41148" cy="102412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3584448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Dispute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822191"/>
            <a:ext cx="28437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EC5E48"/>
                </a:solidFill>
                <a:latin typeface="Libre Franklin"/>
              </a:rPr>
              <a:t>€1.87 /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187952"/>
            <a:ext cx="280720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3.2 human touches; 68% of simple intents on the premium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unit economics of every use case, measured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WASTE REGISTER · €312K ANNUALIZED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222199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PTU over-provision · €140K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59" y="2450592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59" y="2450592"/>
            <a:ext cx="3118104" cy="10972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273405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Model routing · €95K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2962656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9159" y="2962656"/>
            <a:ext cx="2115856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3246120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Dead agents · €41K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3474720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59" y="3474720"/>
            <a:ext cx="913159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3758184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Retry loops · €36K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59" y="3986784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59" y="3986784"/>
            <a:ext cx="801798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4389120"/>
            <a:ext cx="311810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Each line has an owner and a fix; savings are machine-measurable, which is what makes gain-share defensible.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usually pays for the diagnostic by itself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ROI RE-PROOF · CASE VS MEASURED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22199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Original business case · €1.10M a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9327" y="2450592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9327" y="2450592"/>
            <a:ext cx="3118104" cy="128016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2843784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Measured today · €0.82M a year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9327" y="3072384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39327" y="3072384"/>
            <a:ext cx="2324404" cy="128016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346557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After routing + PTU fixes · €1.05M a year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9327" y="3694176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39327" y="3694176"/>
            <a:ext cx="2976372" cy="1280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339327" y="4251960"/>
            <a:ext cx="1920240" cy="29260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67344" y="4306824"/>
            <a:ext cx="17373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Case re-proved at 95%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renewal argued with the bank’s own numbers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6" name="TextBox 5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4 OF 4 · VALUE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Telemetry rides the keystone model and opens the recurring line.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32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Diamond 12"/>
          <p:cNvSpPr/>
          <p:nvPr/>
        </p:nvSpPr>
        <p:spPr>
          <a:xfrm>
            <a:off x="1682495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8591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Keystone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Extend the cost model to cost-per-outcome, with Deepak. ~5 use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SKU spec: diagnostic scope, telemetry set, gain-share terms. 4 pw.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Cost-per-outcome dashboard on one live deployment’s data. 3 pw.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Nov-Dec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2-3 week diagnostic at a live customer: waste quantified, ROI re-proved.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€15-50K diagnostic + 15-35% gain share; recurrence begins.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person-wks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2-3 wks · 3-4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0.5 + SE 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Recurring + gain share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Gain share of 15-35% of realised savings is market-validated (ProsperOps, nOps, Vantage) with a “10% or free” floor. Cost-model sample today: n=2 use cases.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AI-native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Engine B in full: loop postures, preconditions, the maturity path, the workforce shift, and how to run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AI-NATIVE OPERATING MODEL · 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redesigns the org chart for a world where agents work.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Maturity assessment (2-3 wks) · score every LOB × ops area on the A1-A5 curve; readiness on data, guardrails, skills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Workforce optimization (3-4 wks) · which roles rise, which collapse into agents; loop boundaries per function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Org design flagship (4-6 wks) · the inverted-T target: a thin judgment layer over an agent workforce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Transition path · function by function up the curve; the org chart follows the highest-autonomy function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CEO, COO or CHRO; ExCo workshops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Inputs: Engine A evidence: X-Ray scores, authority maps, telemetry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HR data: role inventory, spans and layers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org/HR SME on call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Method: AI-Native Org Design draft v0.1 exists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A1-A5 maturity heatmap by function, current vs target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Workforce transition map: roles rising, collapsing, new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Target org chart: the inverted-T with the governance spine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New-role definitions: Mission Owners, AgentOps, Exception Desks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Function-by-function transition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Engine B opens the CEO and CHRO door Engine A cannot.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Sold only downstream of a wedge install, so the design runs on the bank’s own evidence. Ticket €80-150K is an assumption to validate.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LOOP POSTURES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Three loop postures span the curve; one zone stays human.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3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IN THE LOOP · A1-A3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AI drafts, recommends, or executes only on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Credit memos pre-assembled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Next-best-action for 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Payment repair 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the decider, with better inputs.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1024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21024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ON THE LOOP · 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Agent acts, human supervises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Execute by exception: the agent completes the loop and escalates edge cases.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Dispute intake and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KYC periodic refresh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Routine servicing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exception handler and supervisor.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27648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ABOVE THE LOOP · A5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Agent runs the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Self-directed within guardrails; humans govern, design and audit.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Document collection 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Status communication loops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Recon break clearing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governor and Mission designer.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4272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4272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NOT DELEGATED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Human only, by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Risk keeps these out of agent hands regardless of capability.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Final credit above thresholds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Vulnerable-customer journeys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Regulatory attestations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EC5E48"/>
                </a:solidFill>
                <a:latin typeface="Libre Franklin"/>
              </a:rPr>
              <a:t>The human stays: accountable judgment.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autonomy scale is the operating-model axis: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posture, the role and the org all follow it.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Terminology per the PDP autonomy framework (A1-A5). Market reference: a large US bank runs the same three cases as in, on and out of the loop.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PERMISSION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Each step up the curve has preconditions; some moves stay off.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47088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65376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A2 → A3 · execute on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Policy codified for the step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Immutable audit trail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30552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Approval UX in the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98648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62656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80944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A3 → A4 · execute by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246120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Guardrails live in Sentinel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Nexus truth for the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46120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Exception desk stood up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Model performance ≥ agreed floor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14215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078224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096511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A4 → A5 · self-directed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361688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Regulator comfort documented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Two quarters of clean A4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61688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Rollback and kill-switch tested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Telemetry mature (cost per outcome)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783080"/>
            <a:ext cx="3538728" cy="33101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920240"/>
            <a:ext cx="32004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EC5E48"/>
                </a:solidFill>
                <a:latin typeface="Libre Franklin"/>
              </a:rPr>
              <a:t>NOT PERMITTED FOR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23113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Autonomous final credit decisions above policy thresholds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7977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Autonomous action on vulnerable-customer journeys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28415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Attestations and regulatory filings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7705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Any action without an immutable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42569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Cross-border data pooling outside residency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permission map is drawn per bank: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Guardrail Studio’s output is exactly this slide, on their policy.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7" name="TextBox 3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Preconditions compound: nothing reaches A4 without Sentinel and Nexus for that journey, which is why the wedges precede the org design.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MATURITY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org follows the highest-autonomy function up the curve.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EARLY · A1-A3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Assist and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Existing teams keep the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AI literacy + approval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First guardrails codified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% of steps AI-assisted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63240"/>
            <a:ext cx="21945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MID · 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Execute by 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Exception desks form from the processing floor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AgentOps stands up (home of FinOps)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Mission Owners named per LOB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containment % · cost per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063240"/>
            <a:ext cx="21945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LATE · A5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Self-directed in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The governance spine is the centre of gravity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Thin judgment layer over the agent workforce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Workforce Transition office completes moves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outcomes per FTE · value per 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Function by function: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a bank moves domains up the curve one at a time, and the chart follows the leader.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1" name="TextBox 4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Phase gates are the B3 preconditions. A function can be LATE while the bank average is EARLY; the org chart follows the most autonomous function.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WORKFORCE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Skills shift from processing to judgment, supervision, design.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AUGMENTED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AI sharpens human judgment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RMs: next-best-action, pre-briefed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Credit officers: pre-assembled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Risk analysts: surfaced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interrogating AI output, override discipline, data literacy.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AUTONOMOUS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Humans move above the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Servicing, disputes intake, KYC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Processing floor re-skills into exception desks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Supervisors read agent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exception triage, root-cause analysis, agent performance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NEW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Humans design the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Mission Owners and Mission designers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AgentOps: deploy, monitor, tune, FinOps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Nexus Stewards and Sentinel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mission design, guardrail authoring, data-as-product stewardship.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transition motion: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evidence, co-design with the floor, skills academy, exception desks, then measure judgment time.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Sequenced to avoid a layoffs-first read: the processing floor re-skills into exception desks before any structural change is announced.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draws the target org from the bank’s own evidence.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39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AUTONOMY MATURITY HEATMAP · CURRENT →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2286000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Disputes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2267712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2295144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2276856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2267712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95144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2670048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2761488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Onboarding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2743200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2770632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1" y="2752344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2743200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2770632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3145536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7" y="3236976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KYC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3218688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3246120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1" y="3227832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432" y="3218688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3246120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" y="3621024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7" y="3712463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Contact centre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24912" y="3694176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3721608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1" y="3703320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6432" y="3694176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3721608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8992" y="4096512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7007" y="4187952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Credit servicing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24912" y="4169664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4912" y="4197096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82111" y="4178808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432" y="4169664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4197096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16636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scored from X-Ray and Guardrail evidence, never from interviews alone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THE ORG SHIFT · PYRAMID → INVERTED-T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02936" y="2331720"/>
            <a:ext cx="566928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65191" y="2660904"/>
            <a:ext cx="1042415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27447" y="2990088"/>
            <a:ext cx="1517904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59" y="3429000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Today: layers of human processing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0488" y="2697480"/>
            <a:ext cx="2743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19088" y="2331720"/>
            <a:ext cx="1554480" cy="27432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5" y="2377440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Libre Franklin"/>
              </a:rPr>
              <a:t>Human judgment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04303" y="2642616"/>
            <a:ext cx="384048" cy="658368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9088" y="3429000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Governance + AgentOps spine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09159" y="3977639"/>
            <a:ext cx="3118104" cy="32918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18888" y="4050791"/>
            <a:ext cx="28986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Agent workforce running Missions underneath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flagship exhibit for the CEO and CHRO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NEW ROLES ON THE TARGET CHART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39327" y="2194560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39327" y="2240279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58200" y="2231136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Mission Owners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0655" y="2240279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own agent-delivered outcomes per LOB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39327" y="2688336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39327" y="2734056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8200" y="2724912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AgentOps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0655" y="2734056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deploy, monitor, optimize the fleet; home of FinOps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39327" y="3182112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39327" y="3227832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58200" y="3218688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Nexus Stewards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0655" y="3227832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data-as-product; keepers of shared truth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39327" y="3675887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39327" y="3721607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58200" y="3712463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Sentinel Governance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0655" y="3721607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AI assurance, authority, audit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39327" y="4169664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39327" y="4215384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58200" y="4206240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Exception Desks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20655" y="4215384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the re-skilled processing floor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every role binds the org to a Banking OS construct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8" name="TextBox 8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HOW TO RUN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Six workshops take an ExCo from evidence to a signed target org.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Evidence readout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X-Ray leakage + Guardrail authority data on the bank’s own journeys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ExCo + COO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90872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Loop postures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Map every function to in, on, above the loop; agree the not-delegated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COO + CRO + LOB heads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Permission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Preconditions per step; what is possible now vs preconditioned vs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CRO + compliance +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0704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Target org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The inverted-T: judgment layer, governance spine, agent workforce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CEO + CHRO + COO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4568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90872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Workforce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Role moves, skills academy, exception-desk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CHRO + LOB heads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Transition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Function-by-function sequence, metrics,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ExCo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Cadence: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six workshops over 6-8 weeks, each producing a signed artifact, ending in the transition roadmap.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5" name="TextBox 4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W1 requires a completed wedge (the sequencing rule). Attendee lists are the minimum quorum; the CHRO joins from W4 at the latest.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hardens v0.1 now and sells downstream of X-Ray.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9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41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6163056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Method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Pressure-test org-design v0.1 with Mayur; codify the kit. 4 pw.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Oct-Dec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Evidence binding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Wire the method to X-Ray and Guardrail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Sequencing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First sale only downstream of a wedge install; never sold cold.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Mar-May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Maturity + workforce + org design at the X-Ray pilot account.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Jun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Flagship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CEO/CHRO-altitude offer; Early Access cohort accounts first.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pw (v0.1 exists)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wks · 10-14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org SME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The human layer of the OS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Ticket €80-150K is an assumption to validate against market org-design pricing. The moat is the evidence feed, never the method alone.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PLANS · THE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Twelve months of product build fits inside the existing pod.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42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6596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ONE-TIME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6596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96596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FIRST REVENUE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2368296"/>
            <a:ext cx="10698480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251460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51460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8-10 pw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1460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SE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51460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Jan 2027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291693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4" name="TextBox 23"/>
          <p:cNvSpPr txBox="1"/>
          <p:nvPr/>
        </p:nvSpPr>
        <p:spPr>
          <a:xfrm>
            <a:off x="914400" y="306324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06324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10-12 pw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6324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06324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SE 1.0 + VC 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06324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Aug 2027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6557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0" name="TextBox 29"/>
          <p:cNvSpPr txBox="1"/>
          <p:nvPr/>
        </p:nvSpPr>
        <p:spPr>
          <a:xfrm>
            <a:off x="914400" y="361188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61188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8-10 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1188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1188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SE 0.5 + SME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61188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Jun 2027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01421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914400" y="416052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16052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16052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2-3 wks · 3-4 pw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16052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0.5 + SE 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16052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Jan 2027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456285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42" name="TextBox 41"/>
          <p:cNvSpPr txBox="1"/>
          <p:nvPr/>
        </p:nvSpPr>
        <p:spPr>
          <a:xfrm>
            <a:off x="914400" y="4709159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AI-Native Org Design (Engine 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709159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pw (v0.1)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709159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wks · 10-14 pw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709159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org SME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709159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May 2027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4400" y="511149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Never two builds at once: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sequence keeps total build load at 38-48 person-weeks over twelve months.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pw = person-weeks. Build = one-time productization. Delivery = per client install once productized. All efforts carry ±30% tolerance.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business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Every POC lands under a named business objective, and the account list splits into must-have and good-to-have.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BUSINESS CONNECTION · THE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Every POC lands under a named business objective, or it waits.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BUSINESS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The 5-year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Cost programs, growth targets, AI ambition, license to 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1528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INVESTMENT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What the CFO funds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Cut cost-to-serve · grow revenue · de-risk and comply · scale without headcount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VALUE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The Banking OS 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Cost-to-serve down 20-40% · conversion up 10-25% · AI to production 3-5×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5783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93FBFE"/>
                </a:solidFill>
                <a:latin typeface="Libre Franklin"/>
              </a:rPr>
              <a:t>MISSION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Go-live, in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The top wedge candidate live in 6-12 weeks, telemetry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2912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93FBFE"/>
                </a:solidFill>
                <a:latin typeface="Libre Franklin"/>
              </a:rPr>
              <a:t>MEASURED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The renewal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Cost per outcome vs the case, quarterly; funds the next objective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 use case without an objective is a demo: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under an objective it is an investment with a payback date.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Value pools per the Banking OS canon (three pools, $150M-300M+ annual unlock, bank-size dependent). The POC inherits its target from the objective, never the reverse.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BUSINESS CONNECTION · THE ACCOUNT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Must-have shows in the strategy before it shows in the pipeline.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MUST-HAVE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High cost pressure and stated AI ambition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Named cost or CIR program in flight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AI or agentic ambition in the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Digital attacker in the home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X-Ray + EAP nomination, ExCo altitude, this quarter.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MUST-HAVE SOON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The pressure is visible, the ambition is not yet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Margin compression, no stated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Headcount or branch targets without a how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Regulatory remediation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free wedge sells the ambition; the evidence writes their case.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GOOD-TO-HAVE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Ambition without acute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Innovation budget and appetite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Digital leadership 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Early agentic experiments running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ideal EAP design partners; Telemetry on whatever already runs.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Classify with the AEs in week one: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annual-report signals sort the account list before any outreach.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Archetypes on the slide, named accounts in the working session. Signals read from public strategy documents; classification validated with the AE.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Mobilization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twelve-month sequence, how the Delivery Factory carries it, and the asks that unlock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One product at a time reaches four SKUs inside twelve months.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47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487168" y="1764791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764791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Aug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6" name="TextBox 15"/>
          <p:cNvSpPr txBox="1"/>
          <p:nvPr/>
        </p:nvSpPr>
        <p:spPr>
          <a:xfrm>
            <a:off x="3244291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Sep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4291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8" name="TextBox 17"/>
          <p:cNvSpPr txBox="1"/>
          <p:nvPr/>
        </p:nvSpPr>
        <p:spPr>
          <a:xfrm>
            <a:off x="4001414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Oct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01414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0" name="TextBox 19"/>
          <p:cNvSpPr txBox="1"/>
          <p:nvPr/>
        </p:nvSpPr>
        <p:spPr>
          <a:xfrm>
            <a:off x="4758537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Nov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8537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2" name="TextBox 21"/>
          <p:cNvSpPr txBox="1"/>
          <p:nvPr/>
        </p:nvSpPr>
        <p:spPr>
          <a:xfrm>
            <a:off x="551566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Dec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1566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4" name="TextBox 23"/>
          <p:cNvSpPr txBox="1"/>
          <p:nvPr/>
        </p:nvSpPr>
        <p:spPr>
          <a:xfrm>
            <a:off x="627278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7278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6" name="TextBox 25"/>
          <p:cNvSpPr txBox="1"/>
          <p:nvPr/>
        </p:nvSpPr>
        <p:spPr>
          <a:xfrm>
            <a:off x="7029907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Feb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9907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778703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8703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0" name="TextBox 29"/>
          <p:cNvSpPr txBox="1"/>
          <p:nvPr/>
        </p:nvSpPr>
        <p:spPr>
          <a:xfrm>
            <a:off x="854415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Apr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415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2" name="TextBox 31"/>
          <p:cNvSpPr txBox="1"/>
          <p:nvPr/>
        </p:nvSpPr>
        <p:spPr>
          <a:xfrm>
            <a:off x="9301276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01276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4" name="TextBox 33"/>
          <p:cNvSpPr txBox="1"/>
          <p:nvPr/>
        </p:nvSpPr>
        <p:spPr>
          <a:xfrm>
            <a:off x="1005840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1081552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81552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238658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Keystone study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62579" y="238658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4019" y="242316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With Deepak</a:t>
            </a:r>
          </a:p>
        </p:txBody>
      </p:sp>
      <p:sp>
        <p:nvSpPr>
          <p:cNvPr id="41" name="Diamond 40"/>
          <p:cNvSpPr/>
          <p:nvPr/>
        </p:nvSpPr>
        <p:spPr>
          <a:xfrm>
            <a:off x="3171139" y="244144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93522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05456" y="293522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62579" y="293522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4019" y="297180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76825" y="293522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8265" y="297180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1" y="2935224"/>
            <a:ext cx="5263286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1" y="2971800"/>
            <a:ext cx="511698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Sell + install</a:t>
            </a:r>
          </a:p>
        </p:txBody>
      </p:sp>
      <p:sp>
        <p:nvSpPr>
          <p:cNvPr id="50" name="Diamond 49"/>
          <p:cNvSpPr/>
          <p:nvPr/>
        </p:nvSpPr>
        <p:spPr>
          <a:xfrm>
            <a:off x="3928262" y="299008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Diamond 50"/>
          <p:cNvSpPr/>
          <p:nvPr/>
        </p:nvSpPr>
        <p:spPr>
          <a:xfrm>
            <a:off x="6199631" y="299008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348386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62579" y="348386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19702" y="348386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76825" y="348386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8265" y="352044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91071" y="3483864"/>
            <a:ext cx="5263286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1" y="3520440"/>
            <a:ext cx="511698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Recurring</a:t>
            </a:r>
          </a:p>
        </p:txBody>
      </p:sp>
      <p:sp>
        <p:nvSpPr>
          <p:cNvPr id="59" name="Diamond 58"/>
          <p:cNvSpPr/>
          <p:nvPr/>
        </p:nvSpPr>
        <p:spPr>
          <a:xfrm>
            <a:off x="6199631" y="353872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03250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91071" y="403250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48195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9635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62441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53881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76688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68128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Sell</a:t>
            </a:r>
          </a:p>
        </p:txBody>
      </p:sp>
      <p:sp>
        <p:nvSpPr>
          <p:cNvPr id="68" name="Diamond 67"/>
          <p:cNvSpPr/>
          <p:nvPr/>
        </p:nvSpPr>
        <p:spPr>
          <a:xfrm>
            <a:off x="9985248" y="408736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458114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048195" y="458114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805318" y="458114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96758" y="461771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19564" y="458114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1004" y="461771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75" name="Diamond 74"/>
          <p:cNvSpPr/>
          <p:nvPr/>
        </p:nvSpPr>
        <p:spPr>
          <a:xfrm>
            <a:off x="6956755" y="4636007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512978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Org Design (Engine B)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62579" y="512978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019702" y="512978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1142" y="516635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Evidence binding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05318" y="512978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96758" y="516635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First engagement</a:t>
            </a:r>
          </a:p>
        </p:txBody>
      </p:sp>
      <p:sp>
        <p:nvSpPr>
          <p:cNvPr id="82" name="Diamond 81"/>
          <p:cNvSpPr/>
          <p:nvPr/>
        </p:nvSpPr>
        <p:spPr>
          <a:xfrm>
            <a:off x="7713878" y="518464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Diamond 82"/>
          <p:cNvSpPr/>
          <p:nvPr/>
        </p:nvSpPr>
        <p:spPr>
          <a:xfrm>
            <a:off x="9985248" y="518464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5" name="TextBox 8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Coral diamonds = decisions an owner must make (SE named · pilot green-light · R&amp;D alignment · sequencing). Blue diamonds = first revenue per product.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DELIVERY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Delivery Factory carries every stage through to install.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Semantic Modeler + Connector Studio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154680"/>
            <a:ext cx="2176271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16" name="TextBox 15"/>
          <p:cNvSpPr txBox="1"/>
          <p:nvPr/>
        </p:nvSpPr>
        <p:spPr>
          <a:xfrm>
            <a:off x="1097280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 working demo on the bank’s own data, in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003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Simulation &amp; Testing + Ops telemetry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22191" y="3154680"/>
            <a:ext cx="2176273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2" name="TextBox 21"/>
          <p:cNvSpPr txBox="1"/>
          <p:nvPr/>
        </p:nvSpPr>
        <p:spPr>
          <a:xfrm>
            <a:off x="3822191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CFO-grade evidence runs with zero production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916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Mission Contract, Nexus + Sentinel binding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47104" y="3154680"/>
            <a:ext cx="2176272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6547104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Banking OS layer live in 6-12 weeks via the agentic SDLC.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0828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5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5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Deployment &amp; Ops Control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72015" y="3154680"/>
            <a:ext cx="2176273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4" name="TextBox 33"/>
          <p:cNvSpPr txBox="1"/>
          <p:nvPr/>
        </p:nvSpPr>
        <p:spPr>
          <a:xfrm>
            <a:off x="9272015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Live telemetry that feeds Value Telemetry and the expansion case.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Nothing built from scratch: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products are the Factory’s discovery tools, productized.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Factory toolchain per the Banking OS canon: Process &amp; Workspace Designer · Semantic Modeler · Agent Builder · Decision &amp; Policy · Connector Studio · Simulation &amp; Testing · Ops Control.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Four decisions unlock execution; the €5,000 seeds product one.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1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49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1 · Name the solution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0.5 FTE from the regional pool, committed by September. The single critical-path resource.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2 · Green-light one prospect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AIB-profile account for the X-Ray proof, by October. A prospect; existing customers stay out of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3 · Back the keystone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Cost-per-outcome model with Deepak in September. Value Telemetry and the FinOps line depend on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4 · Agree the commercial 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Quota recognition of ~€200K so the line carries a real target from day 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THE €5,000 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The talent budget launches product number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Packaging and delivery kit for Process X-Ray, a demo on the APA V3 catalog, launch collateral with marketing, and pricing pressure-tests with three friendly accounts.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Quota (~€200K) and pilot-account choice are open PDP items (1.3, 1.4) for the next Mayur 1:1. Keystone scope sits with Deepak (2.2).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PLANNING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Six explicit assumptions carry the plan, each with an owner.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1856231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Team cost ~€1.2M a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856231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PDP working figure</a:t>
            </a:r>
          </a:p>
        </p:txBody>
      </p:sp>
      <p:sp>
        <p:nvSpPr>
          <p:cNvPr id="15" name="Oval 14"/>
          <p:cNvSpPr/>
          <p:nvPr/>
        </p:nvSpPr>
        <p:spPr>
          <a:xfrm>
            <a:off x="9098280" y="200253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93852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856231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Mayur + finance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42316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249631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Effort estimates within ±30%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49631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Analogous VC engagements; first build recalibrates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2642615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57860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9631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First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063239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136391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SE at 0.5 FTE is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136391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Regional pool capacity, unconfirmed</a:t>
            </a:r>
          </a:p>
        </p:txBody>
      </p:sp>
      <p:sp>
        <p:nvSpPr>
          <p:cNvPr id="27" name="Oval 26"/>
          <p:cNvSpPr/>
          <p:nvPr/>
        </p:nvSpPr>
        <p:spPr>
          <a:xfrm>
            <a:off x="9098280" y="328269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218687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36391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SE leadership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70332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377647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Tickets of €15-100K clear the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77647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AIB paid ~€80K for a weaker ADS; SAP + AWS wedges</a:t>
            </a:r>
          </a:p>
        </p:txBody>
      </p:sp>
      <p:sp>
        <p:nvSpPr>
          <p:cNvPr id="33" name="Oval 32"/>
          <p:cNvSpPr/>
          <p:nvPr/>
        </p:nvSpPr>
        <p:spPr>
          <a:xfrm>
            <a:off x="9098280" y="3922776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385876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77647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First 3 deals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34340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41655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Wedge-to-Mission attach 50%+ in 6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41655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SAP and ServiceNow expansion patterns</a:t>
            </a:r>
          </a:p>
        </p:txBody>
      </p:sp>
      <p:sp>
        <p:nvSpPr>
          <p:cNvPr id="39" name="Oval 38"/>
          <p:cNvSpPr/>
          <p:nvPr/>
        </p:nvSpPr>
        <p:spPr>
          <a:xfrm>
            <a:off x="9098280" y="456285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449884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41655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Pilot cohort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98348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3856" y="505663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EAP slots open to our nominations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05663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8 slots remain; eligibility unconfirmed</a:t>
            </a:r>
          </a:p>
        </p:txBody>
      </p:sp>
      <p:sp>
        <p:nvSpPr>
          <p:cNvPr id="45" name="Oval 44"/>
          <p:cNvSpPr/>
          <p:nvPr/>
        </p:nvSpPr>
        <p:spPr>
          <a:xfrm>
            <a:off x="9098280" y="520293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513892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05663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Program owner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Repo standard: every assumption documented, conservative, sensitivity-tested before any figure becomes client-facing or budget-committed.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Selling into apprehension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bank’s buying criteria, the Early Access route around the RFP, and the honest critique.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BUYING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questions decide a pre-RFP purchase; the wedge answers 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52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892807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“Can one sponsor sign it?”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783080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837943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892807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price, sized inside the sponsor’s delegated authority; anything larger phases into rungs.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578608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88336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“What is our InfoSec exposure?”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578608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2633472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688336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Lite modes run on MI packs and schema metadata; customer data never leaves the bank.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374136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3483864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“What if we stop after this?”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374136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3429000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483864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 owns every artifact outright; the evidence is vendor-neutral and usable in any later tender.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9663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279392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“Is the spend defensible to audit?”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4169663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4224527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279392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scope, named deliverables, a value floor (10× fee or free), full fee credit on conversion.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65192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5074920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“Why you? You are new to this.”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4965192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5020055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5074920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Co-creation instead of procurement: an Early Access nomination with roadmap influence and joint proof.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Delegated-authority thresholds vary by bank; price each rung inside one named sponsor’s delegation and validate per account in the free wedge.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EARLY ACCESS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Early Access is the pre-RFP route: nominated, never tendered.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Named roadmap influence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 co-shapes Banking OS: direct input on Nexus, Sentinel and Mission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1460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58775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0604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Fee becomes participation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6207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wedge fee is framed as program participation and credits forward into the Mission POC.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1927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33756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Engineering at the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1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 direct line to Factory engineering during the Mission; issues resolve in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4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05079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06908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Joint proof, joint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Co-authored case study and reference rights; the bank is a design partner.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NOMINATED, NEVER TENDERED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8 slots remain in the mid-year cohort.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347472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A bank joins by nomination against program criteria, so there is nothing to RFP. The scarcity is honest: when the slots are gone, the cohort closes.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709160"/>
            <a:ext cx="5074920" cy="5669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809744"/>
            <a:ext cx="4617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EC5E48"/>
                </a:solidFill>
                <a:latin typeface="Libre Franklin"/>
              </a:rPr>
              <a:t>Open · </a:t>
            </a:r>
            <a:r>
              <a:rPr sz="1150" b="0">
                <a:solidFill>
                  <a:srgbClr val="071224"/>
                </a:solidFill>
                <a:latin typeface="Libre Franklin"/>
              </a:rPr>
              <a:t>eligibility (new logos vs existing customers) unconfirmed; verify with the program owner first.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5" name="TextBox 3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Slot count (8 remaining) per the mid-year program status. Positioning: new to the category and hungry to co-innovate; the EAP makes that a strength.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PRE-RFP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mechanics keep the wedge inside the sponsor’s pen.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37943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874519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1 · A product SKU, never a services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92807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price, fixed scope, catalogued deliverables. Procurement treats it like a software purchase.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78608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33472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2670048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2 · Sized to the sponsor’s 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88336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Each rung sits inside one executive’s delegated authority; larger ambitions phase across rungs.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374136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429000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465576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3 · The fee credits forward,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483864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On conversion the wedge fee credits into the Mission POC or licence. The budget is never spent on a maybe.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69663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24527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4261103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4 · The specimen pack sells before the SoW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279392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free wedge ends by showing the exact artifacts. The bank buys a known object.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65192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020055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5056631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5 · The bank owns the evidence, floor-guaranteed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074920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All artifacts are the bank’s property, vendor-neutral, with a value floor: 10× fee documented, or free.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one thing never to do: dodge procurement by making the work free. Free diagnostics re-break the economics; the credit-forward fee is the middle path.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HONEST CRITIQUE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math caps year one at four installs; call it a proof year.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DEMAND OF TEN INSTALLS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071224"/>
                </a:solidFill>
                <a:latin typeface="Libre Franklin"/>
              </a:rPr>
              <a:t>120-140 person-weeks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Delivery effort alone, per the register; excludes the build.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4568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POD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071224"/>
                </a:solidFill>
                <a:latin typeface="Libre Franklin"/>
              </a:rPr>
              <a:t>≈ 70 person-weeks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1.5 FTE across build, sell, deliver and the PDP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REALISTIC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EC5E48"/>
                </a:solidFill>
                <a:latin typeface="Libre Franklin"/>
              </a:rPr>
              <a:t>4-5 installs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The honest year-one number, with zero slack for surprises.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39"/>
            <a:ext cx="10705795" cy="9601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24688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F3799"/>
                </a:solidFill>
                <a:latin typeface="Libre Franklin"/>
              </a:rPr>
              <a:t>The revised plan.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96512"/>
            <a:ext cx="7772400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Year one proves the model: 3-4 paid installs (€0.4-0.5M), one per product family, plus the Early Access cohort. Year two reaches the ten-install cost-neutral rate with two delivery consultants funded by year-one revenue.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Revision to the chapter-1 economics: ten a year remains the cost-neutral bar, reached in year two with delivery consultants and the kits.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HONEST CRITIQUE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contradictions need a named decision before we sell.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37943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865376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Prospect-only rule vs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865376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The pilot must be a prospect (Mayur’s ask), yet Telemetry needs a live deployment, usually an existing customer.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892807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938528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Mayur: scope the rule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578608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633472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660903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Credited fees vs the revenue KPI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660903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 credited fee is pipeline; an uncredited install is revenue. Pick the line’s primary KPI before quota is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688336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2734056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Mayur + finance: fix the KPI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74136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429000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456432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The wedge reads as a tollbooth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456432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 €60K gate in front of a platform deal pushes AEs to give discovery away free unless wedge revenue credits the account team.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483864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3529584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Sales: align incentives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9663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224527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4251959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EAP eligibility is unconfirmed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251959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Whether the 8 slots take new logos, existing customers, or both changes which accounts get nominated first.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4279392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82912" y="4325112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Program owner: confirm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965192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5020055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" y="5047488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Engine B fights MBB on their turf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047488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Generic org design is customer-proximate space we lose; it is defensible only on Engine A’s harvested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5074920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2" y="5120640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You: enforce sequencing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Each row is a real tension surfaced deliberately: resolving them on paper now is cheaper than discovering them inside a live account.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93FBFE"/>
                </a:solidFill>
                <a:latin typeface="Libre Franklin"/>
              </a:rPr>
              <a:t>THE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Libre Franklin"/>
              </a:rPr>
              <a:t>Land fast. Prove value. Expand.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822960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One product in market by January. A proof year of 3-4 installs. Cost neutral in year two. The platform pre-installed in every account we touch.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315968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242816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book the Mayur 1:1: quota, pilot green-light, SE allocation, the five decisions.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718304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645152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confirm EAP eligibility with the program owner; shortlist nominations.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5120640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47488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follow up with Tim: category story, launch collateral, talent-budget plan.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5522976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449824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September · scope the keystone cost-per-outcome study with Deepak.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