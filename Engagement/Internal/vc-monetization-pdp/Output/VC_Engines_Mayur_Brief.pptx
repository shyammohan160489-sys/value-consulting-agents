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Mayur 1:1. Slides 2-3 are the frame, 4-5 the substance, 6 the Tim delta, 7 the plan, 8 the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two engines with an explicit WHY box each. The takeaway carries the Tim update: the Builder sits in front as demand 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LADDER AS A TABLE. Read top-down as the funnel: free tools → free wedge → paid evidence → go-live → recurring → C-suite service. Every row has one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grid as the playbook short version. If Mayur wants depth on any row, the playbook chapter carries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SLIDE for "what are the activities per layer, what do they translate to, how do we plan." Full week-by-week detail: playbook deep-dive slides per offer.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Mayur: this is the CMO direction the plan now absorbs. None of it contradicts the PDP economics; it adds a free top-of-funnel and a pricing to-do.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playbook roadmap plus the Builder row on top (coral mock = the next-Friday test). Capacity-checked; never two builds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1:1 on these four. Items 1-3 are unchanged PDP backlog asks; item 4 now carries the Tim pricing window as added urgency.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-2011680"/>
            <a:ext cx="8686800" cy="4754880"/>
          </a:xfrm>
          <a:prstGeom prst="rect">
            <a:avLst/>
          </a:prstGeom>
          <a:solidFill>
            <a:srgbClr val="142A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79" y="-1280160"/>
            <a:ext cx="5669280" cy="2926080"/>
          </a:xfrm>
          <a:prstGeom prst="rect">
            <a:avLst/>
          </a:prstGeom>
          <a:solidFill>
            <a:srgbClr val="1B389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93F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3200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93FBFE"/>
                </a:solidFill>
                <a:latin typeface="Libre Franklin"/>
              </a:rPr>
              <a:t>VC MONETIZATION · SHYAM × MAYUR · 1:1 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424160" cy="17373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0">
                <a:solidFill>
                  <a:srgbClr val="FFFFFF"/>
                </a:solidFill>
                <a:latin typeface="Libre Franklin"/>
              </a:rPr>
              <a:t>The engines, the engagement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Libre Franklin"/>
              </a:rPr>
              <a:t>types, and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8778240" cy="8229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50" b="0">
                <a:solidFill>
                  <a:srgbClr val="C1C4C8"/>
                </a:solidFill>
                <a:latin typeface="Libre Franklin"/>
              </a:rPr>
              <a:t>Two engines, six engagement types, the why behind each, the activities per offer, and what Tim added on 28 July. Detail lives in the 57-slide playbook.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8229600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6A717C"/>
                </a:solidFill>
                <a:latin typeface="Libre Franklin"/>
              </a:rPr>
              <a:t>Shyam · 28 July 2026 · condensed from the Product Factory playbook + the Tim 1:1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46520"/>
            <a:ext cx="969264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Libre Franklin"/>
              </a:rPr>
              <a:t>Backbase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FRAME · TWO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Two engines, one wedge: evidence products and the human layer.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2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2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5257800" cy="2788920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1929384"/>
            <a:ext cx="47548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1F3799"/>
                </a:solidFill>
                <a:latin typeface="Libre Franklin"/>
              </a:rPr>
              <a:t>ENGINE A · PRODUCT FACTORY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2157984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071224"/>
                </a:solidFill>
                <a:latin typeface="Libre Franklin"/>
              </a:rPr>
              <a:t>Paid diagnostics that install the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250545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X-Ray, Cartographer, Guardrail, Telemetry · €15-100K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77977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Each pre-binds a layer: Missions, Nexus, Sentinel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05409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071224"/>
                </a:solidFill>
                <a:latin typeface="Libre Franklin"/>
              </a:rPr>
              <a:t>· Fees credit forward into the Mission POC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3856" y="3474720"/>
            <a:ext cx="4828032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3566160"/>
            <a:ext cx="45720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WHY THIS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767328"/>
            <a:ext cx="457200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Banks already pay for weaker diagnostics (AIB ~€80K). Ours harvests evidence only we can hold and leaves the platform installed.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783080"/>
            <a:ext cx="5257800" cy="2788920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1929384"/>
            <a:ext cx="475488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93FBFE"/>
                </a:solidFill>
                <a:latin typeface="Libre Franklin"/>
              </a:rPr>
              <a:t>ENGINE B · AI-NATIVE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2157984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Libre Franklin"/>
              </a:rPr>
              <a:t>The operating model and the org chart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50545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Maturity · workforce · AI-Native Org Design (v0.1)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77977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Pyramid to inverted-T on the A1-A5 autonomy curve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054096"/>
            <a:ext cx="4846320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000" b="0">
                <a:solidFill>
                  <a:srgbClr val="C1C4C8"/>
                </a:solidFill>
                <a:latin typeface="Libre Franklin"/>
              </a:rPr>
              <a:t>· Pre-binds the human layer: Mission Owners, AgentOps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74536" y="3474720"/>
            <a:ext cx="4828032" cy="896112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 w="11430">
            <a:solidFill>
              <a:srgbClr val="93FBF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566160"/>
            <a:ext cx="45720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93FBFE"/>
                </a:solidFill>
                <a:latin typeface="Libre Franklin"/>
              </a:rPr>
              <a:t>WHY THIS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767328"/>
            <a:ext cx="4572000" cy="54864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C1C4C8"/>
                </a:solidFill>
                <a:latin typeface="Libre Franklin"/>
              </a:rPr>
              <a:t>Nobody explains what Banking OS means for people and org. Tim (28 Jul): "the exercise will sell." Opens the CEO and CHRO door.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The rule that links them: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Engine B services run on Engine A evidence; the Builder tool now runs in front of both.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3" name="TextBox 3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Detail: playbook ch 01 (frameworks) and ch 03 (operating model). Tim direction: Input/2026-07-28_tim-rutten-1to1_digest.md.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FRAME · ENGAGEMENT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Six engagement types, one funnel: each exists for one reason.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3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3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3017520" y="1700784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WHAT IT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00784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WHY IT EXISTS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700784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COMMERCIAL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20240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65960"/>
            <a:ext cx="41148" cy="493776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1975104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Org Chart Builder + tool series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2286000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AWARENESS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984248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Self-serve: drop your bank in, get benchmarked org models instantly (with demo generator + LLM tracker)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984248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Demand gen at AI-native cost; shows the product before any call (Tim, 28 Jul)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984248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Free · intent captured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2578608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2624328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633472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Ignite Inspire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2944368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FREE WEDGE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2642616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~4 meetings: benchmark, leakage hypotheses, wedge choice, specimen pack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642616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Qualifies the pain and the sponsor; feeds the funnel with zero friction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642616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Free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236976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3282696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291840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Wedge diagnostics (4 SKUs)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3602736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PAID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300984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X-Ray, Cartographer, Guardrail or Telemetry, deep on the bank’s own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300984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Paid proof that installs a layer and pre-writes the POC proposal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300984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€15-100K fixed · credits forward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895344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3941063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3950207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Mission POC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261104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GO-LIVE PROOF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959352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Factory Mission Sprint: top candidate live in 6-12 weeks under a named objective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3959352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Selling go-live, not slideware; the objective gives it a payback 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959352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€60K · wedge fee credited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" y="4553712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4400" y="4599432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8992" y="4608576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Value Assurance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4919472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RECURRING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617720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Quarterly cost-per-outcome proof on live deployments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617720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The renewal and expansion engine; funds the next domain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617720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€30-50K a year + gain share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212079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" y="5257799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2" y="5266943"/>
            <a:ext cx="1874519" cy="2743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AI-Native Org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78992" y="5577840"/>
            <a:ext cx="1874519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00" b="1">
                <a:solidFill>
                  <a:srgbClr val="1F3799"/>
                </a:solidFill>
                <a:latin typeface="Libre Franklin"/>
              </a:rPr>
              <a:t>C-SUITE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5276088"/>
            <a:ext cx="306324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Six workshops: evidence to signed target org and transition roadmap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7920" y="5276088"/>
            <a:ext cx="28803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0">
                <a:solidFill>
                  <a:srgbClr val="071224"/>
                </a:solidFill>
                <a:latin typeface="Libre Franklin"/>
              </a:rPr>
              <a:t>The CEO/CHRO conversation; binds the org to the OS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35440" y="5276088"/>
            <a:ext cx="228600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800" b="1">
                <a:solidFill>
                  <a:srgbClr val="1F3799"/>
                </a:solidFill>
                <a:latin typeface="Libre Franklin"/>
              </a:rPr>
              <a:t>€80-150K · downstream of a wedge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8" name="TextBox 57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Row one is the 28 Jul addition (coral: new, to be built next-Friday-fast). Outcome-based pricing variant to be added inside Tim’s 3-6 month market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OFFERS ·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Five offers: what each sells, why us, and what the bank gets.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4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4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78892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WHAT IT SELLS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WHY ONLY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WHAT THE BANK 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6688" y="1719072"/>
            <a:ext cx="23317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FEASIBILITY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938528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993392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2020824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395728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€50-75K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Observes real flows across the 6-12 systems per journey; prices the leakage.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Productizes the Factory Designer; runs the APA matrix on live client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011680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Mission candidates + ROI evidence + the integration landscape 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76688" y="2020824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76688" y="2048256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76688" y="2286000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Assets exist; lite mode needs no InfoSec.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2724912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2779776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2807208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182112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€15-50K + share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Cost-per-outcome observability on live AI; waste scan, ROI re-proof.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Only the vendor in the execution path sees cost per resolved outcome.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798064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Waste register + re-proved ROI; the recurring line.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76688" y="2807208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5F7D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76688" y="2834640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 · GATED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6688" y="3072384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Needs a live deployment + keystone study.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511296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" y="3566160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3593591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3968496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€50-100K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Codifies authority, policy, entitlements into executable guardrails.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Rules load straight into Sentinel at install.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584448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The risk committee’s approval pack; unblocks Conversational deals.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76688" y="3593591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76688" y="3621024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76688" y="3858768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Documents and workshops only.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4297680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4352544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" y="4379976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754880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€75-100K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8892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Maps scattered data into the shared banking ontology; prices the truth gap.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Pre-installs Nexus; metadata only, customer data stays in the bank.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4370832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The € case for shared truth + the Nexus blueprint.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076688" y="4379976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76688" y="4407408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071224"/>
                </a:solidFill>
                <a:latin typeface="Libre Franklin"/>
              </a:rPr>
              <a:t>MEDIUM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76688" y="4645152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Deepest build; R&amp;D alignment first.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14400" y="5084064"/>
            <a:ext cx="10705795" cy="713232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14400" y="5138928"/>
            <a:ext cx="41148" cy="603504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" y="5166360"/>
            <a:ext cx="1691640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00" b="1">
                <a:solidFill>
                  <a:srgbClr val="071224"/>
                </a:solidFill>
                <a:latin typeface="Libre Franklin"/>
              </a:rPr>
              <a:t>AI-Native Org Design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8992" y="5541264"/>
            <a:ext cx="1691640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1F3799"/>
                </a:solidFill>
                <a:latin typeface="Libre Franklin"/>
              </a:rPr>
              <a:t>€80-150K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8892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Redesigns the org chart on the A1-A5 curve: pyramid to inverted-T.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1208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Runs on Engine A evidence no consultancy holds; Builder generates demand.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5157216"/>
            <a:ext cx="2286000" cy="60350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850" b="0">
                <a:solidFill>
                  <a:srgbClr val="071224"/>
                </a:solidFill>
                <a:latin typeface="Libre Franklin"/>
              </a:rPr>
              <a:t>Target org + transition roadmap; CEO and CHRO altitude.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076688" y="5166360"/>
            <a:ext cx="1417320" cy="21945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76688" y="5193792"/>
            <a:ext cx="141732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071224"/>
                </a:solidFill>
                <a:latin typeface="Libre Franklin"/>
              </a:rPr>
              <a:t>MEDIUM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76688" y="5431536"/>
            <a:ext cx="1481328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750" b="0">
                <a:solidFill>
                  <a:srgbClr val="6A717C"/>
                </a:solidFill>
                <a:latin typeface="Libre Franklin"/>
              </a:rPr>
              <a:t>v0.1 exists; Builder pivot per Tim.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7" name="TextBox 66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Tickets are price points to pressure-test. Deep-dives with week-by-week activities and sample outputs: playbook ch 02-03, slides 14-34.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OFFERS · ACTIVITIES AND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What we actually do in each, what it becomes, and by when.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5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5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788920" y="1719072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THE ACTIVITIES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719072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TRANSLATES INTO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719072"/>
            <a:ext cx="27432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1">
                <a:solidFill>
                  <a:srgbClr val="4066F5"/>
                </a:solidFill>
                <a:latin typeface="Libre Franklin"/>
              </a:rPr>
              <a:t>THE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938528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1984248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029968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002536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Scope 2-3 journeys · inventory systems + interfaces · mine logs, shadow the floor · price leakage per step · rank Missions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002536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Leakage heatmap · integration map · Mission backlog · the POC proposal, pre-written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002536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Build Aug-Oct · pilot Oct-Dec · revenue Jan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96896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642615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2688336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2660903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Instrument live AI · tag outcomes · compute cost per outcome · waste scan · re-prove ROI · quarterly cadence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660903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Cost-per-outcome baseline · waste register with owners · the recurring 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60903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Keystone Sep · pilot Nov-Dec · revenue Jan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255264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3300984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346704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3319272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Harvest policy + authority docs · map recommend/approve/execute · score A1-A5 · codify 20-30 rules · audit 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319272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Authority map · guardrail backlog · Sentinel readiness score + blueprint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319272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Build Jan-Mar · pilot Apr-May · revenue Jun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13632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3959352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005072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3977640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Inventory data landscape · harvest schemas (metadata) · map to ontology · price truth gaps · phase the binding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977640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Coverage map · truth-gap € case · phased Nexus blueprint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977640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R&amp;D gate Feb · pilot May-Jul · revenue Aug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572000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400" y="4617720"/>
            <a:ext cx="41148" cy="49377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4663440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AI-Native Org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4636008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Six workshops: evidence readout · loop postures · permission map · target org · workforce plan · transition roadmap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4636008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The signed reorg paper: inverted-T target + function-by-function path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4636008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Harden v0.1 Sep · first sale ~May, downstream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230368"/>
            <a:ext cx="10705795" cy="585216"/>
          </a:xfrm>
          <a:prstGeom prst="roundRect">
            <a:avLst>
              <a:gd name="adj" fmla="val 8000"/>
            </a:avLst>
          </a:prstGeom>
          <a:solidFill>
            <a:srgbClr val="E6EBF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5276088"/>
            <a:ext cx="41148" cy="493776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8992" y="5321807"/>
            <a:ext cx="164592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00" b="1">
                <a:solidFill>
                  <a:srgbClr val="071224"/>
                </a:solidFill>
                <a:latin typeface="Libre Franklin"/>
              </a:rPr>
              <a:t>Org Chart Builder (NEW)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88920" y="5294376"/>
            <a:ext cx="379476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Ingest public org data · three benchmarked model flavors · instant self-serve · email capture · monthly refresh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294376"/>
            <a:ext cx="25603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0">
                <a:solidFill>
                  <a:srgbClr val="071224"/>
                </a:solidFill>
                <a:latin typeface="Libre Franklin"/>
              </a:rPr>
              <a:t>Demand gen at scale + the session opener ("here is your future org chart")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18320" y="5294376"/>
            <a:ext cx="2103120" cy="49377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750" b="1">
                <a:solidFill>
                  <a:srgbClr val="1F3799"/>
                </a:solidFill>
                <a:latin typeface="Libre Franklin"/>
              </a:rPr>
              <a:t>Next-Friday mock · ENGAGE kiosk + workshop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52" name="TextBox 51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Effort, pods and gates per the playbook register (±30%): builds 6-12 pw each, delivery 2-8 wks per install, pod = VC 1.0 + SE 0.5 + on-call SME/FDE.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TIM DELTA · 28 JULY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Tim’s direction changes four things in how we take this to market.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6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6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10512"/>
            <a:ext cx="5257800" cy="14081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74519"/>
            <a:ext cx="41148" cy="12801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1920240"/>
            <a:ext cx="4846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Builder in front, service behind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194560"/>
            <a:ext cx="4892040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The org-design idea flips into a self-serve demand-gen tool (orgchart.backbase.com), third in his series after the per-bank demo generator and the LLM visibility tracker. The paid engagement converts mid-funnel.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810512"/>
            <a:ext cx="5257800" cy="14081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874519"/>
            <a:ext cx="41148" cy="12801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920240"/>
            <a:ext cx="4846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Outcome pricing is coming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4892040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His read: the €350K-entry enterprise motion loses to outcome-based AI-native competitors within 3-6 months. Our small fixed wedges survive; we add an outcome variant to the ladder 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346704"/>
            <a:ext cx="5257800" cy="14081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410712"/>
            <a:ext cx="41148" cy="12801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3456432"/>
            <a:ext cx="4846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Frame on buyer questions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730752"/>
            <a:ext cx="4892040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Buyers do not buy our internal product buckets. The narrative spine becomes: "what stays deterministic, what becomes reasoning-level, and how do I do it safely."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3346704"/>
            <a:ext cx="5257800" cy="1408176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5080" y="3410712"/>
            <a:ext cx="41148" cy="1280160"/>
          </a:xfrm>
          <a:prstGeom prst="rect">
            <a:avLst/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456432"/>
            <a:ext cx="4846320" cy="219456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Prove it on ourselves, weekly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3730752"/>
            <a:ext cx="4892040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Map Backbase’s own 2024→2026 org as the blueprint (he is doing marketing himself). First market: agentic banking GTM at weekly cadence. His speed test: idea to live by next Friday.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38928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53228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Validation to bank: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"the exercise will sell" and "one of the great angles in the toolbox to get in the door."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Source: Tim Rutten 1:1, 28 Jul (full digest in the engagement folder). He is on leave two weeks from this week; next touchpoint should show shipped material.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PLAN · TWELVE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One product at a time reaches six live motions inside a year.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7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7</a:t>
            </a:fld>
          </a:p>
        </p:txBody>
      </p:sp>
      <p:sp>
        <p:nvSpPr>
          <p:cNvPr id="12" name="TextBox 11"/>
          <p:cNvSpPr txBox="1"/>
          <p:nvPr/>
        </p:nvSpPr>
        <p:spPr>
          <a:xfrm>
            <a:off x="2487168" y="1719072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3" y="1719072"/>
            <a:ext cx="182880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6A717C"/>
                </a:solidFill>
                <a:latin typeface="Libre Franklin"/>
              </a:rPr>
              <a:t>2027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7168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Aug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6" name="TextBox 15"/>
          <p:cNvSpPr txBox="1"/>
          <p:nvPr/>
        </p:nvSpPr>
        <p:spPr>
          <a:xfrm>
            <a:off x="3244291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Sep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44291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18" name="TextBox 17"/>
          <p:cNvSpPr txBox="1"/>
          <p:nvPr/>
        </p:nvSpPr>
        <p:spPr>
          <a:xfrm>
            <a:off x="4001414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Oct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01414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0" name="TextBox 19"/>
          <p:cNvSpPr txBox="1"/>
          <p:nvPr/>
        </p:nvSpPr>
        <p:spPr>
          <a:xfrm>
            <a:off x="4758537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Nov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58537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2" name="TextBox 21"/>
          <p:cNvSpPr txBox="1"/>
          <p:nvPr/>
        </p:nvSpPr>
        <p:spPr>
          <a:xfrm>
            <a:off x="5515660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Dec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15660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4" name="TextBox 23"/>
          <p:cNvSpPr txBox="1"/>
          <p:nvPr/>
        </p:nvSpPr>
        <p:spPr>
          <a:xfrm>
            <a:off x="6272783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72783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6" name="TextBox 25"/>
          <p:cNvSpPr txBox="1"/>
          <p:nvPr/>
        </p:nvSpPr>
        <p:spPr>
          <a:xfrm>
            <a:off x="7029907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Feb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29907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28" name="TextBox 27"/>
          <p:cNvSpPr txBox="1"/>
          <p:nvPr/>
        </p:nvSpPr>
        <p:spPr>
          <a:xfrm>
            <a:off x="7787030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87030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0" name="TextBox 29"/>
          <p:cNvSpPr txBox="1"/>
          <p:nvPr/>
        </p:nvSpPr>
        <p:spPr>
          <a:xfrm>
            <a:off x="8544153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Apr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4153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2" name="TextBox 31"/>
          <p:cNvSpPr txBox="1"/>
          <p:nvPr/>
        </p:nvSpPr>
        <p:spPr>
          <a:xfrm>
            <a:off x="9301276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May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01276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4" name="TextBox 33"/>
          <p:cNvSpPr txBox="1"/>
          <p:nvPr/>
        </p:nvSpPr>
        <p:spPr>
          <a:xfrm>
            <a:off x="10058400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58400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6" name="TextBox 35"/>
          <p:cNvSpPr txBox="1"/>
          <p:nvPr/>
        </p:nvSpPr>
        <p:spPr>
          <a:xfrm>
            <a:off x="10815523" y="1956816"/>
            <a:ext cx="757123" cy="20116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6A717C"/>
                </a:solidFill>
                <a:latin typeface="Libre Franklin"/>
              </a:rPr>
              <a:t>Jul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815523" y="2212848"/>
            <a:ext cx="0" cy="3424428"/>
          </a:xfrm>
          <a:prstGeom prst="line">
            <a:avLst/>
          </a:prstGeom>
          <a:ln w="9525">
            <a:solidFill>
              <a:srgbClr val="E6E7E9"/>
            </a:solidFill>
          </a:ln>
          <a:effectLst/>
          <a:effectLst/>
        </p:spPr>
      </p:cxnSp>
      <p:sp>
        <p:nvSpPr>
          <p:cNvPr id="38" name="TextBox 37"/>
          <p:cNvSpPr txBox="1"/>
          <p:nvPr/>
        </p:nvSpPr>
        <p:spPr>
          <a:xfrm>
            <a:off x="914400" y="2322576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Org Chart Builder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05456" y="2331720"/>
            <a:ext cx="720547" cy="237744"/>
          </a:xfrm>
          <a:prstGeom prst="roundRect">
            <a:avLst>
              <a:gd name="adj" fmla="val 8000"/>
            </a:avLst>
          </a:prstGeom>
          <a:solidFill>
            <a:srgbClr val="EC5E4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262579" y="2331720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4875" y="2368296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Build + ENGAGE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76825" y="2331720"/>
            <a:ext cx="6777532" cy="237744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59121" y="2368296"/>
            <a:ext cx="6649516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Live demand 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2820924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Keystone study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62579" y="2830068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4875" y="2866644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With Deepak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3319272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Process X-Ray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05456" y="3328415"/>
            <a:ext cx="720547" cy="237744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262579" y="3328415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4875" y="3364991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76825" y="3328415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59121" y="3364991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91071" y="3328415"/>
            <a:ext cx="5263286" cy="237744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73367" y="3364991"/>
            <a:ext cx="513527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Sell + install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3817620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Value Telemetry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62579" y="3826763"/>
            <a:ext cx="720547" cy="237744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019702" y="3826763"/>
            <a:ext cx="720547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76825" y="3826763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59121" y="3863339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91071" y="3826763"/>
            <a:ext cx="5263286" cy="237744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73367" y="3863339"/>
            <a:ext cx="5135270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Recurring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315968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Guardrail Studio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1071" y="4325112"/>
            <a:ext cx="720547" cy="237744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048195" y="4325112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0491" y="4361688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562441" y="4325112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4737" y="4361688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76688" y="4325112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158984" y="4361688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Sell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" y="4814316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Ontology Cartographer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048195" y="4823459"/>
            <a:ext cx="720547" cy="237744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7805318" y="4823459"/>
            <a:ext cx="1477670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87614" y="4860036"/>
            <a:ext cx="1349654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Prototype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319564" y="4823459"/>
            <a:ext cx="2234793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01860" y="4860036"/>
            <a:ext cx="21067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Proof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" y="5312664"/>
            <a:ext cx="1536192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950" b="1">
                <a:solidFill>
                  <a:srgbClr val="071224"/>
                </a:solidFill>
                <a:latin typeface="Libre Franklin"/>
              </a:rPr>
              <a:t>Org Design (service)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62579" y="5321808"/>
            <a:ext cx="720547" cy="237744"/>
          </a:xfrm>
          <a:prstGeom prst="roundRect">
            <a:avLst>
              <a:gd name="adj" fmla="val 8000"/>
            </a:avLst>
          </a:prstGeom>
          <a:solidFill>
            <a:srgbClr val="B5C1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4019702" y="5321808"/>
            <a:ext cx="2234793" cy="237744"/>
          </a:xfrm>
          <a:prstGeom prst="roundRect">
            <a:avLst>
              <a:gd name="adj" fmla="val 8000"/>
            </a:avLst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01998" y="5358384"/>
            <a:ext cx="21067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Evidence binding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05318" y="5321808"/>
            <a:ext cx="2234793" cy="237744"/>
          </a:xfrm>
          <a:prstGeom prst="roundRect">
            <a:avLst>
              <a:gd name="adj" fmla="val 8000"/>
            </a:avLst>
          </a:prstGeom>
          <a:solidFill>
            <a:srgbClr val="1F37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87614" y="5358384"/>
            <a:ext cx="2106777" cy="18288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Libre Franklin"/>
              </a:rPr>
              <a:t>First engagement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14400" y="5998464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83" name="TextBox 82"/>
          <p:cNvSpPr txBox="1"/>
          <p:nvPr/>
        </p:nvSpPr>
        <p:spPr>
          <a:xfrm>
            <a:off x="914400" y="6071616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Year one is the proof year: 3-4 paid installs (€0.4-0.5M); ten a year is the cost-neutral rate from year two. Gates and owners: playbook ch 05-06.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23951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3" name="Connector 2"/>
          <p:cNvCxnSpPr/>
          <p:nvPr/>
        </p:nvCxnSpPr>
        <p:spPr>
          <a:xfrm>
            <a:off x="523951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4" name="Connector 3"/>
          <p:cNvCxnSpPr/>
          <p:nvPr/>
        </p:nvCxnSpPr>
        <p:spPr>
          <a:xfrm>
            <a:off x="11667744" y="0"/>
            <a:ext cx="0" cy="6439204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cxnSp>
        <p:nvCxnSpPr>
          <p:cNvPr id="5" name="Connector 4"/>
          <p:cNvCxnSpPr/>
          <p:nvPr/>
        </p:nvCxnSpPr>
        <p:spPr>
          <a:xfrm>
            <a:off x="0" y="6439204"/>
            <a:ext cx="121916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6" name="Freeform 5"/>
          <p:cNvSpPr/>
          <p:nvPr/>
        </p:nvSpPr>
        <p:spPr>
          <a:xfrm>
            <a:off x="371246" y="371246"/>
            <a:ext cx="152705" cy="151790"/>
          </a:xfrm>
          <a:custGeom>
            <a:avLst/>
            <a:gdLst/>
            <a:ahLst/>
            <a:cxnLst/>
            <a:rect l="l" t="t" r="r" b="b"/>
            <a:pathLst>
              <a:path w="9168" h="9096">
                <a:moveTo>
                  <a:pt x="19" y="4762"/>
                </a:moveTo>
                <a:lnTo>
                  <a:pt x="4567" y="4762"/>
                </a:lnTo>
                <a:lnTo>
                  <a:pt x="4566" y="0"/>
                </a:lnTo>
                <a:lnTo>
                  <a:pt x="9168" y="0"/>
                </a:lnTo>
                <a:lnTo>
                  <a:pt x="9168" y="9096"/>
                </a:lnTo>
                <a:lnTo>
                  <a:pt x="0" y="9096"/>
                </a:lnTo>
                <a:close/>
              </a:path>
            </a:pathLst>
          </a:cu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742492"/>
            <a:ext cx="9528048" cy="228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0" spc="120">
                <a:solidFill>
                  <a:srgbClr val="4066F5"/>
                </a:solidFill>
                <a:latin typeface="Libre Franklin"/>
              </a:rPr>
              <a:t>THE ASKS · THIS 1:1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09497"/>
            <a:ext cx="10003536" cy="96012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2500" b="1">
                <a:solidFill>
                  <a:srgbClr val="071224"/>
                </a:solidFill>
                <a:latin typeface="Libre Franklin"/>
              </a:rPr>
              <a:t>Four decisions from this conversation unlock the whole plan.</a:t>
            </a:r>
          </a:p>
        </p:txBody>
      </p:sp>
      <p:pic>
        <p:nvPicPr>
          <p:cNvPr id="9" name="Picture 8" descr="backbase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6569964"/>
            <a:ext cx="975664" cy="158191"/>
          </a:xfrm>
          <a:prstGeom prst="rect">
            <a:avLst/>
          </a:prstGeom>
          <a:effectLst/>
        </p:spPr>
      </p:pic>
      <p:cxnSp>
        <p:nvCxnSpPr>
          <p:cNvPr id="10" name="Connector 9"/>
          <p:cNvCxnSpPr/>
          <p:nvPr/>
        </p:nvCxnSpPr>
        <p:spPr>
          <a:xfrm>
            <a:off x="11706148" y="6508699"/>
            <a:ext cx="0" cy="227685"/>
          </a:xfrm>
          <a:prstGeom prst="line">
            <a:avLst/>
          </a:prstGeom>
          <a:ln w="11430">
            <a:solidFill>
              <a:srgbClr val="9A9EA6"/>
            </a:solidFill>
          </a:ln>
          <a:effectLst/>
          <a:effectLst/>
        </p:spPr>
      </p:cxnSp>
      <p:sp>
        <p:nvSpPr>
          <p:cNvPr id="11" name="TextBox 10"/>
          <p:cNvSpPr txBox="1"/>
          <p:nvPr/>
        </p:nvSpPr>
        <p:spPr>
          <a:xfrm>
            <a:off x="11770156" y="6508699"/>
            <a:ext cx="384048" cy="227685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fld id="{B7A1C0DE-2026-4728-8000-000000000008}" type="slidenum">
              <a:rPr lang="en-US" sz="1275" b="1" dirty="0">
                <a:solidFill>
                  <a:srgbClr val="000000"/>
                </a:solidFill>
                <a:latin typeface="Libre Franklin"/>
              </a:rPr>
              <a:t>8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914400" y="1810512"/>
            <a:ext cx="10705795" cy="78638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1865376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892807"/>
            <a:ext cx="10376611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1 · Name the solution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48840"/>
            <a:ext cx="10376611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0.5 FTE from the regional pool by September. The single critical-path resource for every build.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706624"/>
            <a:ext cx="10705795" cy="78638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2761488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788920"/>
            <a:ext cx="10376611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2 · Green-light one prospect 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44952"/>
            <a:ext cx="10376611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AIB-profile account for the X-Ray proof by October. Also decide: does the prospect-only rule apply to Telemetry, which needs a live deployment?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602736"/>
            <a:ext cx="10705795" cy="78638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57600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685032"/>
            <a:ext cx="10376611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3 · Back the keystone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41063"/>
            <a:ext cx="10376611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Cost-per-outcome model with Deepak in September; Telemetry, gain-share pricing and the FinOps line all depend on 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98848"/>
            <a:ext cx="10705795" cy="786384"/>
          </a:xfrm>
          <a:prstGeom prst="roundRect">
            <a:avLst>
              <a:gd name="adj" fmla="val 8000"/>
            </a:avLst>
          </a:prstGeom>
          <a:solidFill>
            <a:srgbClr val="F5F6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4553712"/>
            <a:ext cx="41148" cy="676656"/>
          </a:xfrm>
          <a:prstGeom prst="rect">
            <a:avLst/>
          </a:prstGeom>
          <a:solidFill>
            <a:srgbClr val="4066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81144"/>
            <a:ext cx="10376611" cy="237744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071224"/>
                </a:solidFill>
                <a:latin typeface="Libre Franklin"/>
              </a:rPr>
              <a:t>4 · Agree the commercial treatment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37176"/>
            <a:ext cx="10376611" cy="384048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200"/>
              </a:spcAft>
            </a:pPr>
            <a:r>
              <a:rPr sz="950" b="0">
                <a:solidFill>
                  <a:srgbClr val="071224"/>
                </a:solidFill>
                <a:latin typeface="Libre Franklin"/>
              </a:rPr>
              <a:t>Quota recognition (~€200K) and the KPI choice: credited fees count as pipeline, uncredited installs as revenue. Plus: sponsor the outcome-pricing variant inside Tim’s 3-6 month window.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486400"/>
            <a:ext cx="10705795" cy="437997"/>
          </a:xfrm>
          <a:prstGeom prst="roundRect">
            <a:avLst>
              <a:gd name="adj" fmla="val 8000"/>
            </a:avLst>
          </a:prstGeom>
          <a:solidFill>
            <a:srgbClr val="071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600700"/>
            <a:ext cx="10248595" cy="256032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50" b="1">
                <a:solidFill>
                  <a:srgbClr val="93FBFE"/>
                </a:solidFill>
                <a:latin typeface="Libre Franklin"/>
              </a:rPr>
              <a:t>Everything is sequenced behind these: </a:t>
            </a:r>
            <a:r>
              <a:rPr sz="1350" b="0">
                <a:solidFill>
                  <a:srgbClr val="FFFFFF"/>
                </a:solidFill>
                <a:latin typeface="Libre Franklin"/>
              </a:rPr>
              <a:t>say yes to the four, and January reports revenue.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" y="6016751"/>
            <a:ext cx="10705795" cy="0"/>
          </a:xfrm>
          <a:prstGeom prst="line">
            <a:avLst/>
          </a:prstGeom>
          <a:ln w="9525">
            <a:solidFill>
              <a:srgbClr val="D2D4D8"/>
            </a:solidFill>
          </a:ln>
          <a:effectLst/>
          <a:effectLst/>
        </p:spPr>
      </p:cxnSp>
      <p:sp>
        <p:nvSpPr>
          <p:cNvPr id="31" name="TextBox 30"/>
          <p:cNvSpPr txBox="1"/>
          <p:nvPr/>
        </p:nvSpPr>
        <p:spPr>
          <a:xfrm>
            <a:off x="914400" y="6089903"/>
            <a:ext cx="10705795" cy="36576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>
                <a:solidFill>
                  <a:srgbClr val="8F949C"/>
                </a:solidFill>
                <a:latin typeface="Libre Franklin"/>
              </a:rPr>
              <a:t>The five open contradictions with owners (tollbooth, EAP eligibility, Engine B sequencing…) are in the playbook critique chapter, ready for this agenda.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