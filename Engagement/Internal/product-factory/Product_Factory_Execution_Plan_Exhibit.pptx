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three-part design filter from the 29 Jun PDP session. Product-proximate = moat; customer-proximate = competitive space we 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Engine B (from the PDP backlog, workstream 4): AI Maturity Assessment, Workforce Optimization, and the flagship AI-Native Org Design (draft v0.1 exists). The sequencing rule is the moat: MBB can run generic org design; only we can run it on the bank’s own autonomy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Cost-neutrality is the floor, revenue generation is the objective. See critique chapter for the capacity-checked phasing.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Rung 0 free = funnel. Rungs 1+2 = the €120K SKVC package. Rung 3 = the growth flywheel.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bridge slide: read vertically, each rung IS a lifecycle stage the bank pays for. Read horizontally, each rung’s exit artifact is the entry contract of the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exit gates: Concept = qualified sponsor + pain. Design = signed SoW, agreed metrics, data access. Prototype = working demo on the client’s own data. Proof = CFO-grade evidence pack. Proposal = commercial offer + named Mission candidate. Signature = signed order form. Install = layer live + expansion roadmap handed to the AE.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G1-G4 are the account-level decision gates. Internally each product also has its own build gates (SE named, pilot green-light, R&amp;D alignment) shown on the roadmap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Allocation ask, specifically NOT a hiring ask. SE is the critical unlock.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these in the Tim and Mayur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Direct answer to “why would a bank choose only one of these layers, that too from us”: they choose a Mission. The Blueprint always covers the stack; the wedge only decides which lens goes deep. Ontology and guardrail lenses ship as thin appendices in every engagement from day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productized Process &amp; Workspace Designer. ~60% of bank work lives between systems; the X-Ray makes that whitespace visible and priceable.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these in the free wedge as the specimen pack: the bank buys a known object, never a maybe.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Productizes the Semantic Modeler. The ontology is key for any use case, so the lens ships thin in every wedge from day one; the full SKU is the deep version.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coverage map is the conversation starter; the truth-gap card carries the money argument.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Productizes Decision &amp; Policy. Sentinel: authority (who may decide) · policies (under which rules) · entitlements (multi-entity access), with observability and immutable auditability.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rule card is the artifact that changes the conversation: policy as executable, auditable logic.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Backlog items 2.2 (keystone) + 2.3 (SKU). Partner with Aayushi on the value-assurance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waste register is the fastest trust-builder: it usually pays for the diagnostic several times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PDP backlog workstream 4. The autonomy scale is the operating-model axis: A1 assist (human does) through A5 self-directed (human governs). New roles per the backlog: Chief Agentic Operations Officer, Mission Owners, AgentOps, Nexus Stewards, Sentinel Governance, Exception Desks, Workforce Transition office.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pyramid-to-inverted-T exhibit is the flagship visual: the org chart follows the autonomy 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Presentation order is by layer logic (work, truth, authority, proof); build order optimizes risk and is shown on the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Sequencing: X-Ray first (lowest build risk, front-door product), Telemetry parallel (shares the keystone), Guardrail rides the Conversational pipeline, Cartographer lands on X-Ray demand.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Factory already contains the discovery-end tools; the products ARE those tools productized. Delivery cost stays at person-weeks because nothing is built from scratch.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Framing for Tim: the talent budget is seed capital for a product launch. Framing for Mayur: these are the same asks already on the PDP backlog.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 CLAUDE.md governance: no hidden assumptions. Validating the first three in September de-risks the sequence. EAP eligibility must be confirmed before any account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real buying criteria of a bank buying outside an RFP. The free wedge exists partly to discover the sponsor’s threshold and the bank’s procurement rules before anything is priced.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Positioning: we are new to this category and hungry to co-innovate; the EAP makes that a strength. A nomination against program criteria is a selection, so there is nothing for procurement to tender. Scarcity (8 slots) creates urgency without discounting.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Mechanics 1-2 prevent the RFP trigger; 3-4 defuse the “budget on a maybe” fear; 5 defuses the “captive diagnostic” objection.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Self-critique per the repo’s conservative-bias standard. Overpromising year one would burn the credibility the whole line depends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four go on the Mayur 1:1 agenda alongside the four asks. The EAP row also gates the Tim conversation: nominations need confirmed eligibility.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4825" y="0"/>
            <a:ext cx="13334" cy="6858000"/>
          </a:xfrm>
          <a:prstGeom prst="rect">
            <a:avLst/>
          </a:prstGeom>
          <a:solidFill>
            <a:srgbClr val="2E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687175" y="0"/>
            <a:ext cx="13334" cy="6858000"/>
          </a:xfrm>
          <a:prstGeom prst="rect">
            <a:avLst/>
          </a:prstGeom>
          <a:solidFill>
            <a:srgbClr val="2E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4825" y="1476375"/>
            <a:ext cx="11182350" cy="13334"/>
          </a:xfrm>
          <a:prstGeom prst="rect">
            <a:avLst/>
          </a:prstGeom>
          <a:solidFill>
            <a:srgbClr val="2E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896224" y="0"/>
            <a:ext cx="13334" cy="6858000"/>
          </a:xfrm>
          <a:prstGeom prst="rect">
            <a:avLst/>
          </a:prstGeom>
          <a:solidFill>
            <a:srgbClr val="2E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4825" y="4752975"/>
            <a:ext cx="7391400" cy="13334"/>
          </a:xfrm>
          <a:prstGeom prst="rect">
            <a:avLst/>
          </a:prstGeom>
          <a:solidFill>
            <a:srgbClr val="2E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20025" y="1476375"/>
            <a:ext cx="76200" cy="152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43825" y="1476375"/>
            <a:ext cx="76200" cy="76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ackbase-wordmark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09600"/>
            <a:ext cx="1143000" cy="2758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00125" y="2095499"/>
            <a:ext cx="6667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69FEFF"/>
                </a:solidFill>
                <a:latin typeface="Libre Franklin"/>
              </a:rPr>
              <a:t>VALUE CONSULTING · PDP · INTERNAL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1550" y="2495550"/>
            <a:ext cx="6858000" cy="16192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</a:pPr>
            <a:r>
              <a:rPr sz="3300" b="1">
                <a:solidFill>
                  <a:srgbClr val="FFFFFF"/>
                </a:solidFill>
                <a:latin typeface="Libre Franklin"/>
              </a:rPr>
              <a:t>Product Factory:</a:t>
            </a:r>
          </a:p>
          <a:p>
            <a:pPr algn="l">
              <a:lnSpc>
                <a:spcPct val="104000"/>
              </a:lnSpc>
            </a:pPr>
            <a:r>
              <a:rPr sz="3300" b="1">
                <a:solidFill>
                  <a:srgbClr val="FFFFFF"/>
                </a:solidFill>
                <a:latin typeface="Libre Franklin"/>
              </a:rPr>
              <a:t>from concept to revenue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5029200"/>
            <a:ext cx="6762750" cy="76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C5CFDE"/>
                </a:solidFill>
                <a:latin typeface="Libre Franklin"/>
              </a:rPr>
              <a:t>The execution plan for four paid product wedges that pre-install Banking OS: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C5CFDE"/>
                </a:solidFill>
                <a:latin typeface="Libre Franklin"/>
              </a:rPr>
              <a:t>prove the model in year one, reach cost neutrality in year two, open a recurring line.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1550" y="6143625"/>
            <a:ext cx="66675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Shyam · July 2026 · prepared for the talent programme (Tim Ruttner) and the PDP track (Mayur)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1999" y="2095499"/>
            <a:ext cx="3048000" cy="8572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FFFFFF"/>
                </a:solidFill>
                <a:latin typeface="Libre Franklin"/>
              </a:rPr>
              <a:t>One product in market</a:t>
            </a:r>
          </a:p>
          <a:p>
            <a:pPr algn="l">
              <a:lnSpc>
                <a:spcPct val="120000"/>
              </a:lnSpc>
            </a:pPr>
            <a:r>
              <a:rPr sz="1350" b="1">
                <a:solidFill>
                  <a:srgbClr val="FFFFFF"/>
                </a:solidFill>
                <a:latin typeface="Libre Franklin"/>
              </a:rPr>
              <a:t>by January 2027.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1999" y="3048000"/>
            <a:ext cx="3143250" cy="76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975" b="0">
                <a:solidFill>
                  <a:srgbClr val="C5CFDE"/>
                </a:solidFill>
                <a:latin typeface="Libre Franklin"/>
              </a:rPr>
              <a:t>Four sellable SKUs, the Engine B services</a:t>
            </a:r>
          </a:p>
          <a:p>
            <a:pPr algn="l">
              <a:lnSpc>
                <a:spcPct val="125000"/>
              </a:lnSpc>
            </a:pPr>
            <a:r>
              <a:rPr sz="975" b="0">
                <a:solidFill>
                  <a:srgbClr val="C5CFDE"/>
                </a:solidFill>
                <a:latin typeface="Libre Franklin"/>
              </a:rPr>
              <a:t>flagship, an Early Access cohort, and a</a:t>
            </a:r>
          </a:p>
          <a:p>
            <a:pPr algn="l">
              <a:lnSpc>
                <a:spcPct val="125000"/>
              </a:lnSpc>
            </a:pPr>
            <a:r>
              <a:rPr sz="975" b="0">
                <a:solidFill>
                  <a:srgbClr val="C5CFDE"/>
                </a:solidFill>
                <a:latin typeface="Libre Franklin"/>
              </a:rPr>
              <a:t>recurring line by mid 2027.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76375"/>
            <a:ext cx="12192000" cy="13334"/>
          </a:xfrm>
          <a:prstGeom prst="rect">
            <a:avLst/>
          </a:prstGeom>
          <a:solidFill>
            <a:srgbClr val="2E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4825" y="0"/>
            <a:ext cx="13334" cy="6858000"/>
          </a:xfrm>
          <a:prstGeom prst="rect">
            <a:avLst/>
          </a:prstGeom>
          <a:solidFill>
            <a:srgbClr val="2E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687175" y="0"/>
            <a:ext cx="13334" cy="6858000"/>
          </a:xfrm>
          <a:prstGeom prst="rect">
            <a:avLst/>
          </a:prstGeom>
          <a:solidFill>
            <a:srgbClr val="2E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4825" y="4448175"/>
            <a:ext cx="11182350" cy="13334"/>
          </a:xfrm>
          <a:prstGeom prst="rect">
            <a:avLst/>
          </a:prstGeom>
          <a:solidFill>
            <a:srgbClr val="2E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8625" y="1323975"/>
            <a:ext cx="76200" cy="152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52425" y="1400175"/>
            <a:ext cx="76200" cy="76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ackbase-wordmark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55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5A6B80"/>
                </a:solidFill>
                <a:latin typeface="Libre Franklin"/>
              </a:rPr>
              <a:t>1</a:t>
            </a:fld>
          </a:p>
        </p:txBody>
      </p:sp>
      <p:sp>
        <p:nvSpPr>
          <p:cNvPr id="10" name="TextBox 9"/>
          <p:cNvSpPr txBox="1"/>
          <p:nvPr/>
        </p:nvSpPr>
        <p:spPr>
          <a:xfrm>
            <a:off x="1019174" y="2019300"/>
            <a:ext cx="6667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69FEFF"/>
                </a:solidFill>
                <a:latin typeface="Libre Franklin"/>
              </a:rPr>
              <a:t>01 · CHAPTER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0125" y="2381250"/>
            <a:ext cx="9525000" cy="76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Libre Franklin"/>
              </a:rPr>
              <a:t>The frameworks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9174" y="3333750"/>
            <a:ext cx="9334500" cy="571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1125" b="0">
                <a:solidFill>
                  <a:srgbClr val="C5CFDE"/>
                </a:solidFill>
                <a:latin typeface="Libre Franklin"/>
              </a:rPr>
              <a:t>The thesis, the product filter, the economics, the ladder and lifecycle, and the pod that runs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2425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242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3957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5100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6225" y="200025"/>
            <a:ext cx="76200" cy="1524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025" y="276225"/>
            <a:ext cx="76200" cy="762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350" y="514350"/>
            <a:ext cx="8572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3367FF"/>
                </a:solidFill>
                <a:latin typeface="Libre Franklin"/>
              </a:rPr>
              <a:t>FRAMEWORKS · THE THESIS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781050"/>
            <a:ext cx="102870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Every product earns a fee, harvests the bank’s reality, and installs the first component of Banking OS.</a:t>
            </a:r>
          </a:p>
        </p:txBody>
      </p:sp>
      <p:pic>
        <p:nvPicPr>
          <p:cNvPr id="10" name="Picture 9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2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6B7786"/>
                </a:solidFill>
                <a:latin typeface="Libre Franklin"/>
              </a:rPr>
              <a:t>1</a:t>
            </a:fld>
          </a:p>
        </p:txBody>
      </p:sp>
      <p:sp>
        <p:nvSpPr>
          <p:cNvPr id="12" name="Rectangle 11"/>
          <p:cNvSpPr/>
          <p:nvPr/>
        </p:nvSpPr>
        <p:spPr>
          <a:xfrm>
            <a:off x="514350" y="6172200"/>
            <a:ext cx="111633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" y="6238875"/>
            <a:ext cx="111633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Filter rule: a candidate that fails any one of the three tests is consulting, and stays out of the product line. Aligned to the Banking OS canon (knowledge/product/banking-os.md).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350" y="2114550"/>
            <a:ext cx="5334000" cy="10287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4350" y="2190750"/>
            <a:ext cx="38100" cy="8763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850" y="2228850"/>
            <a:ext cx="4991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Test 1 · It earns a fee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850" y="2495550"/>
            <a:ext cx="4991100" cy="5524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Each install is paid work at €15-100K, priced as a product with a fixed scope and a delivery kit.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4350" y="3276600"/>
            <a:ext cx="5334000" cy="10287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4350" y="3352800"/>
            <a:ext cx="38100" cy="8763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3390900"/>
            <a:ext cx="4991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Test 2 · It harvests proprietary 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850" y="3657600"/>
            <a:ext cx="4991100" cy="5524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The engagement captures the bank’s real processes, data structures and policies. Evidence only Backbase holds.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4350" y="4438650"/>
            <a:ext cx="5334000" cy="10287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4350" y="4514850"/>
            <a:ext cx="38100" cy="8763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850" y="4552950"/>
            <a:ext cx="4991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Test 3 · It pre-binds a Banking OS layer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850" y="4819650"/>
            <a:ext cx="4991100" cy="5524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The output is a working component: Nexus, Sentinel or a Mission candidate, already present in the account.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1250" y="2114550"/>
            <a:ext cx="5486400" cy="3314700"/>
          </a:xfrm>
          <a:prstGeom prst="roundRect">
            <a:avLst>
              <a:gd name="adj" fmla="val 8000"/>
            </a:avLst>
          </a:prstGeom>
          <a:solidFill>
            <a:srgbClr val="04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7000" y="2362200"/>
            <a:ext cx="49149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69FEFF"/>
                </a:solidFill>
                <a:latin typeface="Libre Franklin"/>
              </a:rPr>
              <a:t>THE ONE-LINER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7000" y="2667000"/>
            <a:ext cx="4914900" cy="1143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1575" b="1">
                <a:solidFill>
                  <a:srgbClr val="FFFFFF"/>
                </a:solidFill>
                <a:latin typeface="Libre Franklin"/>
              </a:rPr>
              <a:t>Paid discovery that leaves the platform installed.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77000" y="4305300"/>
            <a:ext cx="4914900" cy="99059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0">
                <a:solidFill>
                  <a:srgbClr val="C5CFDE"/>
                </a:solidFill>
                <a:latin typeface="Libre Franklin"/>
              </a:rPr>
              <a:t>Each engagement ends with a live Banking OS component in the account, a quantified expansion case for the AE, and account intelligence competitors and SIs never see.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2425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242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3957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5100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6225" y="200025"/>
            <a:ext cx="76200" cy="1524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025" y="276225"/>
            <a:ext cx="76200" cy="762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350" y="514350"/>
            <a:ext cx="8572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3367FF"/>
                </a:solidFill>
                <a:latin typeface="Libre Franklin"/>
              </a:rPr>
              <a:t>FRAMEWORKS · THE TWO ENGINES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781050"/>
            <a:ext cx="102870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The products harvest the evidence; the services redesign the bank around it.</a:t>
            </a:r>
          </a:p>
        </p:txBody>
      </p:sp>
      <p:pic>
        <p:nvPicPr>
          <p:cNvPr id="10" name="Picture 9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2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6B7786"/>
                </a:solidFill>
                <a:latin typeface="Libre Franklin"/>
              </a:rPr>
              <a:t>1</a:t>
            </a:fld>
          </a:p>
        </p:txBody>
      </p:sp>
      <p:sp>
        <p:nvSpPr>
          <p:cNvPr id="12" name="Rectangle 11"/>
          <p:cNvSpPr/>
          <p:nvPr/>
        </p:nvSpPr>
        <p:spPr>
          <a:xfrm>
            <a:off x="514350" y="6172200"/>
            <a:ext cx="111633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" y="6238875"/>
            <a:ext cx="111633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Engine B passes the same three tests when fed by Engine A: it earns a fee, harvests the organisation’s reality, and pre-binds the human layer of Banking OS. Ticket range is an assumption to validate against market org-design pricing.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350" y="1981199"/>
            <a:ext cx="5334000" cy="2857500"/>
          </a:xfrm>
          <a:prstGeom prst="roundRect">
            <a:avLst>
              <a:gd name="adj" fmla="val 8000"/>
            </a:avLst>
          </a:prstGeom>
          <a:solidFill>
            <a:srgbClr val="E5E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2000" y="2190750"/>
            <a:ext cx="47625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264EC7"/>
                </a:solidFill>
                <a:latin typeface="Libre Franklin"/>
              </a:rPr>
              <a:t>ENGINE A · PRODUCT FACTORY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2438400"/>
            <a:ext cx="47625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41326"/>
                </a:solidFill>
                <a:latin typeface="Libre Franklin"/>
              </a:rPr>
              <a:t>Installs the technical layers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2819400"/>
            <a:ext cx="485775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Four SKUs: X-Ray, Cartographer, Guardrail, Telemetry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3105150"/>
            <a:ext cx="485775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Pre-binds Nexus, Sentinel and Mission candidates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3390900"/>
            <a:ext cx="485775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Earns €15-100K per install; fees credit forward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3676649"/>
            <a:ext cx="485775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Harvests the account evidence nobody else holds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4476750"/>
            <a:ext cx="47625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25" b="1">
                <a:solidFill>
                  <a:srgbClr val="3367FF"/>
                </a:solidFill>
                <a:latin typeface="Libre Franklin"/>
              </a:rPr>
              <a:t>→ the evidence engine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1250" y="1981199"/>
            <a:ext cx="5486400" cy="2857500"/>
          </a:xfrm>
          <a:prstGeom prst="roundRect">
            <a:avLst>
              <a:gd name="adj" fmla="val 8000"/>
            </a:avLst>
          </a:prstGeom>
          <a:solidFill>
            <a:srgbClr val="04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38900" y="2190750"/>
            <a:ext cx="49530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69FEFF"/>
                </a:solidFill>
                <a:latin typeface="Libre Franklin"/>
              </a:rPr>
              <a:t>ENGINE B · AI-NATIVE SERVICES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38900" y="2438400"/>
            <a:ext cx="49530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Libre Franklin"/>
              </a:rPr>
              <a:t>Installs the human layer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8900" y="2819400"/>
            <a:ext cx="50101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862" b="0">
                <a:solidFill>
                  <a:srgbClr val="C5CFDE"/>
                </a:solidFill>
                <a:latin typeface="Libre Franklin"/>
              </a:rPr>
              <a:t>· Three offerings: Maturity Assessment, Workforce Optimization, and the flagship AI-Native Org Design (draft v0.1 exists)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38900" y="3219450"/>
            <a:ext cx="50101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862" b="0">
                <a:solidFill>
                  <a:srgbClr val="C5CFDE"/>
                </a:solidFill>
                <a:latin typeface="Libre Franklin"/>
              </a:rPr>
              <a:t>· Redesigns the org chart around the A1-A5 autonomy curve: pyramid → inverted-T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8900" y="3619500"/>
            <a:ext cx="50101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862" b="0">
                <a:solidFill>
                  <a:srgbClr val="C5CFDE"/>
                </a:solidFill>
                <a:latin typeface="Libre Franklin"/>
              </a:rPr>
              <a:t>· Pre-binds the roles that run Banking OS: Mission Owners, AgentOps, Exception Desks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38900" y="4019549"/>
            <a:ext cx="50101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862" b="0">
                <a:solidFill>
                  <a:srgbClr val="C5CFDE"/>
                </a:solidFill>
                <a:latin typeface="Libre Franklin"/>
              </a:rPr>
              <a:t>· Earns €80-150K per engagement (to validate)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38900" y="4495800"/>
            <a:ext cx="47625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25" b="1">
                <a:solidFill>
                  <a:srgbClr val="69FEFF"/>
                </a:solidFill>
                <a:latin typeface="Libre Franklin"/>
              </a:rPr>
              <a:t>→ the operating-model engine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4350" y="5067300"/>
            <a:ext cx="11163300" cy="685800"/>
          </a:xfrm>
          <a:prstGeom prst="roundRect">
            <a:avLst>
              <a:gd name="adj" fmla="val 8000"/>
            </a:avLst>
          </a:prstGeom>
          <a:solidFill>
            <a:srgbClr val="E5E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2950" y="5200650"/>
            <a:ext cx="2857500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75" b="1">
                <a:solidFill>
                  <a:srgbClr val="264EC7"/>
                </a:solidFill>
                <a:latin typeface="Libre Franklin"/>
              </a:rPr>
              <a:t>The sequencing rule.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14750" y="5181600"/>
            <a:ext cx="7734300" cy="4762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041326"/>
                </a:solidFill>
                <a:latin typeface="Libre Franklin"/>
              </a:rPr>
              <a:t>Engine B never sells cold: it runs on Engine A’s harvested evidence (autonomy scores, authority maps, cost per outcome), which is exactly what a generic consultancy cannot copy.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2425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242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3957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5100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6225" y="200025"/>
            <a:ext cx="76200" cy="1524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025" y="276225"/>
            <a:ext cx="76200" cy="762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350" y="514350"/>
            <a:ext cx="8572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3367FF"/>
                </a:solidFill>
                <a:latin typeface="Libre Franklin"/>
              </a:rPr>
              <a:t>FRAMEWORKS · THE ECONOMICS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781050"/>
            <a:ext cx="102870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Ten paid installs a year cover the full team cost; every install beyond is new revenue.</a:t>
            </a:r>
          </a:p>
        </p:txBody>
      </p:sp>
      <p:pic>
        <p:nvPicPr>
          <p:cNvPr id="10" name="Picture 9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2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6B7786"/>
                </a:solidFill>
                <a:latin typeface="Libre Franklin"/>
              </a:rPr>
              <a:t>1</a:t>
            </a:fld>
          </a:p>
        </p:txBody>
      </p:sp>
      <p:sp>
        <p:nvSpPr>
          <p:cNvPr id="12" name="Rectangle 11"/>
          <p:cNvSpPr/>
          <p:nvPr/>
        </p:nvSpPr>
        <p:spPr>
          <a:xfrm>
            <a:off x="514350" y="6172200"/>
            <a:ext cx="111633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" y="6238875"/>
            <a:ext cx="111633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Package = Assess &amp; Solution €60K + Mission POC €60K. Team cost of ~€1.2M a year is the PDP working figure, to be validated with finance. Chapter 04 phases this: year one proves with 3-4 installs; ten a year is the cost-neutral run rate from year two.</a:t>
            </a:r>
          </a:p>
        </p:txBody>
      </p:sp>
      <p:sp>
        <p:nvSpPr>
          <p:cNvPr id="14" name="Oval 13"/>
          <p:cNvSpPr/>
          <p:nvPr/>
        </p:nvSpPr>
        <p:spPr>
          <a:xfrm>
            <a:off x="952500" y="2762250"/>
            <a:ext cx="400050" cy="400050"/>
          </a:xfrm>
          <a:prstGeom prst="ellipse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638300" y="2762250"/>
            <a:ext cx="400050" cy="400050"/>
          </a:xfrm>
          <a:prstGeom prst="ellipse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324100" y="2762250"/>
            <a:ext cx="400050" cy="400050"/>
          </a:xfrm>
          <a:prstGeom prst="ellipse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009900" y="2762250"/>
            <a:ext cx="400050" cy="400050"/>
          </a:xfrm>
          <a:prstGeom prst="ellipse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695700" y="2762250"/>
            <a:ext cx="400050" cy="400050"/>
          </a:xfrm>
          <a:prstGeom prst="ellipse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381500" y="2762250"/>
            <a:ext cx="400050" cy="400050"/>
          </a:xfrm>
          <a:prstGeom prst="ellipse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067300" y="2762250"/>
            <a:ext cx="400050" cy="400050"/>
          </a:xfrm>
          <a:prstGeom prst="ellipse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53100" y="2762250"/>
            <a:ext cx="400050" cy="400050"/>
          </a:xfrm>
          <a:prstGeom prst="ellipse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52500" y="3448050"/>
            <a:ext cx="400050" cy="400050"/>
          </a:xfrm>
          <a:prstGeom prst="ellipse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638300" y="3448050"/>
            <a:ext cx="400050" cy="400050"/>
          </a:xfrm>
          <a:prstGeom prst="ellipse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324100" y="3448050"/>
            <a:ext cx="400050" cy="400050"/>
          </a:xfrm>
          <a:prstGeom prst="ellipse">
            <a:avLst/>
          </a:prstGeom>
          <a:solidFill>
            <a:srgbClr val="CC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009900" y="3448050"/>
            <a:ext cx="400050" cy="400050"/>
          </a:xfrm>
          <a:prstGeom prst="ellipse">
            <a:avLst/>
          </a:prstGeom>
          <a:solidFill>
            <a:srgbClr val="CC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695700" y="3448050"/>
            <a:ext cx="400050" cy="400050"/>
          </a:xfrm>
          <a:prstGeom prst="ellipse">
            <a:avLst/>
          </a:prstGeom>
          <a:solidFill>
            <a:srgbClr val="CC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381500" y="3448050"/>
            <a:ext cx="400050" cy="400050"/>
          </a:xfrm>
          <a:prstGeom prst="ellipse">
            <a:avLst/>
          </a:prstGeom>
          <a:solidFill>
            <a:srgbClr val="CC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067300" y="3448050"/>
            <a:ext cx="400050" cy="400050"/>
          </a:xfrm>
          <a:prstGeom prst="ellipse">
            <a:avLst/>
          </a:prstGeom>
          <a:solidFill>
            <a:srgbClr val="CC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753100" y="3448050"/>
            <a:ext cx="400050" cy="400050"/>
          </a:xfrm>
          <a:prstGeom prst="ellipse">
            <a:avLst/>
          </a:prstGeom>
          <a:solidFill>
            <a:srgbClr val="CC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71550" y="4495800"/>
            <a:ext cx="152400" cy="152400"/>
          </a:xfrm>
          <a:prstGeom prst="ellipse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19200" y="4476750"/>
            <a:ext cx="2857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786"/>
                </a:solidFill>
                <a:latin typeface="Libre Franklin"/>
              </a:rPr>
              <a:t>Installs to cost neutrality (10)</a:t>
            </a:r>
          </a:p>
        </p:txBody>
      </p:sp>
      <p:sp>
        <p:nvSpPr>
          <p:cNvPr id="32" name="Oval 31"/>
          <p:cNvSpPr/>
          <p:nvPr/>
        </p:nvSpPr>
        <p:spPr>
          <a:xfrm>
            <a:off x="4400550" y="4495800"/>
            <a:ext cx="152400" cy="152400"/>
          </a:xfrm>
          <a:prstGeom prst="ellipse">
            <a:avLst/>
          </a:prstGeom>
          <a:solidFill>
            <a:srgbClr val="CC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48200" y="4476750"/>
            <a:ext cx="3048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786"/>
                </a:solidFill>
                <a:latin typeface="Libre Franklin"/>
              </a:rPr>
              <a:t>Year-two expansion range (14-16)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96150" y="2286000"/>
            <a:ext cx="4381500" cy="24765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77150" y="2552700"/>
            <a:ext cx="1714500" cy="8572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4800" b="1">
                <a:solidFill>
                  <a:srgbClr val="3367FF"/>
                </a:solidFill>
                <a:latin typeface="Libre Franklin"/>
              </a:rP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77150" y="3524250"/>
            <a:ext cx="36195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1087" b="0">
                <a:solidFill>
                  <a:srgbClr val="041326"/>
                </a:solidFill>
                <a:latin typeface="Libre Franklin"/>
              </a:rPr>
              <a:t>installs a year at an average package of €120K cover the ~€1.2M annual team cost.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2425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242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3957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5100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6225" y="200025"/>
            <a:ext cx="76200" cy="1524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025" y="276225"/>
            <a:ext cx="76200" cy="762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350" y="514350"/>
            <a:ext cx="8572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3367FF"/>
                </a:solidFill>
                <a:latin typeface="Libre Franklin"/>
              </a:rPr>
              <a:t>FRAMEWORKS · THE LADDER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781050"/>
            <a:ext cx="102870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The wedge stays free; depth and recurrence carry the price.</a:t>
            </a:r>
          </a:p>
        </p:txBody>
      </p:sp>
      <p:pic>
        <p:nvPicPr>
          <p:cNvPr id="10" name="Picture 9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2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6B7786"/>
                </a:solidFill>
                <a:latin typeface="Libre Franklin"/>
              </a:rPr>
              <a:t>1</a:t>
            </a:fld>
          </a:p>
        </p:txBody>
      </p:sp>
      <p:sp>
        <p:nvSpPr>
          <p:cNvPr id="12" name="Rectangle 11"/>
          <p:cNvSpPr/>
          <p:nvPr/>
        </p:nvSpPr>
        <p:spPr>
          <a:xfrm>
            <a:off x="514350" y="6172200"/>
            <a:ext cx="111633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" y="6238875"/>
            <a:ext cx="111633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Recurring range is a target shape anchored on SAP and ServiceNow success-plan pricing of 10-30% of licence value, and on FinOps gain-share market practice (15-35% of realised savings).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350" y="2438400"/>
            <a:ext cx="2286000" cy="123825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850" y="2552700"/>
            <a:ext cx="1943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Rung 0 · free wedge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850" y="2819400"/>
            <a:ext cx="1943100" cy="76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Ignite Inspire</a:t>
            </a:r>
          </a:p>
          <a:p>
            <a:pPr algn="l">
              <a:lnSpc>
                <a:spcPct val="112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~4 meetings, benchmark and use-case shortlist. Grows the funnel.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14650" y="2857500"/>
            <a:ext cx="2857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6B7786"/>
                </a:solidFill>
                <a:latin typeface="Libre Franklin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33750" y="2762250"/>
            <a:ext cx="2667000" cy="7239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05200" y="2876550"/>
            <a:ext cx="2286000" cy="533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75" b="1">
                <a:solidFill>
                  <a:srgbClr val="FFFFFF"/>
                </a:solidFill>
                <a:latin typeface="Libre Franklin"/>
              </a:rPr>
              <a:t>Assess &amp; Solution</a:t>
            </a:r>
          </a:p>
          <a:p>
            <a:pPr algn="l">
              <a:lnSpc>
                <a:spcPct val="110000"/>
              </a:lnSpc>
            </a:pPr>
            <a:r>
              <a:rPr sz="975" b="1">
                <a:solidFill>
                  <a:srgbClr val="FFFFFF"/>
                </a:solidFill>
                <a:latin typeface="Libre Franklin"/>
              </a:rPr>
              <a:t>€60K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00750" y="2762250"/>
            <a:ext cx="2667000" cy="723900"/>
          </a:xfrm>
          <a:prstGeom prst="rect">
            <a:avLst/>
          </a:prstGeom>
          <a:solidFill>
            <a:srgbClr val="264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2200" y="2876550"/>
            <a:ext cx="2286000" cy="533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75" b="1">
                <a:solidFill>
                  <a:srgbClr val="FFFFFF"/>
                </a:solidFill>
                <a:latin typeface="Libre Franklin"/>
              </a:rPr>
              <a:t>Mission POC</a:t>
            </a:r>
          </a:p>
          <a:p>
            <a:pPr algn="l">
              <a:lnSpc>
                <a:spcPct val="110000"/>
              </a:lnSpc>
            </a:pPr>
            <a:r>
              <a:rPr sz="975" b="1">
                <a:solidFill>
                  <a:srgbClr val="FFFFFF"/>
                </a:solidFill>
                <a:latin typeface="Libre Franklin"/>
              </a:rPr>
              <a:t>€60K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33750" y="2457450"/>
            <a:ext cx="5334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6B7786"/>
                </a:solidFill>
                <a:latin typeface="Libre Franklin"/>
              </a:rPr>
              <a:t>Rungs 1 + 2 · the €120K package (to scale)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82050" y="2857500"/>
            <a:ext cx="2857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6B7786"/>
                </a:solidFill>
                <a:latin typeface="Libre Franklin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82100" y="2438400"/>
            <a:ext cx="2495550" cy="1238250"/>
          </a:xfrm>
          <a:prstGeom prst="roundRect">
            <a:avLst>
              <a:gd name="adj" fmla="val 8000"/>
            </a:avLst>
          </a:prstGeom>
          <a:solidFill>
            <a:srgbClr val="04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91650" y="2552700"/>
            <a:ext cx="2095499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69FEFF"/>
                </a:solidFill>
                <a:latin typeface="Libre Franklin"/>
              </a:rPr>
              <a:t>Rung 3 · recurring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91650" y="2800350"/>
            <a:ext cx="2095499" cy="800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75" b="1">
                <a:solidFill>
                  <a:srgbClr val="FFFFFF"/>
                </a:solidFill>
                <a:latin typeface="Libre Franklin"/>
              </a:rPr>
              <a:t>Value Assurance</a:t>
            </a:r>
          </a:p>
          <a:p>
            <a:pPr algn="l">
              <a:lnSpc>
                <a:spcPct val="115000"/>
              </a:lnSpc>
            </a:pPr>
            <a:r>
              <a:rPr sz="975" b="1">
                <a:solidFill>
                  <a:srgbClr val="FFFFFF"/>
                </a:solidFill>
                <a:latin typeface="Libre Franklin"/>
              </a:rPr>
              <a:t>€30-50K a year + gain share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4350" y="4381500"/>
            <a:ext cx="5448300" cy="8763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14350" y="4457700"/>
            <a:ext cx="38100" cy="7239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4495800"/>
            <a:ext cx="51054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The free wedge feeds the funnel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4762500"/>
            <a:ext cx="5105400" cy="4000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Four meetings surface the leakage evidence that qualifies the paid wedge. Zero friction to start.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29350" y="4381500"/>
            <a:ext cx="5448300" cy="8763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29350" y="4457700"/>
            <a:ext cx="38100" cy="7239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850" y="4495800"/>
            <a:ext cx="51054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Recurrence is the growth flywheel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9850" y="4762500"/>
            <a:ext cx="5105400" cy="4000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Telemetry converts every live deployment into quarterly revenue that compounds with AI consumption.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2425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242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3957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5100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6225" y="200025"/>
            <a:ext cx="76200" cy="1524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025" y="276225"/>
            <a:ext cx="76200" cy="762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350" y="514350"/>
            <a:ext cx="8572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3367FF"/>
                </a:solidFill>
                <a:latin typeface="Libre Franklin"/>
              </a:rPr>
              <a:t>FRAMEWORKS · LADDER MEETS LIFECYCLE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781050"/>
            <a:ext cx="102870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The ladder is what the bank buys; the lifecycle is how the pod delivers it.</a:t>
            </a:r>
          </a:p>
        </p:txBody>
      </p:sp>
      <p:pic>
        <p:nvPicPr>
          <p:cNvPr id="10" name="Picture 9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2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6B7786"/>
                </a:solidFill>
                <a:latin typeface="Libre Franklin"/>
              </a:rPr>
              <a:t>1</a:t>
            </a:fld>
          </a:p>
        </p:txBody>
      </p:sp>
      <p:sp>
        <p:nvSpPr>
          <p:cNvPr id="12" name="Rectangle 11"/>
          <p:cNvSpPr/>
          <p:nvPr/>
        </p:nvSpPr>
        <p:spPr>
          <a:xfrm>
            <a:off x="514350" y="6172200"/>
            <a:ext cx="111633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" y="6238875"/>
            <a:ext cx="111633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Stages 05 Proposal and 06 Signature are the arrows between rungs: each rung ends by proposing and signing the next one. The wedge product fulfils Rung 1; the Factory Mission Sprint fulfils Rung 2.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350" y="1828800"/>
            <a:ext cx="38100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6B7786"/>
                </a:solidFill>
                <a:latin typeface="Libre Franklin"/>
              </a:rPr>
              <a:t>WHAT THE BANK BUYS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4350" y="2076450"/>
            <a:ext cx="2381250" cy="120015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171700"/>
            <a:ext cx="207645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6B7786"/>
                </a:solidFill>
                <a:latin typeface="Libre Franklin"/>
              </a:rPr>
              <a:t>RUNG 0 · FREE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381250"/>
            <a:ext cx="207645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87" b="1">
                <a:solidFill>
                  <a:srgbClr val="041326"/>
                </a:solidFill>
                <a:latin typeface="Libre Franklin"/>
              </a:rPr>
              <a:t>Ignite Inspire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2647950"/>
            <a:ext cx="2076450" cy="571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0">
                <a:solidFill>
                  <a:srgbClr val="2A384A"/>
                </a:solidFill>
                <a:latin typeface="Libre Franklin"/>
              </a:rPr>
              <a:t>~4 meetings: hypotheses, wedge choice, specimen pack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52750" y="2457450"/>
            <a:ext cx="428625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6B7786"/>
                </a:solidFill>
                <a:latin typeface="Libre Franklin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52750" y="2781300"/>
            <a:ext cx="428625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0000"/>
              </a:lnSpc>
            </a:pPr>
            <a:r>
              <a:rPr sz="637" b="1">
                <a:solidFill>
                  <a:srgbClr val="3367FF"/>
                </a:solidFill>
                <a:latin typeface="Libre Franklin"/>
              </a:rPr>
              <a:t>05 propose</a:t>
            </a:r>
          </a:p>
          <a:p>
            <a:pPr algn="ctr">
              <a:lnSpc>
                <a:spcPct val="110000"/>
              </a:lnSpc>
            </a:pPr>
            <a:r>
              <a:rPr sz="637" b="1">
                <a:solidFill>
                  <a:srgbClr val="3367FF"/>
                </a:solidFill>
                <a:latin typeface="Libre Franklin"/>
              </a:rPr>
              <a:t>06 sign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38525" y="2076450"/>
            <a:ext cx="2381250" cy="1200150"/>
          </a:xfrm>
          <a:prstGeom prst="roundRect">
            <a:avLst>
              <a:gd name="adj" fmla="val 8000"/>
            </a:avLst>
          </a:prstGeom>
          <a:solidFill>
            <a:srgbClr val="E5EBFF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09975" y="2171700"/>
            <a:ext cx="207645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264EC7"/>
                </a:solidFill>
                <a:latin typeface="Libre Franklin"/>
              </a:rPr>
              <a:t>RUNG 1 · €60K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09975" y="2381250"/>
            <a:ext cx="207645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87" b="1">
                <a:solidFill>
                  <a:srgbClr val="041326"/>
                </a:solidFill>
                <a:latin typeface="Libre Franklin"/>
              </a:rPr>
              <a:t>The wedge product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9975" y="2647950"/>
            <a:ext cx="2076450" cy="571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0">
                <a:solidFill>
                  <a:srgbClr val="2A384A"/>
                </a:solidFill>
                <a:latin typeface="Libre Franklin"/>
              </a:rPr>
              <a:t>X-Ray, Cartographer, Guardrail or Telemetry, on the bank’s own data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76925" y="2457450"/>
            <a:ext cx="428625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6B7786"/>
                </a:solidFill>
                <a:latin typeface="Libre Franklin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6925" y="2781300"/>
            <a:ext cx="428625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0000"/>
              </a:lnSpc>
            </a:pPr>
            <a:r>
              <a:rPr sz="637" b="1">
                <a:solidFill>
                  <a:srgbClr val="3367FF"/>
                </a:solidFill>
                <a:latin typeface="Libre Franklin"/>
              </a:rPr>
              <a:t>05 propose</a:t>
            </a:r>
          </a:p>
          <a:p>
            <a:pPr algn="ctr">
              <a:lnSpc>
                <a:spcPct val="110000"/>
              </a:lnSpc>
            </a:pPr>
            <a:r>
              <a:rPr sz="637" b="1">
                <a:solidFill>
                  <a:srgbClr val="3367FF"/>
                </a:solidFill>
                <a:latin typeface="Libre Franklin"/>
              </a:rPr>
              <a:t>06 sign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62700" y="2076450"/>
            <a:ext cx="2381250" cy="1200150"/>
          </a:xfrm>
          <a:prstGeom prst="roundRect">
            <a:avLst>
              <a:gd name="adj" fmla="val 8000"/>
            </a:avLst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4150" y="2171700"/>
            <a:ext cx="207645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FFFFFF"/>
                </a:solidFill>
                <a:latin typeface="Libre Franklin"/>
              </a:rPr>
              <a:t>RUNG 2 · €60K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4150" y="2381250"/>
            <a:ext cx="207645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87" b="1">
                <a:solidFill>
                  <a:srgbClr val="FFFFFF"/>
                </a:solidFill>
                <a:latin typeface="Libre Franklin"/>
              </a:rPr>
              <a:t>Mission POC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4150" y="2647950"/>
            <a:ext cx="2076450" cy="571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0">
                <a:solidFill>
                  <a:srgbClr val="FFFFFF"/>
                </a:solidFill>
                <a:latin typeface="Libre Franklin"/>
              </a:rPr>
              <a:t>Factory Mission Sprint: the top candidate goes live in 6-12 weeks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01100" y="2457450"/>
            <a:ext cx="428625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6B7786"/>
                </a:solidFill>
                <a:latin typeface="Libre Franklin"/>
              </a:rPr>
              <a:t>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01100" y="2781300"/>
            <a:ext cx="428625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0000"/>
              </a:lnSpc>
            </a:pPr>
            <a:r>
              <a:rPr sz="637" b="1">
                <a:solidFill>
                  <a:srgbClr val="3367FF"/>
                </a:solidFill>
                <a:latin typeface="Libre Franklin"/>
              </a:rPr>
              <a:t>05 propose</a:t>
            </a:r>
          </a:p>
          <a:p>
            <a:pPr algn="ctr">
              <a:lnSpc>
                <a:spcPct val="110000"/>
              </a:lnSpc>
            </a:pPr>
            <a:r>
              <a:rPr sz="637" b="1">
                <a:solidFill>
                  <a:srgbClr val="3367FF"/>
                </a:solidFill>
                <a:latin typeface="Libre Franklin"/>
              </a:rPr>
              <a:t>06 sign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286875" y="2076450"/>
            <a:ext cx="2381250" cy="1200150"/>
          </a:xfrm>
          <a:prstGeom prst="roundRect">
            <a:avLst>
              <a:gd name="adj" fmla="val 8000"/>
            </a:avLst>
          </a:prstGeom>
          <a:solidFill>
            <a:srgbClr val="04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58325" y="2171700"/>
            <a:ext cx="207645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69FEFF"/>
                </a:solidFill>
                <a:latin typeface="Libre Franklin"/>
              </a:rPr>
              <a:t>RUNG 3 · RECURRING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58325" y="2381250"/>
            <a:ext cx="207645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87" b="1">
                <a:solidFill>
                  <a:srgbClr val="FFFFFF"/>
                </a:solidFill>
                <a:latin typeface="Libre Franklin"/>
              </a:rPr>
              <a:t>Value Assurance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58325" y="2647950"/>
            <a:ext cx="2076450" cy="571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0">
                <a:solidFill>
                  <a:srgbClr val="FFFFFF"/>
                </a:solidFill>
                <a:latin typeface="Libre Franklin"/>
              </a:rPr>
              <a:t>Quarterly cost-per-outcome proof; funds the next domain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4350" y="3695700"/>
            <a:ext cx="38100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6B7786"/>
                </a:solidFill>
                <a:latin typeface="Libre Franklin"/>
              </a:rPr>
              <a:t>HOW THE POD DELIVERS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704975" y="3276600"/>
            <a:ext cx="13334" cy="6477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14350" y="3924300"/>
            <a:ext cx="2381250" cy="4952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336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7700" y="3924300"/>
            <a:ext cx="2114550" cy="49529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862" b="1">
                <a:solidFill>
                  <a:srgbClr val="264EC7"/>
                </a:solidFill>
                <a:latin typeface="Libre Franklin"/>
              </a:rPr>
              <a:t>01 Concept · 02 Design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29150" y="3276600"/>
            <a:ext cx="13334" cy="6477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438525" y="3924300"/>
            <a:ext cx="2381250" cy="4952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336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571875" y="3924300"/>
            <a:ext cx="2114550" cy="49529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862" b="1">
                <a:solidFill>
                  <a:srgbClr val="264EC7"/>
                </a:solidFill>
                <a:latin typeface="Libre Franklin"/>
              </a:rPr>
              <a:t>03 Prototype · 04 Proof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53324" y="3276600"/>
            <a:ext cx="13334" cy="6477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362700" y="3924300"/>
            <a:ext cx="2381250" cy="4952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336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96050" y="3924300"/>
            <a:ext cx="2114550" cy="49529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862" b="1">
                <a:solidFill>
                  <a:srgbClr val="264EC7"/>
                </a:solidFill>
                <a:latin typeface="Libre Franklin"/>
              </a:rPr>
              <a:t>07 Install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477500" y="3276600"/>
            <a:ext cx="13334" cy="6477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9286875" y="3924300"/>
            <a:ext cx="2381250" cy="4952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336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420225" y="3924300"/>
            <a:ext cx="2114550" cy="49529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862" b="1">
                <a:solidFill>
                  <a:srgbClr val="264EC7"/>
                </a:solidFill>
                <a:latin typeface="Libre Franklin"/>
              </a:rPr>
              <a:t>Run · measure · expand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14350" y="4724400"/>
            <a:ext cx="11163300" cy="723900"/>
          </a:xfrm>
          <a:prstGeom prst="roundRect">
            <a:avLst>
              <a:gd name="adj" fmla="val 8000"/>
            </a:avLst>
          </a:prstGeom>
          <a:solidFill>
            <a:srgbClr val="E5E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2950" y="4857750"/>
            <a:ext cx="2857500" cy="4762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75" b="1">
                <a:solidFill>
                  <a:srgbClr val="264EC7"/>
                </a:solidFill>
                <a:latin typeface="Libre Franklin"/>
              </a:rPr>
              <a:t>Read it both ways.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14750" y="4838700"/>
            <a:ext cx="7734300" cy="5143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041326"/>
                </a:solidFill>
                <a:latin typeface="Libre Franklin"/>
              </a:rPr>
              <a:t>Vertically: each rung of the ladder is the lifecycle stage the bank pays for. Horizontally: each rung’s exit artifact is written as the entry contract of the next purchase, so the account never buys a maybe.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2425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242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3957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5100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6225" y="200025"/>
            <a:ext cx="76200" cy="1524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025" y="276225"/>
            <a:ext cx="76200" cy="762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350" y="514350"/>
            <a:ext cx="8572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3367FF"/>
                </a:solidFill>
                <a:latin typeface="Libre Franklin"/>
              </a:rPr>
              <a:t>FRAMEWORKS · THE LIFECYCLE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781050"/>
            <a:ext cx="102870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One motion carries every product from concept to installed platform.</a:t>
            </a:r>
          </a:p>
        </p:txBody>
      </p:sp>
      <p:pic>
        <p:nvPicPr>
          <p:cNvPr id="10" name="Picture 9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2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6B7786"/>
                </a:solidFill>
                <a:latin typeface="Libre Franklin"/>
              </a:rPr>
              <a:t>1</a:t>
            </a:fld>
          </a:p>
        </p:txBody>
      </p:sp>
      <p:sp>
        <p:nvSpPr>
          <p:cNvPr id="12" name="Rectangle 11"/>
          <p:cNvSpPr/>
          <p:nvPr/>
        </p:nvSpPr>
        <p:spPr>
          <a:xfrm>
            <a:off x="514350" y="6172200"/>
            <a:ext cx="111633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" y="6238875"/>
            <a:ext cx="111633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Durations are per-engagement figures once the product is built, with a ±30% planning tolerance. The first pass through stages 1-4 is the one-time product build.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350" y="2457450"/>
            <a:ext cx="1485900" cy="142875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7225" y="2619375"/>
            <a:ext cx="323850" cy="323850"/>
          </a:xfrm>
          <a:prstGeom prst="ellipse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7225" y="2676525"/>
            <a:ext cx="32385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37" b="1">
                <a:solidFill>
                  <a:srgbClr val="FFFFFF"/>
                </a:solidFill>
                <a:latin typeface="Libre Franklin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6750" y="3048000"/>
            <a:ext cx="120015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Concept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" y="3333750"/>
            <a:ext cx="1200150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VC · 1 wk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81199" y="3009900"/>
            <a:ext cx="1905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B7786"/>
                </a:solidFill>
                <a:latin typeface="Libre Franklin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124075" y="2457450"/>
            <a:ext cx="1485900" cy="142875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266950" y="2619375"/>
            <a:ext cx="323850" cy="323850"/>
          </a:xfrm>
          <a:prstGeom prst="ellipse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66950" y="2676525"/>
            <a:ext cx="32385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37" b="1">
                <a:solidFill>
                  <a:srgbClr val="FFFFFF"/>
                </a:solidFill>
                <a:latin typeface="Libre Franklin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76475" y="3048000"/>
            <a:ext cx="120015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Design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76475" y="3333750"/>
            <a:ext cx="1200150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VC + SE · 1-2 wks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90925" y="3009900"/>
            <a:ext cx="1905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B7786"/>
                </a:solidFill>
                <a:latin typeface="Libre Franklin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33799" y="2457450"/>
            <a:ext cx="1485900" cy="142875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876674" y="2619375"/>
            <a:ext cx="323850" cy="323850"/>
          </a:xfrm>
          <a:prstGeom prst="ellipse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76674" y="2676525"/>
            <a:ext cx="32385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37" b="1">
                <a:solidFill>
                  <a:srgbClr val="FFFFFF"/>
                </a:solidFill>
                <a:latin typeface="Libre Franklin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86200" y="3048000"/>
            <a:ext cx="120015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Prototype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3333750"/>
            <a:ext cx="1200150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SE · 2-3 wks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00650" y="3009900"/>
            <a:ext cx="1905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B7786"/>
                </a:solidFill>
                <a:latin typeface="Libre Franklin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343525" y="2457450"/>
            <a:ext cx="1485900" cy="142875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486400" y="2619375"/>
            <a:ext cx="323850" cy="323850"/>
          </a:xfrm>
          <a:prstGeom prst="ellipse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0" y="2676525"/>
            <a:ext cx="32385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37" b="1">
                <a:solidFill>
                  <a:srgbClr val="FFFFFF"/>
                </a:solidFill>
                <a:latin typeface="Libre Franklin"/>
              </a:rPr>
              <a:t>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95925" y="3048000"/>
            <a:ext cx="120015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Proof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95925" y="3333750"/>
            <a:ext cx="1200150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VC · 2-4 wks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10375" y="3009900"/>
            <a:ext cx="1905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B7786"/>
                </a:solidFill>
                <a:latin typeface="Libre Franklin"/>
              </a:rPr>
              <a:t>→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953250" y="2457450"/>
            <a:ext cx="1485900" cy="142875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096125" y="2619375"/>
            <a:ext cx="323850" cy="323850"/>
          </a:xfrm>
          <a:prstGeom prst="ellipse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96125" y="2676525"/>
            <a:ext cx="32385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37" b="1">
                <a:solidFill>
                  <a:srgbClr val="FFFFFF"/>
                </a:solidFill>
                <a:latin typeface="Libre Franklin"/>
              </a:rPr>
              <a:t>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05650" y="3048000"/>
            <a:ext cx="120015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Proposal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05650" y="3333750"/>
            <a:ext cx="1200150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VC + AE · 1 wk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20100" y="3009900"/>
            <a:ext cx="1905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B7786"/>
                </a:solidFill>
                <a:latin typeface="Libre Franklin"/>
              </a:rPr>
              <a:t>→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562975" y="2457450"/>
            <a:ext cx="1485900" cy="142875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705850" y="2619375"/>
            <a:ext cx="323850" cy="323850"/>
          </a:xfrm>
          <a:prstGeom prst="ellipse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705850" y="2676525"/>
            <a:ext cx="32385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37" b="1">
                <a:solidFill>
                  <a:srgbClr val="FFFFFF"/>
                </a:solidFill>
                <a:latin typeface="Libre Franklin"/>
              </a:rPr>
              <a:t>06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15375" y="3048000"/>
            <a:ext cx="120015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Signature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15375" y="3333750"/>
            <a:ext cx="1200150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AE + VC · 2-4 wks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29825" y="3009900"/>
            <a:ext cx="1905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B7786"/>
                </a:solidFill>
                <a:latin typeface="Libre Franklin"/>
              </a:rPr>
              <a:t>→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172700" y="2457450"/>
            <a:ext cx="1485900" cy="142875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315575" y="2619375"/>
            <a:ext cx="323850" cy="323850"/>
          </a:xfrm>
          <a:prstGeom prst="ellipse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315575" y="2676525"/>
            <a:ext cx="32385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37" b="1">
                <a:solidFill>
                  <a:srgbClr val="FFFFFF"/>
                </a:solidFill>
                <a:latin typeface="Libre Franklin"/>
              </a:rPr>
              <a:t>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25100" y="3048000"/>
            <a:ext cx="120015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Install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25100" y="3333750"/>
            <a:ext cx="1200150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FDE + SE · 6-12 wks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14350" y="4381500"/>
            <a:ext cx="11163300" cy="800100"/>
          </a:xfrm>
          <a:prstGeom prst="roundRect">
            <a:avLst>
              <a:gd name="adj" fmla="val 8000"/>
            </a:avLst>
          </a:prstGeom>
          <a:solidFill>
            <a:srgbClr val="E5E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42950" y="4514850"/>
            <a:ext cx="2857500" cy="5524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75" b="1">
                <a:solidFill>
                  <a:srgbClr val="264EC7"/>
                </a:solidFill>
                <a:latin typeface="Libre Franklin"/>
              </a:rPr>
              <a:t>The lifecycle runs twice over.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14750" y="4495800"/>
            <a:ext cx="7734300" cy="590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041326"/>
                </a:solidFill>
                <a:latin typeface="Libre Franklin"/>
              </a:rPr>
              <a:t>The first pass through stages 1-4 builds the product itself. From the second account onward, the same motion runs as a 4-8 week sales-and-delivery cycle per install.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2425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242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3957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5100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6225" y="200025"/>
            <a:ext cx="76200" cy="1524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025" y="276225"/>
            <a:ext cx="76200" cy="762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350" y="514350"/>
            <a:ext cx="8572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3367FF"/>
                </a:solidFill>
                <a:latin typeface="Libre Franklin"/>
              </a:rPr>
              <a:t>FRAMEWORKS · CONNECTING THE DOTS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781050"/>
            <a:ext cx="102870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Every deliverable is the entry contract of the next purchase; four gates carry the account to install.</a:t>
            </a:r>
          </a:p>
        </p:txBody>
      </p:sp>
      <p:pic>
        <p:nvPicPr>
          <p:cNvPr id="10" name="Picture 9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2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6B7786"/>
                </a:solidFill>
                <a:latin typeface="Libre Franklin"/>
              </a:rPr>
              <a:t>1</a:t>
            </a:fld>
          </a:p>
        </p:txBody>
      </p:sp>
      <p:sp>
        <p:nvSpPr>
          <p:cNvPr id="12" name="Rectangle 11"/>
          <p:cNvSpPr/>
          <p:nvPr/>
        </p:nvSpPr>
        <p:spPr>
          <a:xfrm>
            <a:off x="514350" y="6172200"/>
            <a:ext cx="111633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" y="6238875"/>
            <a:ext cx="111633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Nothing in the chain is a shelf report: each artifact is authored as the input of the next purchase order, which is what makes the wedge convert instead of inform.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350" y="2000250"/>
            <a:ext cx="2381250" cy="1905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114550"/>
            <a:ext cx="207645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12" b="1">
                <a:solidFill>
                  <a:srgbClr val="3367FF"/>
                </a:solidFill>
                <a:latin typeface="Libre Franklin"/>
              </a:rPr>
              <a:t>AFTER INSPIRE (FREE)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343150"/>
            <a:ext cx="207645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87" b="1">
                <a:solidFill>
                  <a:srgbClr val="041326"/>
                </a:solidFill>
                <a:latin typeface="Libre Franklin"/>
              </a:rPr>
              <a:t>The Inspire pack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647950"/>
            <a:ext cx="2076450" cy="1143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825" b="0">
                <a:solidFill>
                  <a:srgbClr val="2A384A"/>
                </a:solidFill>
                <a:latin typeface="Libre Franklin"/>
              </a:rPr>
              <a:t>· Leakage hypotheses</a:t>
            </a:r>
          </a:p>
          <a:p>
            <a:pPr algn="l">
              <a:lnSpc>
                <a:spcPct val="125000"/>
              </a:lnSpc>
            </a:pPr>
            <a:r>
              <a:rPr sz="825" b="0">
                <a:solidFill>
                  <a:srgbClr val="2A384A"/>
                </a:solidFill>
                <a:latin typeface="Libre Franklin"/>
              </a:rPr>
              <a:t>· Wedge choice + scope</a:t>
            </a:r>
          </a:p>
          <a:p>
            <a:pPr algn="l">
              <a:lnSpc>
                <a:spcPct val="125000"/>
              </a:lnSpc>
            </a:pPr>
            <a:r>
              <a:rPr sz="825" b="0">
                <a:solidFill>
                  <a:srgbClr val="2A384A"/>
                </a:solidFill>
                <a:latin typeface="Libre Franklin"/>
              </a:rPr>
              <a:t>· Specimen output pack</a:t>
            </a:r>
          </a:p>
        </p:txBody>
      </p:sp>
      <p:sp>
        <p:nvSpPr>
          <p:cNvPr id="18" name="Diamond 17"/>
          <p:cNvSpPr/>
          <p:nvPr/>
        </p:nvSpPr>
        <p:spPr>
          <a:xfrm>
            <a:off x="3062287" y="2847975"/>
            <a:ext cx="209550" cy="209550"/>
          </a:xfrm>
          <a:prstGeom prst="diamond">
            <a:avLst/>
          </a:prstGeom>
          <a:solidFill>
            <a:srgbClr val="3367FF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76562" y="3124200"/>
            <a:ext cx="3810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50" b="1">
                <a:solidFill>
                  <a:srgbClr val="3367FF"/>
                </a:solidFill>
                <a:latin typeface="Libre Franklin"/>
              </a:rPr>
              <a:t>G1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38525" y="2000250"/>
            <a:ext cx="2381250" cy="1905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09975" y="2114550"/>
            <a:ext cx="207645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12" b="1">
                <a:solidFill>
                  <a:srgbClr val="3367FF"/>
                </a:solidFill>
                <a:latin typeface="Libre Franklin"/>
              </a:rPr>
              <a:t>AFTER THE WEDGE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09975" y="2343150"/>
            <a:ext cx="207645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87" b="1">
                <a:solidFill>
                  <a:srgbClr val="041326"/>
                </a:solidFill>
                <a:latin typeface="Libre Franklin"/>
              </a:rPr>
              <a:t>The evidence pack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09975" y="2647950"/>
            <a:ext cx="2076450" cy="1143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825" b="0">
                <a:solidFill>
                  <a:srgbClr val="2A384A"/>
                </a:solidFill>
                <a:latin typeface="Libre Franklin"/>
              </a:rPr>
              <a:t>· € leakage, evidenced</a:t>
            </a:r>
          </a:p>
          <a:p>
            <a:pPr algn="l">
              <a:lnSpc>
                <a:spcPct val="125000"/>
              </a:lnSpc>
            </a:pPr>
            <a:r>
              <a:rPr sz="825" b="0">
                <a:solidFill>
                  <a:srgbClr val="2A384A"/>
                </a:solidFill>
                <a:latin typeface="Libre Franklin"/>
              </a:rPr>
              <a:t>· Integration landscape map</a:t>
            </a:r>
          </a:p>
          <a:p>
            <a:pPr algn="l">
              <a:lnSpc>
                <a:spcPct val="125000"/>
              </a:lnSpc>
            </a:pPr>
            <a:r>
              <a:rPr sz="825" b="0">
                <a:solidFill>
                  <a:srgbClr val="2A384A"/>
                </a:solidFill>
                <a:latin typeface="Libre Franklin"/>
              </a:rPr>
              <a:t>· Ranked Mission backlog</a:t>
            </a:r>
          </a:p>
        </p:txBody>
      </p:sp>
      <p:sp>
        <p:nvSpPr>
          <p:cNvPr id="24" name="Diamond 23"/>
          <p:cNvSpPr/>
          <p:nvPr/>
        </p:nvSpPr>
        <p:spPr>
          <a:xfrm>
            <a:off x="5986462" y="2847975"/>
            <a:ext cx="209550" cy="209550"/>
          </a:xfrm>
          <a:prstGeom prst="diamond">
            <a:avLst/>
          </a:prstGeom>
          <a:solidFill>
            <a:srgbClr val="3367FF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00737" y="3124200"/>
            <a:ext cx="3810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50" b="1">
                <a:solidFill>
                  <a:srgbClr val="3367FF"/>
                </a:solidFill>
                <a:latin typeface="Libre Franklin"/>
              </a:rPr>
              <a:t>G2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2700" y="2000250"/>
            <a:ext cx="2381250" cy="1905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4150" y="2114550"/>
            <a:ext cx="207645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12" b="1">
                <a:solidFill>
                  <a:srgbClr val="3367FF"/>
                </a:solidFill>
                <a:latin typeface="Libre Franklin"/>
              </a:rPr>
              <a:t>AFTER THE POC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4150" y="2343150"/>
            <a:ext cx="207645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87" b="1">
                <a:solidFill>
                  <a:srgbClr val="041326"/>
                </a:solidFill>
                <a:latin typeface="Libre Franklin"/>
              </a:rPr>
              <a:t>The live loop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4150" y="2647950"/>
            <a:ext cx="2076450" cy="1143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825" b="0">
                <a:solidFill>
                  <a:srgbClr val="2A384A"/>
                </a:solidFill>
                <a:latin typeface="Libre Franklin"/>
              </a:rPr>
              <a:t>· Resolution loop in production</a:t>
            </a:r>
          </a:p>
          <a:p>
            <a:pPr algn="l">
              <a:lnSpc>
                <a:spcPct val="125000"/>
              </a:lnSpc>
            </a:pPr>
            <a:r>
              <a:rPr sz="825" b="0">
                <a:solidFill>
                  <a:srgbClr val="2A384A"/>
                </a:solidFill>
                <a:latin typeface="Libre Franklin"/>
              </a:rPr>
              <a:t>· Telemetry baseline</a:t>
            </a:r>
          </a:p>
          <a:p>
            <a:pPr algn="l">
              <a:lnSpc>
                <a:spcPct val="125000"/>
              </a:lnSpc>
            </a:pPr>
            <a:r>
              <a:rPr sz="825" b="0">
                <a:solidFill>
                  <a:srgbClr val="2A384A"/>
                </a:solidFill>
                <a:latin typeface="Libre Franklin"/>
              </a:rPr>
              <a:t>· Sentinel-governed, auditable</a:t>
            </a:r>
          </a:p>
        </p:txBody>
      </p:sp>
      <p:sp>
        <p:nvSpPr>
          <p:cNvPr id="30" name="Diamond 29"/>
          <p:cNvSpPr/>
          <p:nvPr/>
        </p:nvSpPr>
        <p:spPr>
          <a:xfrm>
            <a:off x="8910637" y="2847975"/>
            <a:ext cx="209550" cy="209550"/>
          </a:xfrm>
          <a:prstGeom prst="diamond">
            <a:avLst/>
          </a:prstGeom>
          <a:solidFill>
            <a:srgbClr val="3367FF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24912" y="3124200"/>
            <a:ext cx="3810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50" b="1">
                <a:solidFill>
                  <a:srgbClr val="3367FF"/>
                </a:solidFill>
                <a:latin typeface="Libre Franklin"/>
              </a:rPr>
              <a:t>G3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86875" y="2000250"/>
            <a:ext cx="2381250" cy="1905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58325" y="2114550"/>
            <a:ext cx="207645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12" b="1">
                <a:solidFill>
                  <a:srgbClr val="3367FF"/>
                </a:solidFill>
                <a:latin typeface="Libre Franklin"/>
              </a:rPr>
              <a:t>EVERY QUARTER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58325" y="2343150"/>
            <a:ext cx="207645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87" b="1">
                <a:solidFill>
                  <a:srgbClr val="041326"/>
                </a:solidFill>
                <a:latin typeface="Libre Franklin"/>
              </a:rPr>
              <a:t>The value proof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58325" y="2647950"/>
            <a:ext cx="2076450" cy="1143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825" b="0">
                <a:solidFill>
                  <a:srgbClr val="2A384A"/>
                </a:solidFill>
                <a:latin typeface="Libre Franklin"/>
              </a:rPr>
              <a:t>· Cost per outcome, measured</a:t>
            </a:r>
          </a:p>
          <a:p>
            <a:pPr algn="l">
              <a:lnSpc>
                <a:spcPct val="125000"/>
              </a:lnSpc>
            </a:pPr>
            <a:r>
              <a:rPr sz="825" b="0">
                <a:solidFill>
                  <a:srgbClr val="2A384A"/>
                </a:solidFill>
                <a:latin typeface="Libre Franklin"/>
              </a:rPr>
              <a:t>· Savings register</a:t>
            </a:r>
          </a:p>
          <a:p>
            <a:pPr algn="l">
              <a:lnSpc>
                <a:spcPct val="125000"/>
              </a:lnSpc>
            </a:pPr>
            <a:r>
              <a:rPr sz="825" b="0">
                <a:solidFill>
                  <a:srgbClr val="2A384A"/>
                </a:solidFill>
                <a:latin typeface="Libre Franklin"/>
              </a:rPr>
              <a:t>· Next Mission ranked + funded</a:t>
            </a:r>
          </a:p>
        </p:txBody>
      </p:sp>
      <p:sp>
        <p:nvSpPr>
          <p:cNvPr id="36" name="Diamond 35"/>
          <p:cNvSpPr/>
          <p:nvPr/>
        </p:nvSpPr>
        <p:spPr>
          <a:xfrm>
            <a:off x="552450" y="4419600"/>
            <a:ext cx="152400" cy="152400"/>
          </a:xfrm>
          <a:prstGeom prst="diamond">
            <a:avLst/>
          </a:prstGeom>
          <a:solidFill>
            <a:srgbClr val="3367FF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1050" y="4400550"/>
            <a:ext cx="3429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3367FF"/>
                </a:solidFill>
                <a:latin typeface="Libre Franklin"/>
              </a:rPr>
              <a:t>G1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4900" y="4400550"/>
            <a:ext cx="48196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Sponsor signs the wedge SoW, inside their own delegated authority.</a:t>
            </a:r>
          </a:p>
        </p:txBody>
      </p:sp>
      <p:sp>
        <p:nvSpPr>
          <p:cNvPr id="39" name="Diamond 38"/>
          <p:cNvSpPr/>
          <p:nvPr/>
        </p:nvSpPr>
        <p:spPr>
          <a:xfrm>
            <a:off x="6248400" y="4419600"/>
            <a:ext cx="152400" cy="152400"/>
          </a:xfrm>
          <a:prstGeom prst="diamond">
            <a:avLst/>
          </a:prstGeom>
          <a:solidFill>
            <a:srgbClr val="3367FF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77000" y="4400550"/>
            <a:ext cx="3429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3367FF"/>
                </a:solidFill>
                <a:latin typeface="Libre Franklin"/>
              </a:rPr>
              <a:t>G2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00850" y="4400550"/>
            <a:ext cx="48196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ExCo funds Mission #1; the wedge fee credits into the POC.</a:t>
            </a:r>
          </a:p>
        </p:txBody>
      </p:sp>
      <p:sp>
        <p:nvSpPr>
          <p:cNvPr id="42" name="Diamond 41"/>
          <p:cNvSpPr/>
          <p:nvPr/>
        </p:nvSpPr>
        <p:spPr>
          <a:xfrm>
            <a:off x="552450" y="4914900"/>
            <a:ext cx="152400" cy="152400"/>
          </a:xfrm>
          <a:prstGeom prst="diamond">
            <a:avLst/>
          </a:prstGeom>
          <a:solidFill>
            <a:srgbClr val="3367FF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1050" y="4895850"/>
            <a:ext cx="3429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3367FF"/>
                </a:solidFill>
                <a:latin typeface="Libre Franklin"/>
              </a:rPr>
              <a:t>G3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04900" y="4895850"/>
            <a:ext cx="48196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Measured value meets the case; the licence conversation opens.</a:t>
            </a:r>
          </a:p>
        </p:txBody>
      </p:sp>
      <p:sp>
        <p:nvSpPr>
          <p:cNvPr id="45" name="Diamond 44"/>
          <p:cNvSpPr/>
          <p:nvPr/>
        </p:nvSpPr>
        <p:spPr>
          <a:xfrm>
            <a:off x="6248400" y="4914900"/>
            <a:ext cx="152400" cy="152400"/>
          </a:xfrm>
          <a:prstGeom prst="diamond">
            <a:avLst/>
          </a:prstGeom>
          <a:solidFill>
            <a:srgbClr val="3367FF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77000" y="4895850"/>
            <a:ext cx="3429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3367FF"/>
                </a:solidFill>
                <a:latin typeface="Libre Franklin"/>
              </a:rPr>
              <a:t>G4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00850" y="4895850"/>
            <a:ext cx="48196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The next domain is funded; the loop repeats on the same Banking OS.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2425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242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3957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5100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6225" y="200025"/>
            <a:ext cx="76200" cy="1524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025" y="276225"/>
            <a:ext cx="76200" cy="762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350" y="514350"/>
            <a:ext cx="8572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3367FF"/>
                </a:solidFill>
                <a:latin typeface="Libre Franklin"/>
              </a:rPr>
              <a:t>FRAMEWORKS · RESOURCING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781050"/>
            <a:ext cx="102870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A pod of two and a half people runs the whole line; hiring follows revenue.</a:t>
            </a:r>
          </a:p>
        </p:txBody>
      </p:sp>
      <p:pic>
        <p:nvPicPr>
          <p:cNvPr id="10" name="Picture 9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2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6B7786"/>
                </a:solidFill>
                <a:latin typeface="Libre Franklin"/>
              </a:rPr>
              <a:t>1</a:t>
            </a:fld>
          </a:p>
        </p:txBody>
      </p:sp>
      <p:sp>
        <p:nvSpPr>
          <p:cNvPr id="12" name="Rectangle 11"/>
          <p:cNvSpPr/>
          <p:nvPr/>
        </p:nvSpPr>
        <p:spPr>
          <a:xfrm>
            <a:off x="514350" y="6172200"/>
            <a:ext cx="111633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" y="6238875"/>
            <a:ext cx="111633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FTE figures are steady-state allocations during build and delivery phases; FDE capacity is drawn from standard Mission Sprint staffing at install, so it is charged to the delivery, and not to this pod.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350" y="2057400"/>
            <a:ext cx="5334000" cy="762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4350" y="2133600"/>
            <a:ext cx="38100" cy="6096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850" y="2171700"/>
            <a:ext cx="4991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You · product owner · 1.0 FTE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850" y="2438400"/>
            <a:ext cx="49911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SKU design, value narrative, proof economics, proposal. Owns the P&amp;L of the line.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4350" y="2933700"/>
            <a:ext cx="5334000" cy="762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4350" y="3009900"/>
            <a:ext cx="38100" cy="6096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3048000"/>
            <a:ext cx="4991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Solution engineer · 0.5 FTE, named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850" y="3314700"/>
            <a:ext cx="49911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Connectors, data extraction, Factory tooling at prototype and install. The technical spine.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4350" y="3810000"/>
            <a:ext cx="5334000" cy="762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4350" y="3886200"/>
            <a:ext cx="38100" cy="6096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850" y="3924300"/>
            <a:ext cx="4991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FDE · on demand at install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850" y="4190999"/>
            <a:ext cx="49911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Runs the Factory Mission Sprint once an install is signed. 6-12 weeks per Mission.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4350" y="4686300"/>
            <a:ext cx="5334000" cy="762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4350" y="4762500"/>
            <a:ext cx="38100" cy="6096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4800600"/>
            <a:ext cx="4991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SME · on call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850" y="5067300"/>
            <a:ext cx="49911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Risk and compliance review for Guardrail Studio; R&amp;D liaison for the Cartographer.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1250" y="2057400"/>
            <a:ext cx="5486400" cy="3390900"/>
          </a:xfrm>
          <a:prstGeom prst="roundRect">
            <a:avLst>
              <a:gd name="adj" fmla="val 8000"/>
            </a:avLst>
          </a:prstGeom>
          <a:solidFill>
            <a:srgbClr val="04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77000" y="2305050"/>
            <a:ext cx="49149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69FEFF"/>
                </a:solidFill>
                <a:latin typeface="Libre Franklin"/>
              </a:rPr>
              <a:t>WHY THE SOLUTION ENGINEER MATTERS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7000" y="2609850"/>
            <a:ext cx="4914900" cy="1143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1575" b="1">
                <a:solidFill>
                  <a:srgbClr val="FFFFFF"/>
                </a:solidFill>
                <a:latin typeface="Libre Franklin"/>
              </a:rPr>
              <a:t>One named SE across all four products, so skill compounds.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77000" y="4324350"/>
            <a:ext cx="4914900" cy="99059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0">
                <a:solidFill>
                  <a:srgbClr val="C5CFDE"/>
                </a:solidFill>
                <a:latin typeface="Libre Franklin"/>
              </a:rPr>
              <a:t>Every product runs on the same Factory tools: Connector Studio, Semantic Modeler, Simulation &amp; Testing. Each install makes the next one cheaper and faster to deliver.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2425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242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3957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5100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6225" y="200025"/>
            <a:ext cx="76200" cy="1524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025" y="276225"/>
            <a:ext cx="76200" cy="762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350" y="514350"/>
            <a:ext cx="8572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3367FF"/>
                </a:solidFill>
                <a:latin typeface="Libre Franklin"/>
              </a:rPr>
              <a:t>FRAMEWORKS · THE OBJECTIONS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781050"/>
            <a:ext cx="102870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The three obvious objections have concrete answers.</a:t>
            </a:r>
          </a:p>
        </p:txBody>
      </p:sp>
      <p:pic>
        <p:nvPicPr>
          <p:cNvPr id="10" name="Picture 9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2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6B7786"/>
                </a:solidFill>
                <a:latin typeface="Libre Franklin"/>
              </a:rPr>
              <a:t>1</a:t>
            </a:fld>
          </a:p>
        </p:txBody>
      </p:sp>
      <p:sp>
        <p:nvSpPr>
          <p:cNvPr id="12" name="Rectangle 11"/>
          <p:cNvSpPr/>
          <p:nvPr/>
        </p:nvSpPr>
        <p:spPr>
          <a:xfrm>
            <a:off x="514350" y="6172200"/>
            <a:ext cx="111633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" y="6238875"/>
            <a:ext cx="111633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AIB reference: paid an estimated ~€80K for an external current/future-state assessment (ADS), PDP session record, 29 Jun 2026. Wedge pattern references: AWS OLA, SAP Outside-In, ServiceNow Inspire.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350" y="2114550"/>
            <a:ext cx="4000500" cy="1028700"/>
          </a:xfrm>
          <a:prstGeom prst="roundRect">
            <a:avLst>
              <a:gd name="adj" fmla="val 8000"/>
            </a:avLst>
          </a:prstGeom>
          <a:solidFill>
            <a:srgbClr val="04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2950" y="2286000"/>
            <a:ext cx="3543300" cy="7239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FFFFFF"/>
                </a:solidFill>
                <a:latin typeface="Libre Franklin"/>
              </a:rPr>
              <a:t>“Banks will not pay for discovery.”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05350" y="2114550"/>
            <a:ext cx="6972300" cy="10287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05350" y="2190750"/>
            <a:ext cx="38100" cy="8763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33950" y="2247900"/>
            <a:ext cx="6515100" cy="800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937" b="0">
                <a:solidFill>
                  <a:srgbClr val="041326"/>
                </a:solidFill>
                <a:latin typeface="Libre Franklin"/>
              </a:rPr>
              <a:t>The market already does: AIB paid ~€80K for a weaker assessment. AWS, SAP and ServiceNow all run the diagnostic-wedge motion; ours goes further by installing product.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4350" y="3276600"/>
            <a:ext cx="4000500" cy="1028700"/>
          </a:xfrm>
          <a:prstGeom prst="roundRect">
            <a:avLst>
              <a:gd name="adj" fmla="val 8000"/>
            </a:avLst>
          </a:prstGeom>
          <a:solidFill>
            <a:srgbClr val="04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2950" y="3448050"/>
            <a:ext cx="3543300" cy="7239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FFFFFF"/>
                </a:solidFill>
                <a:latin typeface="Libre Franklin"/>
              </a:rPr>
              <a:t>“We have no capacity to build products.”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05350" y="3276600"/>
            <a:ext cx="6972300" cy="10287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705350" y="3352800"/>
            <a:ext cx="38100" cy="8763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33950" y="3409950"/>
            <a:ext cx="6515100" cy="800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937" b="0">
                <a:solidFill>
                  <a:srgbClr val="041326"/>
                </a:solidFill>
                <a:latin typeface="Libre Franklin"/>
              </a:rPr>
              <a:t>Build effort is 6-12 person-weeks per product because the Factory tools, the APA V3 catalog and the cost model already exist. The sequence builds one product at a time.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4350" y="4438650"/>
            <a:ext cx="4000500" cy="1028700"/>
          </a:xfrm>
          <a:prstGeom prst="roundRect">
            <a:avLst>
              <a:gd name="adj" fmla="val 8000"/>
            </a:avLst>
          </a:prstGeom>
          <a:solidFill>
            <a:srgbClr val="04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2950" y="4610100"/>
            <a:ext cx="3543300" cy="7239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FFFFFF"/>
                </a:solidFill>
                <a:latin typeface="Libre Franklin"/>
              </a:rPr>
              <a:t>“This distracts from platform sales.”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05350" y="4438650"/>
            <a:ext cx="6972300" cy="10287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705350" y="4514850"/>
            <a:ext cx="38100" cy="8763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33950" y="4572000"/>
            <a:ext cx="6515100" cy="800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937" b="0">
                <a:solidFill>
                  <a:srgbClr val="041326"/>
                </a:solidFill>
                <a:latin typeface="Libre Franklin"/>
              </a:rPr>
              <a:t>Every install pre-binds Nexus, Sentinel or a Mission and hands the AE a quantified expansion case. The wedge is the land motion of land-and-expand.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76375"/>
            <a:ext cx="12192000" cy="13334"/>
          </a:xfrm>
          <a:prstGeom prst="rect">
            <a:avLst/>
          </a:prstGeom>
          <a:solidFill>
            <a:srgbClr val="2E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4825" y="0"/>
            <a:ext cx="13334" cy="6858000"/>
          </a:xfrm>
          <a:prstGeom prst="rect">
            <a:avLst/>
          </a:prstGeom>
          <a:solidFill>
            <a:srgbClr val="2E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687175" y="0"/>
            <a:ext cx="13334" cy="6858000"/>
          </a:xfrm>
          <a:prstGeom prst="rect">
            <a:avLst/>
          </a:prstGeom>
          <a:solidFill>
            <a:srgbClr val="2E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4825" y="4448175"/>
            <a:ext cx="11182350" cy="13334"/>
          </a:xfrm>
          <a:prstGeom prst="rect">
            <a:avLst/>
          </a:prstGeom>
          <a:solidFill>
            <a:srgbClr val="2E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8625" y="1323975"/>
            <a:ext cx="76200" cy="152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52425" y="1400175"/>
            <a:ext cx="76200" cy="76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ackbase-wordmark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55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5A6B80"/>
                </a:solidFill>
                <a:latin typeface="Libre Franklin"/>
              </a:rPr>
              <a:t>1</a:t>
            </a:fld>
          </a:p>
        </p:txBody>
      </p:sp>
      <p:sp>
        <p:nvSpPr>
          <p:cNvPr id="10" name="TextBox 9"/>
          <p:cNvSpPr txBox="1"/>
          <p:nvPr/>
        </p:nvSpPr>
        <p:spPr>
          <a:xfrm>
            <a:off x="1019174" y="2019300"/>
            <a:ext cx="6667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69FEFF"/>
                </a:solidFill>
                <a:latin typeface="Libre Franklin"/>
              </a:rPr>
              <a:t>02 · CHAPTER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0125" y="2381250"/>
            <a:ext cx="9525000" cy="76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Libre Franklin"/>
              </a:rPr>
              <a:t>The execution plans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9174" y="3333750"/>
            <a:ext cx="9334500" cy="571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1125" b="0">
                <a:solidFill>
                  <a:srgbClr val="C5CFDE"/>
                </a:solidFill>
                <a:latin typeface="Libre Franklin"/>
              </a:rPr>
              <a:t>Four products and the services flagship: what each does, what its outputs look like, and the plan to market.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2425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242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3957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5100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6225" y="200025"/>
            <a:ext cx="76200" cy="1524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025" y="276225"/>
            <a:ext cx="76200" cy="762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350" y="514350"/>
            <a:ext cx="8572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3367FF"/>
                </a:solidFill>
                <a:latin typeface="Libre Franklin"/>
              </a:rPr>
              <a:t>EXECUTION PLANS · HOW THE FOUR FIT TOGETHER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781050"/>
            <a:ext cx="102870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A bank never buys one layer; it buys a Mission, and every wedge surveys all four lenses.</a:t>
            </a:r>
          </a:p>
        </p:txBody>
      </p:sp>
      <p:pic>
        <p:nvPicPr>
          <p:cNvPr id="10" name="Picture 9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2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6B7786"/>
                </a:solidFill>
                <a:latin typeface="Libre Franklin"/>
              </a:rPr>
              <a:t>1</a:t>
            </a:fld>
          </a:p>
        </p:txBody>
      </p:sp>
      <p:sp>
        <p:nvSpPr>
          <p:cNvPr id="12" name="Rectangle 11"/>
          <p:cNvSpPr/>
          <p:nvPr/>
        </p:nvSpPr>
        <p:spPr>
          <a:xfrm>
            <a:off x="514350" y="6172200"/>
            <a:ext cx="111633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" y="6238875"/>
            <a:ext cx="111633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The entry door follows the account’s live buying trigger. Coverage of all four lenses is standard in every engagement, because a Mission needs truth, guardrails and telemetry at once.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350" y="2057400"/>
            <a:ext cx="5334000" cy="762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4350" y="2133600"/>
            <a:ext cx="38100" cy="6096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850" y="2171700"/>
            <a:ext cx="4991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Ops pain is the trigger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850" y="2438400"/>
            <a:ext cx="49911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Enter via Process X-Ray. Deep: work + leakage. Thin: ontology, guardrails, telemetry.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4350" y="2933700"/>
            <a:ext cx="5334000" cy="762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4350" y="3009900"/>
            <a:ext cx="38100" cy="6096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3048000"/>
            <a:ext cx="4991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Data ambition (RI) is the trigger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850" y="3314700"/>
            <a:ext cx="49911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Enter via Ontology Cartographer. Deep: shared truth. Thin: work, guardrails, telemetry.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4350" y="3810000"/>
            <a:ext cx="5334000" cy="762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4350" y="3886200"/>
            <a:ext cx="38100" cy="6096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850" y="3924300"/>
            <a:ext cx="4991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Risk is blocking 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850" y="4190999"/>
            <a:ext cx="49911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Enter via Guardrail Studio. Deep: authority + policy. Thin: work, ontology, telemetry.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4350" y="4686300"/>
            <a:ext cx="5334000" cy="762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4350" y="4762500"/>
            <a:ext cx="38100" cy="6096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4800600"/>
            <a:ext cx="4991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AI is live, ROI is doubted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850" y="5067300"/>
            <a:ext cx="49911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Enter via Value Telemetry. Deep: measured value. Thin: work, ontology, guardrails.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1250" y="2057400"/>
            <a:ext cx="5486400" cy="3390900"/>
          </a:xfrm>
          <a:prstGeom prst="roundRect">
            <a:avLst>
              <a:gd name="adj" fmla="val 8000"/>
            </a:avLst>
          </a:prstGeom>
          <a:solidFill>
            <a:srgbClr val="04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77000" y="2305050"/>
            <a:ext cx="49149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69FEFF"/>
                </a:solidFill>
                <a:latin typeface="Libre Franklin"/>
              </a:rPr>
              <a:t>ONE DEEP LENS, THREE THIN LENSES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7000" y="2609850"/>
            <a:ext cx="4914900" cy="1143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1575" b="1">
                <a:solidFill>
                  <a:srgbClr val="FFFFFF"/>
                </a:solidFill>
                <a:latin typeface="Libre Franklin"/>
              </a:rPr>
              <a:t>Every engagement ships all four lenses; the wedge sets the depth.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77000" y="4324350"/>
            <a:ext cx="4914900" cy="99059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0">
                <a:solidFill>
                  <a:srgbClr val="C5CFDE"/>
                </a:solidFill>
                <a:latin typeface="Libre Franklin"/>
              </a:rPr>
              <a:t>Each wedge includes an ontology appendix, an authority snapshot and telemetry hooks alongside its deep dive. The account ends every engagement holding a full-stack Banking OS blueprint, at the depth its first Mission needs.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2425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242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3957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5100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6225" y="200025"/>
            <a:ext cx="76200" cy="1524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025" y="276225"/>
            <a:ext cx="76200" cy="762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350" y="514350"/>
            <a:ext cx="8572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3367FF"/>
                </a:solidFill>
                <a:latin typeface="Libre Franklin"/>
              </a:rPr>
              <a:t>EXECUTION PLAN 1 OF 4 · PROCESS X-RAY · WHAT IT 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781050"/>
            <a:ext cx="102870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Process X-Ray reconstructs how work really flows, and prices the leakage in it.</a:t>
            </a:r>
          </a:p>
        </p:txBody>
      </p:sp>
      <p:pic>
        <p:nvPicPr>
          <p:cNvPr id="10" name="Picture 9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2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6B7786"/>
                </a:solidFill>
                <a:latin typeface="Libre Franklin"/>
              </a:rPr>
              <a:t>1</a:t>
            </a:fld>
          </a:p>
        </p:txBody>
      </p:sp>
      <p:sp>
        <p:nvSpPr>
          <p:cNvPr id="12" name="Rectangle 11"/>
          <p:cNvSpPr/>
          <p:nvPr/>
        </p:nvSpPr>
        <p:spPr>
          <a:xfrm>
            <a:off x="514350" y="6172200"/>
            <a:ext cx="111633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" y="6238875"/>
            <a:ext cx="111633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Lite mode exists because prospects rarely grant system access pre-contract: the workshop-and-MI-pack variant trades precision for zero InfoSec friction. Aligned to the value-leakage method in banking-os.md §9.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350" y="1905000"/>
            <a:ext cx="4286250" cy="3048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4350" y="1981199"/>
            <a:ext cx="38100" cy="28956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900" y="2038349"/>
            <a:ext cx="3905249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3367FF"/>
                </a:solidFill>
                <a:latin typeface="Libre Franklin"/>
              </a:rPr>
              <a:t>THE ACTIVITIES, WEEK BY WEEK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900" y="2305050"/>
            <a:ext cx="3905249" cy="2514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Wk 1 · scope 2-3 journeys from the APA matrix; agree access and baselines</a:t>
            </a:r>
          </a:p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Wk 1-2 · inventory every system, interface and handoff per journey (the integration landscape)</a:t>
            </a:r>
          </a:p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Wk 2-4 · extract logs and queue data; shadow the ops floor (6-8 sessions); rebuild actual flows vs designed flows</a:t>
            </a:r>
          </a:p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Wk 4-5 · price the leakage at every step: time × volume × cost, abandonment × revenue</a:t>
            </a:r>
          </a:p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Wk 5-6 · rank Mission candidates; exec readout with the CFO-grade evidence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0" y="1905000"/>
            <a:ext cx="3238500" cy="3048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0" y="1981199"/>
            <a:ext cx="38100" cy="28956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38750" y="2038349"/>
            <a:ext cx="2857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3367FF"/>
                </a:solidFill>
                <a:latin typeface="Libre Franklin"/>
              </a:rPr>
              <a:t>WHAT IT ENTAILS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8750" y="2305050"/>
            <a:ext cx="2857500" cy="2514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Sponsor: COO or head of operations</a:t>
            </a:r>
          </a:p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Bank effort: SME time of ~6-10 hours a week</a:t>
            </a:r>
          </a:p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Access, lite mode: ops MI packs + sampled case files; no InfoSec cycle, prospect-safe</a:t>
            </a:r>
          </a:p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Access, instrumented mode: read-only logs; for existing customers</a:t>
            </a:r>
          </a:p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Pod: VC 1.0 + SE 0.5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96300" y="1905000"/>
            <a:ext cx="3181350" cy="3048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496300" y="1981199"/>
            <a:ext cx="38100" cy="28956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05850" y="2038349"/>
            <a:ext cx="280035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3367FF"/>
                </a:solidFill>
                <a:latin typeface="Libre Franklin"/>
              </a:rPr>
              <a:t>WHAT COMES OUT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05850" y="2305050"/>
            <a:ext cx="2800350" cy="2514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€ p.a. leakage per journey, evidenced</a:t>
            </a:r>
          </a:p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Integration landscape map: systems, interfaces, API readiness per journey</a:t>
            </a:r>
          </a:p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Ranked Mission backlog, top 3, with ROI case each</a:t>
            </a:r>
          </a:p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Thin-lens appendices: ontology snapshot + authority snapshot</a:t>
            </a:r>
          </a:p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The Rung-2 POC proposal, pre-written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4350" y="5143500"/>
            <a:ext cx="11163300" cy="685800"/>
          </a:xfrm>
          <a:prstGeom prst="roundRect">
            <a:avLst>
              <a:gd name="adj" fmla="val 8000"/>
            </a:avLst>
          </a:prstGeom>
          <a:solidFill>
            <a:srgbClr val="E5E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2950" y="5276850"/>
            <a:ext cx="2857500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75" b="1">
                <a:solidFill>
                  <a:srgbClr val="264EC7"/>
                </a:solidFill>
                <a:latin typeface="Libre Franklin"/>
              </a:rPr>
              <a:t>How it adds up.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14750" y="5257800"/>
            <a:ext cx="7734300" cy="4762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041326"/>
                </a:solidFill>
                <a:latin typeface="Libre Franklin"/>
              </a:rPr>
              <a:t>The systems map scopes the Connector Studio work before anyone commits; the heatmap becomes the account’s demand map for every later product and Mission.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2425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242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3957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5100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6225" y="200025"/>
            <a:ext cx="76200" cy="1524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025" y="276225"/>
            <a:ext cx="76200" cy="762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350" y="514350"/>
            <a:ext cx="8572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3367FF"/>
                </a:solidFill>
                <a:latin typeface="Libre Franklin"/>
              </a:rPr>
              <a:t>EXECUTION PLAN 1 OF 4 · PROCESS X-RAY · SAMPLE OUTPUTS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781050"/>
            <a:ext cx="102870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The X-Ray hands the sponsor three artifacts: the heatmap, the systems map, and the Mission card.</a:t>
            </a:r>
          </a:p>
        </p:txBody>
      </p:sp>
      <p:pic>
        <p:nvPicPr>
          <p:cNvPr id="10" name="Picture 9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2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6B7786"/>
                </a:solidFill>
                <a:latin typeface="Libre Franklin"/>
              </a:rPr>
              <a:t>1</a:t>
            </a:fld>
          </a:p>
        </p:txBody>
      </p:sp>
      <p:sp>
        <p:nvSpPr>
          <p:cNvPr id="12" name="Rectangle 11"/>
          <p:cNvSpPr/>
          <p:nvPr/>
        </p:nvSpPr>
        <p:spPr>
          <a:xfrm>
            <a:off x="514350" y="6172200"/>
            <a:ext cx="111633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" y="6238875"/>
            <a:ext cx="111633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Illustrative specimen: every figure on this slide is a placeholder, re-based on the bank’s own data during the engagement.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350" y="1905000"/>
            <a:ext cx="3562350" cy="3143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019300"/>
            <a:ext cx="321945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3367FF"/>
                </a:solidFill>
                <a:latin typeface="Libre Franklin"/>
              </a:rPr>
              <a:t>VALUE-LEAKAGE HEATMAP · € M P.A.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4950" y="2343150"/>
            <a:ext cx="571500" cy="1714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12" b="1">
                <a:solidFill>
                  <a:srgbClr val="6B7786"/>
                </a:solidFill>
                <a:latin typeface="Libre Franklin"/>
              </a:rPr>
              <a:t>Onb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95499" y="2343150"/>
            <a:ext cx="571500" cy="1714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12" b="1">
                <a:solidFill>
                  <a:srgbClr val="6B7786"/>
                </a:solidFill>
                <a:latin typeface="Libre Franklin"/>
              </a:rPr>
              <a:t>Serv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86050" y="2343150"/>
            <a:ext cx="571500" cy="1714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12" b="1">
                <a:solidFill>
                  <a:srgbClr val="6B7786"/>
                </a:solidFill>
                <a:latin typeface="Libre Franklin"/>
              </a:rPr>
              <a:t>Disp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76600" y="2343150"/>
            <a:ext cx="571500" cy="1714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12" b="1">
                <a:solidFill>
                  <a:srgbClr val="6B7786"/>
                </a:solidFill>
                <a:latin typeface="Libre Franklin"/>
              </a:rPr>
              <a:t>Lend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2638425"/>
            <a:ext cx="7620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6B7786"/>
                </a:solidFill>
                <a:latin typeface="Libre Franklin"/>
              </a:rPr>
              <a:t>Retail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504950" y="2552700"/>
            <a:ext cx="571500" cy="361950"/>
          </a:xfrm>
          <a:prstGeom prst="rect">
            <a:avLst/>
          </a:prstGeom>
          <a:solidFill>
            <a:srgbClr val="99B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04950" y="2628900"/>
            <a:ext cx="5715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87" b="1">
                <a:solidFill>
                  <a:srgbClr val="FFFFFF"/>
                </a:solidFill>
                <a:latin typeface="Libre Franklin"/>
              </a:rPr>
              <a:t>0.8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95499" y="2552700"/>
            <a:ext cx="571500" cy="36195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95499" y="2628900"/>
            <a:ext cx="5715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87" b="1">
                <a:solidFill>
                  <a:srgbClr val="FFFFFF"/>
                </a:solidFill>
                <a:latin typeface="Libre Franklin"/>
              </a:rPr>
              <a:t>1.1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86050" y="2552700"/>
            <a:ext cx="571500" cy="361950"/>
          </a:xfrm>
          <a:prstGeom prst="rect">
            <a:avLst/>
          </a:prstGeom>
          <a:solidFill>
            <a:srgbClr val="FF5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86050" y="2628900"/>
            <a:ext cx="5715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87" b="1">
                <a:solidFill>
                  <a:srgbClr val="FFFFFF"/>
                </a:solidFill>
                <a:latin typeface="Libre Franklin"/>
              </a:rPr>
              <a:t>2.4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76600" y="2552700"/>
            <a:ext cx="571500" cy="361950"/>
          </a:xfrm>
          <a:prstGeom prst="rect">
            <a:avLst/>
          </a:prstGeom>
          <a:solidFill>
            <a:srgbClr val="264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76600" y="2628900"/>
            <a:ext cx="5715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87" b="1">
                <a:solidFill>
                  <a:srgbClr val="FFFFFF"/>
                </a:solidFill>
                <a:latin typeface="Libre Franklin"/>
              </a:rPr>
              <a:t>1.6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3028950"/>
            <a:ext cx="7620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6B7786"/>
                </a:solidFill>
                <a:latin typeface="Libre Franklin"/>
              </a:rPr>
              <a:t>SME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04950" y="2943225"/>
            <a:ext cx="571500" cy="361950"/>
          </a:xfrm>
          <a:prstGeom prst="rect">
            <a:avLst/>
          </a:prstGeom>
          <a:solidFill>
            <a:srgbClr val="CC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504950" y="3019425"/>
            <a:ext cx="5715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87" b="1">
                <a:solidFill>
                  <a:srgbClr val="041326"/>
                </a:solidFill>
                <a:latin typeface="Libre Franklin"/>
              </a:rPr>
              <a:t>0.5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095499" y="2943225"/>
            <a:ext cx="571500" cy="36195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95499" y="3019425"/>
            <a:ext cx="5715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87" b="1">
                <a:solidFill>
                  <a:srgbClr val="FFFFFF"/>
                </a:solidFill>
                <a:latin typeface="Libre Franklin"/>
              </a:rPr>
              <a:t>0.9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686050" y="2943225"/>
            <a:ext cx="571500" cy="36195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86050" y="3019425"/>
            <a:ext cx="5715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87" b="1">
                <a:solidFill>
                  <a:srgbClr val="FFFFFF"/>
                </a:solidFill>
                <a:latin typeface="Libre Franklin"/>
              </a:rPr>
              <a:t>1.2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76600" y="2943225"/>
            <a:ext cx="571500" cy="361950"/>
          </a:xfrm>
          <a:prstGeom prst="rect">
            <a:avLst/>
          </a:prstGeom>
          <a:solidFill>
            <a:srgbClr val="264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76600" y="3019425"/>
            <a:ext cx="5715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87" b="1">
                <a:solidFill>
                  <a:srgbClr val="FFFFFF"/>
                </a:solidFill>
                <a:latin typeface="Libre Franklin"/>
              </a:rPr>
              <a:t>1.4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3419475"/>
            <a:ext cx="7620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6B7786"/>
                </a:solidFill>
                <a:latin typeface="Libre Franklin"/>
              </a:rPr>
              <a:t>Comm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504950" y="3333750"/>
            <a:ext cx="571500" cy="361950"/>
          </a:xfrm>
          <a:prstGeom prst="rect">
            <a:avLst/>
          </a:prstGeom>
          <a:solidFill>
            <a:srgbClr val="CC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504950" y="3409950"/>
            <a:ext cx="5715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87" b="1">
                <a:solidFill>
                  <a:srgbClr val="041326"/>
                </a:solidFill>
                <a:latin typeface="Libre Franklin"/>
              </a:rPr>
              <a:t>0.3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095499" y="3333750"/>
            <a:ext cx="571500" cy="361950"/>
          </a:xfrm>
          <a:prstGeom prst="rect">
            <a:avLst/>
          </a:prstGeom>
          <a:solidFill>
            <a:srgbClr val="99B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095499" y="3409950"/>
            <a:ext cx="5715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87" b="1">
                <a:solidFill>
                  <a:srgbClr val="FFFFFF"/>
                </a:solidFill>
                <a:latin typeface="Libre Franklin"/>
              </a:rPr>
              <a:t>0.6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686050" y="3333750"/>
            <a:ext cx="571500" cy="361950"/>
          </a:xfrm>
          <a:prstGeom prst="rect">
            <a:avLst/>
          </a:prstGeom>
          <a:solidFill>
            <a:srgbClr val="99B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686050" y="3409950"/>
            <a:ext cx="5715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87" b="1">
                <a:solidFill>
                  <a:srgbClr val="FFFFFF"/>
                </a:solidFill>
                <a:latin typeface="Libre Franklin"/>
              </a:rPr>
              <a:t>0.8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76600" y="3333750"/>
            <a:ext cx="571500" cy="36195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76600" y="3409950"/>
            <a:ext cx="5715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87" b="1">
                <a:solidFill>
                  <a:srgbClr val="FFFFFF"/>
                </a:solidFill>
                <a:latin typeface="Libre Franklin"/>
              </a:rPr>
              <a:t>1.1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3905249"/>
            <a:ext cx="3219450" cy="571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787" b="0">
                <a:solidFill>
                  <a:srgbClr val="2A384A"/>
                </a:solidFill>
                <a:latin typeface="Libre Franklin"/>
              </a:rPr>
              <a:t>Disputes · Retail leads: €2.4M p.a. across 41% manual touches and a 9.2-day cycle.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4610100"/>
            <a:ext cx="321945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3367FF"/>
                </a:solidFill>
                <a:latin typeface="Libre Franklin"/>
              </a:rPr>
              <a:t>→ picks the domain the Mission starts in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314825" y="1905000"/>
            <a:ext cx="3562350" cy="3143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486275" y="2019300"/>
            <a:ext cx="321945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3367FF"/>
                </a:solidFill>
                <a:latin typeface="Libre Franklin"/>
              </a:rPr>
              <a:t>INTEGRATION LANDSCAPE · CARD DISPUTE JOURNEY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486275" y="2343150"/>
            <a:ext cx="1524000" cy="43815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81525" y="2390775"/>
            <a:ext cx="13716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041326"/>
                </a:solidFill>
                <a:latin typeface="Libre Franklin"/>
              </a:rPr>
              <a:t>Core (T24)</a:t>
            </a:r>
          </a:p>
        </p:txBody>
      </p:sp>
      <p:sp>
        <p:nvSpPr>
          <p:cNvPr id="53" name="Oval 52"/>
          <p:cNvSpPr/>
          <p:nvPr/>
        </p:nvSpPr>
        <p:spPr>
          <a:xfrm>
            <a:off x="4600575" y="2619375"/>
            <a:ext cx="76200" cy="76200"/>
          </a:xfrm>
          <a:prstGeom prst="ellipse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733925" y="2581275"/>
            <a:ext cx="1143000" cy="1714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675" b="0">
                <a:solidFill>
                  <a:srgbClr val="6B7786"/>
                </a:solidFill>
                <a:latin typeface="Libre Franklin"/>
              </a:rPr>
              <a:t>API interface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124575" y="2343150"/>
            <a:ext cx="1524000" cy="43815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19825" y="2390775"/>
            <a:ext cx="13716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041326"/>
                </a:solidFill>
                <a:latin typeface="Libre Franklin"/>
              </a:rPr>
              <a:t>CRM (SFDC)</a:t>
            </a:r>
          </a:p>
        </p:txBody>
      </p:sp>
      <p:sp>
        <p:nvSpPr>
          <p:cNvPr id="57" name="Oval 56"/>
          <p:cNvSpPr/>
          <p:nvPr/>
        </p:nvSpPr>
        <p:spPr>
          <a:xfrm>
            <a:off x="6238875" y="2619375"/>
            <a:ext cx="76200" cy="76200"/>
          </a:xfrm>
          <a:prstGeom prst="ellipse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372225" y="2581275"/>
            <a:ext cx="1143000" cy="1714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675" b="0">
                <a:solidFill>
                  <a:srgbClr val="6B7786"/>
                </a:solidFill>
                <a:latin typeface="Libre Franklin"/>
              </a:rPr>
              <a:t>API interface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486275" y="2876550"/>
            <a:ext cx="1524000" cy="43815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581525" y="2924175"/>
            <a:ext cx="13716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041326"/>
                </a:solidFill>
                <a:latin typeface="Libre Franklin"/>
              </a:rPr>
              <a:t>Fraud (Falcon)</a:t>
            </a:r>
          </a:p>
        </p:txBody>
      </p:sp>
      <p:sp>
        <p:nvSpPr>
          <p:cNvPr id="61" name="Oval 60"/>
          <p:cNvSpPr/>
          <p:nvPr/>
        </p:nvSpPr>
        <p:spPr>
          <a:xfrm>
            <a:off x="4600575" y="3152775"/>
            <a:ext cx="76200" cy="76200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733925" y="3114675"/>
            <a:ext cx="1143000" cy="1714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675" b="0">
                <a:solidFill>
                  <a:srgbClr val="6B7786"/>
                </a:solidFill>
                <a:latin typeface="Libre Franklin"/>
              </a:rPr>
              <a:t>file interface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124575" y="2876550"/>
            <a:ext cx="1524000" cy="43815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219825" y="2924175"/>
            <a:ext cx="13716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041326"/>
                </a:solidFill>
                <a:latin typeface="Libre Franklin"/>
              </a:rPr>
              <a:t>Cases (Pega)</a:t>
            </a:r>
          </a:p>
        </p:txBody>
      </p:sp>
      <p:sp>
        <p:nvSpPr>
          <p:cNvPr id="65" name="Oval 64"/>
          <p:cNvSpPr/>
          <p:nvPr/>
        </p:nvSpPr>
        <p:spPr>
          <a:xfrm>
            <a:off x="6238875" y="3152775"/>
            <a:ext cx="76200" cy="76200"/>
          </a:xfrm>
          <a:prstGeom prst="ellipse">
            <a:avLst/>
          </a:prstGeom>
          <a:solidFill>
            <a:srgbClr val="FF5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72225" y="3114675"/>
            <a:ext cx="1143000" cy="1714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675" b="0">
                <a:solidFill>
                  <a:srgbClr val="6B7786"/>
                </a:solidFill>
                <a:latin typeface="Libre Franklin"/>
              </a:rPr>
              <a:t>manual interface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486275" y="3409950"/>
            <a:ext cx="1524000" cy="43815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81525" y="3457575"/>
            <a:ext cx="13716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041326"/>
                </a:solidFill>
                <a:latin typeface="Libre Franklin"/>
              </a:rPr>
              <a:t>Mail (O365)</a:t>
            </a:r>
          </a:p>
        </p:txBody>
      </p:sp>
      <p:sp>
        <p:nvSpPr>
          <p:cNvPr id="69" name="Oval 68"/>
          <p:cNvSpPr/>
          <p:nvPr/>
        </p:nvSpPr>
        <p:spPr>
          <a:xfrm>
            <a:off x="4600575" y="3686175"/>
            <a:ext cx="76200" cy="76200"/>
          </a:xfrm>
          <a:prstGeom prst="ellipse">
            <a:avLst/>
          </a:prstGeom>
          <a:solidFill>
            <a:srgbClr val="FF5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733925" y="3648075"/>
            <a:ext cx="1143000" cy="1714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675" b="0">
                <a:solidFill>
                  <a:srgbClr val="6B7786"/>
                </a:solidFill>
                <a:latin typeface="Libre Franklin"/>
              </a:rPr>
              <a:t>manual interface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124575" y="3409950"/>
            <a:ext cx="1524000" cy="43815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219825" y="3457575"/>
            <a:ext cx="13716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041326"/>
                </a:solidFill>
                <a:latin typeface="Libre Franklin"/>
              </a:rPr>
              <a:t>Pay hub</a:t>
            </a:r>
          </a:p>
        </p:txBody>
      </p:sp>
      <p:sp>
        <p:nvSpPr>
          <p:cNvPr id="73" name="Oval 72"/>
          <p:cNvSpPr/>
          <p:nvPr/>
        </p:nvSpPr>
        <p:spPr>
          <a:xfrm>
            <a:off x="6238875" y="3686175"/>
            <a:ext cx="76200" cy="76200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72225" y="3648075"/>
            <a:ext cx="1143000" cy="1714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675" b="0">
                <a:solidFill>
                  <a:srgbClr val="6B7786"/>
                </a:solidFill>
                <a:latin typeface="Libre Franklin"/>
              </a:rPr>
              <a:t>file interface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486275" y="4038600"/>
            <a:ext cx="32194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787" b="0">
                <a:solidFill>
                  <a:srgbClr val="2A384A"/>
                </a:solidFill>
                <a:latin typeface="Libre Franklin"/>
              </a:rPr>
              <a:t>8 systems (+2 not shown) · 3 manual swivels · 2 API-ready · 4 to build via Connector Studio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486275" y="4610100"/>
            <a:ext cx="321945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3367FF"/>
                </a:solidFill>
                <a:latin typeface="Libre Franklin"/>
              </a:rPr>
              <a:t>→ scopes the integration work before commitment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115300" y="1905000"/>
            <a:ext cx="3562350" cy="3143250"/>
          </a:xfrm>
          <a:prstGeom prst="roundRect">
            <a:avLst>
              <a:gd name="adj" fmla="val 8000"/>
            </a:avLst>
          </a:prstGeom>
          <a:solidFill>
            <a:srgbClr val="04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286750" y="2038349"/>
            <a:ext cx="32385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69FEFF"/>
                </a:solidFill>
                <a:latin typeface="Libre Franklin"/>
              </a:rPr>
              <a:t>MISSION CANDIDATE #1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86750" y="2286000"/>
            <a:ext cx="3238500" cy="49529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Libre Franklin"/>
              </a:rPr>
              <a:t>Card dispute resolution loop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86750" y="2857500"/>
            <a:ext cx="32385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862" b="0">
                <a:solidFill>
                  <a:srgbClr val="C5CFDE"/>
                </a:solidFill>
                <a:latin typeface="Libre Franklin"/>
              </a:rPr>
              <a:t>· Value: €1.9M p.a., evidenced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86750" y="3143250"/>
            <a:ext cx="32385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862" b="0">
                <a:solidFill>
                  <a:srgbClr val="C5CFDE"/>
                </a:solidFill>
                <a:latin typeface="Libre Franklin"/>
              </a:rPr>
              <a:t>· Autonomy target: A4, execute by exception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86750" y="3429000"/>
            <a:ext cx="32385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862" b="0">
                <a:solidFill>
                  <a:srgbClr val="C5CFDE"/>
                </a:solidFill>
                <a:latin typeface="Libre Franklin"/>
              </a:rPr>
              <a:t>· Feasibility: high · 12 integration points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86750" y="3714750"/>
            <a:ext cx="32385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862" b="0">
                <a:solidFill>
                  <a:srgbClr val="C5CFDE"/>
                </a:solidFill>
                <a:latin typeface="Libre Franklin"/>
              </a:rPr>
              <a:t>· 8 live via APIs, 4 built in the Sprint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286750" y="4000500"/>
            <a:ext cx="32385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862" b="0">
                <a:solidFill>
                  <a:srgbClr val="C5CFDE"/>
                </a:solidFill>
                <a:latin typeface="Libre Franklin"/>
              </a:rPr>
              <a:t>· Mission length: 8 weeks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86750" y="4667250"/>
            <a:ext cx="3238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69FEFF"/>
                </a:solidFill>
                <a:latin typeface="Libre Franklin"/>
              </a:rPr>
              <a:t>→ becomes the Rung-2 POC scope, fee credited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2425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242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3957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5100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6225" y="200025"/>
            <a:ext cx="76200" cy="1524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025" y="276225"/>
            <a:ext cx="76200" cy="762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350" y="514350"/>
            <a:ext cx="8572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3367FF"/>
                </a:solidFill>
                <a:latin typeface="Libre Franklin"/>
              </a:rPr>
              <a:t>EXECUTION PLAN 1 OF 4 · PROCESS X-RAY · THE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781050"/>
            <a:ext cx="102870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Process X-Ray ships first: demo by October, paid proof by December, first revenue in January.</a:t>
            </a:r>
          </a:p>
        </p:txBody>
      </p:sp>
      <p:pic>
        <p:nvPicPr>
          <p:cNvPr id="10" name="Picture 9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2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6B7786"/>
                </a:solidFill>
                <a:latin typeface="Libre Franklin"/>
              </a:rPr>
              <a:t>1</a:t>
            </a:fld>
          </a:p>
        </p:txBody>
      </p:sp>
      <p:sp>
        <p:nvSpPr>
          <p:cNvPr id="12" name="Rectangle 11"/>
          <p:cNvSpPr/>
          <p:nvPr/>
        </p:nvSpPr>
        <p:spPr>
          <a:xfrm>
            <a:off x="514350" y="6172200"/>
            <a:ext cx="111633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" y="6238875"/>
            <a:ext cx="111633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Effort carries a ±30% tolerance. Build is low-risk because the APA V3 catalog (65 processes, 283 steps), the journey builder and the value-leakage method already exist in the repo.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09750" y="2762250"/>
            <a:ext cx="8572500" cy="22859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733550" y="2695575"/>
            <a:ext cx="152400" cy="152400"/>
          </a:xfrm>
          <a:prstGeom prst="ellipse">
            <a:avLst/>
          </a:prstGeom>
          <a:solidFill>
            <a:srgbClr val="3367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7250" y="238125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Aug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250" y="300990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Design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250" y="327660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Delivery kit, pricing one-pager, demo script. 3 pw, VC.</a:t>
            </a:r>
          </a:p>
        </p:txBody>
      </p:sp>
      <p:sp>
        <p:nvSpPr>
          <p:cNvPr id="19" name="Oval 18"/>
          <p:cNvSpPr/>
          <p:nvPr/>
        </p:nvSpPr>
        <p:spPr>
          <a:xfrm>
            <a:off x="3876674" y="2695575"/>
            <a:ext cx="152400" cy="152400"/>
          </a:xfrm>
          <a:prstGeom prst="ellipse">
            <a:avLst/>
          </a:prstGeom>
          <a:solidFill>
            <a:srgbClr val="3367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00375" y="238125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Sep-Oct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00375" y="300990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Prototype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00375" y="327660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Demo on the APA V3 catalog (65 processes) plus one friendly dataset. 5 pw, SE-led.</a:t>
            </a:r>
          </a:p>
        </p:txBody>
      </p:sp>
      <p:sp>
        <p:nvSpPr>
          <p:cNvPr id="23" name="Diamond 22"/>
          <p:cNvSpPr/>
          <p:nvPr/>
        </p:nvSpPr>
        <p:spPr>
          <a:xfrm>
            <a:off x="5991225" y="2667000"/>
            <a:ext cx="209550" cy="209550"/>
          </a:xfrm>
          <a:prstGeom prst="diamond">
            <a:avLst/>
          </a:prstGeom>
          <a:solidFill>
            <a:srgbClr val="FF503C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43500" y="238125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Oct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43500" y="300990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Pilot 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43500" y="327660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Prospect pilot green-light with Mayur. AIB-profile account.</a:t>
            </a:r>
          </a:p>
        </p:txBody>
      </p:sp>
      <p:sp>
        <p:nvSpPr>
          <p:cNvPr id="27" name="Oval 26"/>
          <p:cNvSpPr/>
          <p:nvPr/>
        </p:nvSpPr>
        <p:spPr>
          <a:xfrm>
            <a:off x="8162925" y="2695575"/>
            <a:ext cx="152400" cy="152400"/>
          </a:xfrm>
          <a:prstGeom prst="ellipse">
            <a:avLst/>
          </a:prstGeom>
          <a:solidFill>
            <a:srgbClr val="3367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86625" y="238125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Oct-Dec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6625" y="300990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Proof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86625" y="327660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Paid pilot: leakage heatmap, top-3 Mission candidates with ROI evidence. 6 pw.</a:t>
            </a:r>
          </a:p>
        </p:txBody>
      </p:sp>
      <p:sp>
        <p:nvSpPr>
          <p:cNvPr id="31" name="Diamond 30"/>
          <p:cNvSpPr/>
          <p:nvPr/>
        </p:nvSpPr>
        <p:spPr>
          <a:xfrm>
            <a:off x="10277475" y="2667000"/>
            <a:ext cx="209550" cy="209550"/>
          </a:xfrm>
          <a:prstGeom prst="diamond">
            <a:avLst/>
          </a:prstGeom>
          <a:solidFill>
            <a:srgbClr val="3367FF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29750" y="238125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Jan 2027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29750" y="300990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First signature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9750" y="327660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Wedge sold at €50-75K; install starts as a Factory Mission Sprint.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14350" y="4400550"/>
            <a:ext cx="11163300" cy="914400"/>
          </a:xfrm>
          <a:prstGeom prst="roundRect">
            <a:avLst>
              <a:gd name="adj" fmla="val 8000"/>
            </a:avLst>
          </a:prstGeom>
          <a:solidFill>
            <a:srgbClr val="04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1050" y="4552950"/>
            <a:ext cx="2409825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69FEFF"/>
                </a:solidFill>
                <a:latin typeface="Libre Franklin"/>
              </a:rPr>
              <a:t>BUILD EFFORT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1050" y="4800600"/>
            <a:ext cx="2409825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087" b="1">
                <a:solidFill>
                  <a:srgbClr val="FFFFFF"/>
                </a:solidFill>
                <a:latin typeface="Libre Franklin"/>
              </a:rPr>
              <a:t>8-10 person-wks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71875" y="4552950"/>
            <a:ext cx="2409825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69FEFF"/>
                </a:solidFill>
                <a:latin typeface="Libre Franklin"/>
              </a:rPr>
              <a:t>DELIVERY PER INSTALL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71875" y="4800600"/>
            <a:ext cx="2409825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087" b="1">
                <a:solidFill>
                  <a:srgbClr val="FFFFFF"/>
                </a:solidFill>
                <a:latin typeface="Libre Franklin"/>
              </a:rPr>
              <a:t>4-6 wks · 12-14 pw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2700" y="4552950"/>
            <a:ext cx="2409825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69FEFF"/>
                </a:solidFill>
                <a:latin typeface="Libre Franklin"/>
              </a:rPr>
              <a:t>POD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2700" y="4800600"/>
            <a:ext cx="2409825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087" b="1">
                <a:solidFill>
                  <a:srgbClr val="FFFFFF"/>
                </a:solidFill>
                <a:latin typeface="Libre Franklin"/>
              </a:rPr>
              <a:t>VC 1.0 + SE 0.5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53525" y="4552950"/>
            <a:ext cx="2409825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69FEFF"/>
                </a:solidFill>
                <a:latin typeface="Libre Franklin"/>
              </a:rPr>
              <a:t>PRE-BINDS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53525" y="4800600"/>
            <a:ext cx="2409825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087" b="1">
                <a:solidFill>
                  <a:srgbClr val="FFFFFF"/>
                </a:solidFill>
                <a:latin typeface="Libre Franklin"/>
              </a:rPr>
              <a:t>Mission candidate + ROI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2425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242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3957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5100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6225" y="200025"/>
            <a:ext cx="76200" cy="1524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025" y="276225"/>
            <a:ext cx="76200" cy="762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350" y="514350"/>
            <a:ext cx="8572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3367FF"/>
                </a:solidFill>
                <a:latin typeface="Libre Franklin"/>
              </a:rPr>
              <a:t>EXECUTION PLAN 2 OF 4 · ONTOLOGY CARTOGRAPHER · WHAT IT 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781050"/>
            <a:ext cx="102870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The Cartographer maps scattered data to one shared truth, and prices the gap.</a:t>
            </a:r>
          </a:p>
        </p:txBody>
      </p:sp>
      <p:pic>
        <p:nvPicPr>
          <p:cNvPr id="10" name="Picture 9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2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6B7786"/>
                </a:solidFill>
                <a:latin typeface="Libre Franklin"/>
              </a:rPr>
              <a:t>1</a:t>
            </a:fld>
          </a:p>
        </p:txBody>
      </p:sp>
      <p:sp>
        <p:nvSpPr>
          <p:cNvPr id="12" name="Rectangle 11"/>
          <p:cNvSpPr/>
          <p:nvPr/>
        </p:nvSpPr>
        <p:spPr>
          <a:xfrm>
            <a:off x="514350" y="6172200"/>
            <a:ext cx="111633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" y="6238875"/>
            <a:ext cx="111633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Metadata-only access is the buying-criteria answer: no customer data leaves the bank, so the InfoSec review stays at the schema level. Nexus is the system of truth, never the system of record.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350" y="1905000"/>
            <a:ext cx="4286250" cy="3048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4350" y="1981199"/>
            <a:ext cx="38100" cy="28956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900" y="2038349"/>
            <a:ext cx="3905249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3367FF"/>
                </a:solidFill>
                <a:latin typeface="Libre Franklin"/>
              </a:rPr>
              <a:t>THE ACTIVITIES, WEEK BY WEEK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900" y="2305050"/>
            <a:ext cx="3905249" cy="2514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Wk 1-2 · inventory the data landscape: core, CRM, LMS, credit, workflow</a:t>
            </a:r>
          </a:p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Wk 1-2 · harvest schemas and data dictionaries (metadata only)</a:t>
            </a:r>
          </a:p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Wk 3-5 · map entities to the banking ontology; surface overlaps and conflicts</a:t>
            </a:r>
          </a:p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Wk 5-7 · score truth-gaps per entity; price them in ops time and error cost</a:t>
            </a:r>
          </a:p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Wk 7-8 · phased Nexus binding blueprint with a precise entity scope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0" y="1905000"/>
            <a:ext cx="3238500" cy="3048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0" y="1981199"/>
            <a:ext cx="38100" cy="28956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38750" y="2038349"/>
            <a:ext cx="2857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3367FF"/>
                </a:solidFill>
                <a:latin typeface="Libre Franklin"/>
              </a:rPr>
              <a:t>WHAT IT ENTAILS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8750" y="2305050"/>
            <a:ext cx="2857500" cy="2514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Sponsor: CDO or CIO</a:t>
            </a:r>
          </a:p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Bank effort: data stewards 4-6 hours a week</a:t>
            </a:r>
          </a:p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Access: schema-level metadata; customer data never leaves the bank, which keeps InfoSec light</a:t>
            </a:r>
          </a:p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R&amp;D liaison: Semantic Modeler and Nexus teams</a:t>
            </a:r>
          </a:p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Pod: SE 1.0 + VC 0.5 (SE-led)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96300" y="1905000"/>
            <a:ext cx="3181350" cy="3048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496300" y="1981199"/>
            <a:ext cx="38100" cy="28956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05850" y="2038349"/>
            <a:ext cx="280035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3367FF"/>
                </a:solidFill>
                <a:latin typeface="Libre Franklin"/>
              </a:rPr>
              <a:t>WHAT COMES OUT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05850" y="2305050"/>
            <a:ext cx="2800350" cy="2514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Ontology coverage map, entity by entity</a:t>
            </a:r>
          </a:p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Truth-gap report, priced in ops time</a:t>
            </a:r>
          </a:p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Data-source integration inventory</a:t>
            </a:r>
          </a:p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Phased Nexus blueprint: what binds first, and why</a:t>
            </a:r>
          </a:p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Thin-lens appendices: leakage + authority snapshots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4350" y="5143500"/>
            <a:ext cx="11163300" cy="685800"/>
          </a:xfrm>
          <a:prstGeom prst="roundRect">
            <a:avLst>
              <a:gd name="adj" fmla="val 8000"/>
            </a:avLst>
          </a:prstGeom>
          <a:solidFill>
            <a:srgbClr val="E5E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2950" y="5276850"/>
            <a:ext cx="2857500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75" b="1">
                <a:solidFill>
                  <a:srgbClr val="264EC7"/>
                </a:solidFill>
                <a:latin typeface="Libre Franklin"/>
              </a:rPr>
              <a:t>How it adds up.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14750" y="5257800"/>
            <a:ext cx="7734300" cy="4762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041326"/>
                </a:solidFill>
                <a:latin typeface="Libre Franklin"/>
              </a:rPr>
              <a:t>Shared truth is the precondition for Relationship Intelligence and any A4-plus Mission, which is why every other wedge carries an ontology appendix; this SKU takes the same lens to build depth.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2425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242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3957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5100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6225" y="200025"/>
            <a:ext cx="76200" cy="1524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025" y="276225"/>
            <a:ext cx="76200" cy="762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350" y="514350"/>
            <a:ext cx="8572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3367FF"/>
                </a:solidFill>
                <a:latin typeface="Libre Franklin"/>
              </a:rPr>
              <a:t>EXECUTION PLAN 2 OF 4 · ONTOLOGY CARTOGRAPHER · SAMPLE OUTPUTS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781050"/>
            <a:ext cx="102870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The Cartographer shows the bank where its truth fragments, and what binding it first is worth.</a:t>
            </a:r>
          </a:p>
        </p:txBody>
      </p:sp>
      <p:pic>
        <p:nvPicPr>
          <p:cNvPr id="10" name="Picture 9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2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6B7786"/>
                </a:solidFill>
                <a:latin typeface="Libre Franklin"/>
              </a:rPr>
              <a:t>1</a:t>
            </a:fld>
          </a:p>
        </p:txBody>
      </p:sp>
      <p:sp>
        <p:nvSpPr>
          <p:cNvPr id="12" name="Rectangle 11"/>
          <p:cNvSpPr/>
          <p:nvPr/>
        </p:nvSpPr>
        <p:spPr>
          <a:xfrm>
            <a:off x="514350" y="6172200"/>
            <a:ext cx="111633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" y="6238875"/>
            <a:ext cx="111633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Illustrative specimen: every figure on this slide is a placeholder, re-based on the bank’s own data during the engagement.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350" y="1905000"/>
            <a:ext cx="3562350" cy="3143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019300"/>
            <a:ext cx="321945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3367FF"/>
                </a:solidFill>
                <a:latin typeface="Libre Franklin"/>
              </a:rPr>
              <a:t>ONTOLOGY COVERAGE MAP · BY ENTITY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2343150"/>
            <a:ext cx="1524000" cy="495299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2400300"/>
            <a:ext cx="38100" cy="381000"/>
          </a:xfrm>
          <a:prstGeom prst="rect">
            <a:avLst/>
          </a:prstGeom>
          <a:solidFill>
            <a:srgbClr val="FF5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9150" y="2400300"/>
            <a:ext cx="13335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25" b="1">
                <a:solidFill>
                  <a:srgbClr val="041326"/>
                </a:solidFill>
                <a:latin typeface="Libre Franklin"/>
              </a:rPr>
              <a:t>Customer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150" y="2600325"/>
            <a:ext cx="13335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675" b="0">
                <a:solidFill>
                  <a:srgbClr val="6B7786"/>
                </a:solidFill>
                <a:latin typeface="Libre Franklin"/>
              </a:rPr>
              <a:t>6 sources · 4 conflicts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324100" y="2343150"/>
            <a:ext cx="1524000" cy="495299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324100" y="2400300"/>
            <a:ext cx="38100" cy="381000"/>
          </a:xfrm>
          <a:prstGeom prst="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57450" y="2400300"/>
            <a:ext cx="13335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25" b="1">
                <a:solidFill>
                  <a:srgbClr val="041326"/>
                </a:solidFill>
                <a:latin typeface="Libre Franklin"/>
              </a:rPr>
              <a:t>Account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57450" y="2600325"/>
            <a:ext cx="13335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675" b="0">
                <a:solidFill>
                  <a:srgbClr val="6B7786"/>
                </a:solidFill>
                <a:latin typeface="Libre Franklin"/>
              </a:rPr>
              <a:t>3 sources · aligned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2933700"/>
            <a:ext cx="1524000" cy="495299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800" y="2990850"/>
            <a:ext cx="38100" cy="3810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9150" y="2990850"/>
            <a:ext cx="13335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25" b="1">
                <a:solidFill>
                  <a:srgbClr val="041326"/>
                </a:solidFill>
                <a:latin typeface="Libre Franklin"/>
              </a:rPr>
              <a:t>Product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150" y="3190875"/>
            <a:ext cx="13335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675" b="0">
                <a:solidFill>
                  <a:srgbClr val="6B7786"/>
                </a:solidFill>
                <a:latin typeface="Libre Franklin"/>
              </a:rPr>
              <a:t>4 sources · 2 conflicts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324100" y="2933700"/>
            <a:ext cx="1524000" cy="495299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324100" y="2990850"/>
            <a:ext cx="38100" cy="381000"/>
          </a:xfrm>
          <a:prstGeom prst="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457450" y="2990850"/>
            <a:ext cx="13335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25" b="1">
                <a:solidFill>
                  <a:srgbClr val="041326"/>
                </a:solidFill>
                <a:latin typeface="Libre Franklin"/>
              </a:rPr>
              <a:t>Transaction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57450" y="3190875"/>
            <a:ext cx="13335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675" b="0">
                <a:solidFill>
                  <a:srgbClr val="6B7786"/>
                </a:solidFill>
                <a:latin typeface="Libre Franklin"/>
              </a:rPr>
              <a:t>2 sources · aligned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3524250"/>
            <a:ext cx="1524000" cy="495299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5800" y="3581400"/>
            <a:ext cx="38100" cy="3810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9150" y="3581400"/>
            <a:ext cx="13335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25" b="1">
                <a:solidFill>
                  <a:srgbClr val="041326"/>
                </a:solidFill>
                <a:latin typeface="Libre Franklin"/>
              </a:rPr>
              <a:t>Collateral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9150" y="3781425"/>
            <a:ext cx="13335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675" b="0">
                <a:solidFill>
                  <a:srgbClr val="6B7786"/>
                </a:solidFill>
                <a:latin typeface="Libre Franklin"/>
              </a:rPr>
              <a:t>fragmented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324100" y="3524250"/>
            <a:ext cx="1524000" cy="495299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324100" y="3581400"/>
            <a:ext cx="38100" cy="381000"/>
          </a:xfrm>
          <a:prstGeom prst="rect">
            <a:avLst/>
          </a:prstGeom>
          <a:solidFill>
            <a:srgbClr val="FF5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457450" y="3581400"/>
            <a:ext cx="13335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25" b="1">
                <a:solidFill>
                  <a:srgbClr val="041326"/>
                </a:solidFill>
                <a:latin typeface="Libre Franklin"/>
              </a:rPr>
              <a:t>Case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57450" y="3781425"/>
            <a:ext cx="13335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675" b="0">
                <a:solidFill>
                  <a:srgbClr val="6B7786"/>
                </a:solidFill>
                <a:latin typeface="Libre Franklin"/>
              </a:rPr>
              <a:t>absent as an entity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4324350"/>
            <a:ext cx="3219450" cy="3429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3367FF"/>
                </a:solidFill>
                <a:latin typeface="Libre Franklin"/>
              </a:rPr>
              <a:t>→ four definitions of “active customer” is the exhibit that lands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314825" y="1905000"/>
            <a:ext cx="3562350" cy="3143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486275" y="2019300"/>
            <a:ext cx="321945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3367FF"/>
                </a:solidFill>
                <a:latin typeface="Libre Franklin"/>
              </a:rPr>
              <a:t>TRUTH-GAP REPORT · THE COST OF FRAGMENTATION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86275" y="2362200"/>
            <a:ext cx="3219450" cy="5143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3367FF"/>
                </a:solidFill>
                <a:latin typeface="Libre Franklin"/>
              </a:rPr>
              <a:t>11 min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6275" y="2914650"/>
            <a:ext cx="32194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for a relationship manager to assemble one customer view across 5 screens</a:t>
            </a:r>
          </a:p>
        </p:txBody>
      </p:sp>
      <p:sp>
        <p:nvSpPr>
          <p:cNvPr id="45" name="Oval 44"/>
          <p:cNvSpPr/>
          <p:nvPr/>
        </p:nvSpPr>
        <p:spPr>
          <a:xfrm>
            <a:off x="4505325" y="3505200"/>
            <a:ext cx="76200" cy="76200"/>
          </a:xfrm>
          <a:prstGeom prst="ellipse">
            <a:avLst/>
          </a:prstGeom>
          <a:solidFill>
            <a:srgbClr val="FF5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76775" y="3448050"/>
            <a:ext cx="3028950" cy="2667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25" b="0">
                <a:solidFill>
                  <a:srgbClr val="2A384A"/>
                </a:solidFill>
                <a:latin typeface="Libre Franklin"/>
              </a:rPr>
              <a:t>23% of fields disagree between systems</a:t>
            </a:r>
          </a:p>
        </p:txBody>
      </p:sp>
      <p:sp>
        <p:nvSpPr>
          <p:cNvPr id="47" name="Oval 46"/>
          <p:cNvSpPr/>
          <p:nvPr/>
        </p:nvSpPr>
        <p:spPr>
          <a:xfrm>
            <a:off x="4505325" y="3810000"/>
            <a:ext cx="76200" cy="76200"/>
          </a:xfrm>
          <a:prstGeom prst="ellipse">
            <a:avLst/>
          </a:prstGeom>
          <a:solidFill>
            <a:srgbClr val="FF5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676775" y="3752850"/>
            <a:ext cx="3028950" cy="2667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25" b="0">
                <a:solidFill>
                  <a:srgbClr val="2A384A"/>
                </a:solidFill>
                <a:latin typeface="Libre Franklin"/>
              </a:rPr>
              <a:t>€1.1M p.a. of RM time spent reassembling truth</a:t>
            </a:r>
          </a:p>
        </p:txBody>
      </p:sp>
      <p:sp>
        <p:nvSpPr>
          <p:cNvPr id="49" name="Oval 48"/>
          <p:cNvSpPr/>
          <p:nvPr/>
        </p:nvSpPr>
        <p:spPr>
          <a:xfrm>
            <a:off x="4505325" y="4114800"/>
            <a:ext cx="76200" cy="76200"/>
          </a:xfrm>
          <a:prstGeom prst="ellipse">
            <a:avLst/>
          </a:prstGeom>
          <a:solidFill>
            <a:srgbClr val="FF5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676775" y="4057650"/>
            <a:ext cx="3028950" cy="2667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25" b="0">
                <a:solidFill>
                  <a:srgbClr val="2A384A"/>
                </a:solidFill>
                <a:latin typeface="Libre Franklin"/>
              </a:rPr>
              <a:t>31% of complaints touch a data mismatch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86275" y="4572000"/>
            <a:ext cx="321945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3367FF"/>
                </a:solidFill>
                <a:latin typeface="Libre Franklin"/>
              </a:rPr>
              <a:t>→ the € case for shared truth, before any licence talk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115300" y="1905000"/>
            <a:ext cx="3562350" cy="3143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86750" y="2019300"/>
            <a:ext cx="321945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3367FF"/>
                </a:solidFill>
                <a:latin typeface="Libre Franklin"/>
              </a:rPr>
              <a:t>NEXUS BINDING BLUEPRINT · PHASED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286750" y="2343150"/>
            <a:ext cx="3219450" cy="609600"/>
          </a:xfrm>
          <a:prstGeom prst="roundRect">
            <a:avLst>
              <a:gd name="adj" fmla="val 8000"/>
            </a:avLst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39150" y="2419350"/>
            <a:ext cx="29337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FFFFFF"/>
                </a:solidFill>
                <a:latin typeface="Libre Franklin"/>
              </a:rPr>
              <a:t>Phase 1 · 12 wks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39150" y="2647950"/>
            <a:ext cx="29337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750" b="0">
                <a:solidFill>
                  <a:srgbClr val="FFFFFF"/>
                </a:solidFill>
                <a:latin typeface="Libre Franklin"/>
              </a:rPr>
              <a:t>Core + CRM · 40 entities · customer, account, product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286750" y="3048000"/>
            <a:ext cx="3219450" cy="609600"/>
          </a:xfrm>
          <a:prstGeom prst="roundRect">
            <a:avLst>
              <a:gd name="adj" fmla="val 8000"/>
            </a:avLst>
          </a:prstGeom>
          <a:solidFill>
            <a:srgbClr val="99B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439150" y="3124200"/>
            <a:ext cx="29337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041326"/>
                </a:solidFill>
                <a:latin typeface="Libre Franklin"/>
              </a:rPr>
              <a:t>Phase 2 · 10 wks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39150" y="3352800"/>
            <a:ext cx="29337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750" b="0">
                <a:solidFill>
                  <a:srgbClr val="2A384A"/>
                </a:solidFill>
                <a:latin typeface="Libre Franklin"/>
              </a:rPr>
              <a:t>Credit + LMS · +25 entities · exposure, collateral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286750" y="3752850"/>
            <a:ext cx="3219450" cy="609600"/>
          </a:xfrm>
          <a:prstGeom prst="roundRect">
            <a:avLst>
              <a:gd name="adj" fmla="val 8000"/>
            </a:avLst>
          </a:prstGeom>
          <a:solidFill>
            <a:srgbClr val="CC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439150" y="3829050"/>
            <a:ext cx="29337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041326"/>
                </a:solidFill>
                <a:latin typeface="Libre Franklin"/>
              </a:rPr>
              <a:t>Phase 3 · next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39150" y="4057650"/>
            <a:ext cx="29337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750" b="0">
                <a:solidFill>
                  <a:srgbClr val="2A384A"/>
                </a:solidFill>
                <a:latin typeface="Libre Franklin"/>
              </a:rPr>
              <a:t>Cases + documents · the service layer of truth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86750" y="4572000"/>
            <a:ext cx="321945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750" b="1">
                <a:solidFill>
                  <a:srgbClr val="3367FF"/>
                </a:solidFill>
                <a:latin typeface="Libre Franklin"/>
              </a:rPr>
              <a:t>→ makes the Nexus licence scope precise, so pricing stops being a guess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2425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242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3957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5100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6225" y="200025"/>
            <a:ext cx="76200" cy="1524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025" y="276225"/>
            <a:ext cx="76200" cy="762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350" y="514350"/>
            <a:ext cx="8572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3367FF"/>
                </a:solidFill>
                <a:latin typeface="Libre Franklin"/>
              </a:rPr>
              <a:t>EXECUTION PLAN 2 OF 4 · ONTOLOGY CARTOGRAPHER · THE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781050"/>
            <a:ext cx="102870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The Cartographer is the deepest build and lands where X-Ray has created demand.</a:t>
            </a:r>
          </a:p>
        </p:txBody>
      </p:sp>
      <p:pic>
        <p:nvPicPr>
          <p:cNvPr id="10" name="Picture 9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2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6B7786"/>
                </a:solidFill>
                <a:latin typeface="Libre Franklin"/>
              </a:rPr>
              <a:t>1</a:t>
            </a:fld>
          </a:p>
        </p:txBody>
      </p:sp>
      <p:sp>
        <p:nvSpPr>
          <p:cNvPr id="12" name="Rectangle 11"/>
          <p:cNvSpPr/>
          <p:nvPr/>
        </p:nvSpPr>
        <p:spPr>
          <a:xfrm>
            <a:off x="514350" y="6172200"/>
            <a:ext cx="111633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" y="6238875"/>
            <a:ext cx="111633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Sequenced last as a full SKU because it has the highest technical depth and needs R&amp;D alignment; the ontology lens itself ships thin inside every other wedge from day one (see “one wedge, four lenses”).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09750" y="2762250"/>
            <a:ext cx="8572500" cy="22859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1704975" y="2667000"/>
            <a:ext cx="209550" cy="209550"/>
          </a:xfrm>
          <a:prstGeom prst="diamond">
            <a:avLst/>
          </a:prstGeom>
          <a:solidFill>
            <a:srgbClr val="FF503C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7250" y="238125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Feb 2027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250" y="300990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R&amp;D gate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250" y="327660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Alignment with the Semantic Modeler and Nexus teams on tooling reuse.</a:t>
            </a:r>
          </a:p>
        </p:txBody>
      </p:sp>
      <p:sp>
        <p:nvSpPr>
          <p:cNvPr id="19" name="Oval 18"/>
          <p:cNvSpPr/>
          <p:nvPr/>
        </p:nvSpPr>
        <p:spPr>
          <a:xfrm>
            <a:off x="4591050" y="2695575"/>
            <a:ext cx="152400" cy="152400"/>
          </a:xfrm>
          <a:prstGeom prst="ellipse">
            <a:avLst/>
          </a:prstGeom>
          <a:solidFill>
            <a:srgbClr val="3367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14750" y="238125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Mar-Apr 2027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14750" y="300990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Prototype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14750" y="327660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Ontology mapping demo on two sample cores (core, CRM, LMS, credit). 6 pw, SE-led.</a:t>
            </a:r>
          </a:p>
        </p:txBody>
      </p:sp>
      <p:sp>
        <p:nvSpPr>
          <p:cNvPr id="23" name="Oval 22"/>
          <p:cNvSpPr/>
          <p:nvPr/>
        </p:nvSpPr>
        <p:spPr>
          <a:xfrm>
            <a:off x="7448550" y="2695575"/>
            <a:ext cx="152400" cy="152400"/>
          </a:xfrm>
          <a:prstGeom prst="ellipse">
            <a:avLst/>
          </a:prstGeom>
          <a:solidFill>
            <a:srgbClr val="3367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72250" y="238125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May-Jul 2027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72250" y="300990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Proof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72250" y="327660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Paid pilot: ontology coverage map, data-to-truth gap report, Nexus blueprint. 8 pw.</a:t>
            </a:r>
          </a:p>
        </p:txBody>
      </p:sp>
      <p:sp>
        <p:nvSpPr>
          <p:cNvPr id="27" name="Diamond 26"/>
          <p:cNvSpPr/>
          <p:nvPr/>
        </p:nvSpPr>
        <p:spPr>
          <a:xfrm>
            <a:off x="10277475" y="2667000"/>
            <a:ext cx="209550" cy="209550"/>
          </a:xfrm>
          <a:prstGeom prst="diamond">
            <a:avLst/>
          </a:prstGeom>
          <a:solidFill>
            <a:srgbClr val="3367FF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29750" y="238125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Aug 2027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29750" y="300990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First signature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29750" y="327660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Sold at €75-100K, attached to Relationship Intelligence opportunities.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14350" y="4400550"/>
            <a:ext cx="11163300" cy="914400"/>
          </a:xfrm>
          <a:prstGeom prst="roundRect">
            <a:avLst>
              <a:gd name="adj" fmla="val 8000"/>
            </a:avLst>
          </a:prstGeom>
          <a:solidFill>
            <a:srgbClr val="04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1050" y="4552950"/>
            <a:ext cx="2409825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69FEFF"/>
                </a:solidFill>
                <a:latin typeface="Libre Franklin"/>
              </a:rPr>
              <a:t>BUILD EFFORT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1050" y="4800600"/>
            <a:ext cx="2409825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087" b="1">
                <a:solidFill>
                  <a:srgbClr val="FFFFFF"/>
                </a:solidFill>
                <a:latin typeface="Libre Franklin"/>
              </a:rPr>
              <a:t>10-12 person-wks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71875" y="4552950"/>
            <a:ext cx="2409825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69FEFF"/>
                </a:solidFill>
                <a:latin typeface="Libre Franklin"/>
              </a:rPr>
              <a:t>DELIVERY PER INSTALL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71875" y="4800600"/>
            <a:ext cx="2409825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087" b="1">
                <a:solidFill>
                  <a:srgbClr val="FFFFFF"/>
                </a:solidFill>
                <a:latin typeface="Libre Franklin"/>
              </a:rPr>
              <a:t>6-8 wks · 12-16 pw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2700" y="4552950"/>
            <a:ext cx="2409825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69FEFF"/>
                </a:solidFill>
                <a:latin typeface="Libre Franklin"/>
              </a:rPr>
              <a:t>POD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62700" y="4800600"/>
            <a:ext cx="2409825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087" b="1">
                <a:solidFill>
                  <a:srgbClr val="FFFFFF"/>
                </a:solidFill>
                <a:latin typeface="Libre Franklin"/>
              </a:rPr>
              <a:t>SE 1.0 + VC 0.5 (SE-led)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53525" y="4552950"/>
            <a:ext cx="2409825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69FEFF"/>
                </a:solidFill>
                <a:latin typeface="Libre Franklin"/>
              </a:rPr>
              <a:t>PRE-BINDS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53525" y="4800600"/>
            <a:ext cx="2409825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087" b="1">
                <a:solidFill>
                  <a:srgbClr val="FFFFFF"/>
                </a:solidFill>
                <a:latin typeface="Libre Franklin"/>
              </a:rPr>
              <a:t>Nexus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2425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242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3957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5100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6225" y="200025"/>
            <a:ext cx="76200" cy="1524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025" y="276225"/>
            <a:ext cx="76200" cy="762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350" y="514350"/>
            <a:ext cx="8572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3367FF"/>
                </a:solidFill>
                <a:latin typeface="Libre Franklin"/>
              </a:rPr>
              <a:t>EXECUTION PLAN 3 OF 4 · GUARDRAIL STUDIO · WHAT IT 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781050"/>
            <a:ext cx="102870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Guardrail Studio turns written policy into executable rules an agent can be trusted with.</a:t>
            </a:r>
          </a:p>
        </p:txBody>
      </p:sp>
      <p:pic>
        <p:nvPicPr>
          <p:cNvPr id="10" name="Picture 9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2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6B7786"/>
                </a:solidFill>
                <a:latin typeface="Libre Franklin"/>
              </a:rPr>
              <a:t>1</a:t>
            </a:fld>
          </a:p>
        </p:txBody>
      </p:sp>
      <p:sp>
        <p:nvSpPr>
          <p:cNvPr id="12" name="Rectangle 11"/>
          <p:cNvSpPr/>
          <p:nvPr/>
        </p:nvSpPr>
        <p:spPr>
          <a:xfrm>
            <a:off x="514350" y="6172200"/>
            <a:ext cx="111633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" y="6238875"/>
            <a:ext cx="111633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Timed to the Conversational Banking pipeline: governed execution is the prerequisite for Transact and Resolve, which makes this wedge a natural attach on active deals.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350" y="1905000"/>
            <a:ext cx="4286250" cy="3048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4350" y="1981199"/>
            <a:ext cx="38100" cy="28956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900" y="2038349"/>
            <a:ext cx="3905249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3367FF"/>
                </a:solidFill>
                <a:latin typeface="Libre Franklin"/>
              </a:rPr>
              <a:t>THE ACTIVITIES, WEEK BY WEEK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900" y="2305050"/>
            <a:ext cx="3905249" cy="2514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Wk 1-2 · harvest delegation of authority, credit policy, SOPs, entitlement matrices</a:t>
            </a:r>
          </a:p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Wk 2-3 · map authority per process step: who may recommend, approve, execute</a:t>
            </a:r>
          </a:p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Wk 3-4 · score agent-readiness per step on the A1-A5 autonomy scale</a:t>
            </a:r>
          </a:p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Wk 4-5 · codification workshops (4-5) with risk and compliance: policy → executable rules</a:t>
            </a:r>
          </a:p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Wk 5-6 · audit-trail design; Sentinel readiness score and deployment blueprint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0" y="1905000"/>
            <a:ext cx="3238500" cy="3048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0" y="1981199"/>
            <a:ext cx="38100" cy="28956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38750" y="2038349"/>
            <a:ext cx="2857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3367FF"/>
                </a:solidFill>
                <a:latin typeface="Libre Franklin"/>
              </a:rPr>
              <a:t>WHAT IT ENTAILS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8750" y="2305050"/>
            <a:ext cx="2857500" cy="2514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Sponsor: CRO or COO</a:t>
            </a:r>
          </a:p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Bank effort: risk, compliance and ops SMEs in 4-5 workshops</a:t>
            </a:r>
          </a:p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Access: documents and workshops; no system access needed, so InfoSec stays out of the critical path</a:t>
            </a:r>
          </a:p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Pod: VC 1.0 + SE 0.5 + compliance SME 0.2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96300" y="1905000"/>
            <a:ext cx="3181350" cy="3048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496300" y="1981199"/>
            <a:ext cx="38100" cy="28956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05850" y="2038349"/>
            <a:ext cx="280035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3367FF"/>
                </a:solidFill>
                <a:latin typeface="Libre Franklin"/>
              </a:rPr>
              <a:t>WHAT COMES OUT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05850" y="2305050"/>
            <a:ext cx="2800350" cy="2514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Authority map: current state vs agent-ready state</a:t>
            </a:r>
          </a:p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Guardrail backlog: 20-30 executable rules, each traced to its policy source</a:t>
            </a:r>
          </a:p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Audit-trail design for immutable evidence</a:t>
            </a:r>
          </a:p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Sentinel readiness score + install blueprint</a:t>
            </a:r>
          </a:p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Thin-lens appendices: leakage + ontology snapshots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4350" y="5143500"/>
            <a:ext cx="11163300" cy="685800"/>
          </a:xfrm>
          <a:prstGeom prst="roundRect">
            <a:avLst>
              <a:gd name="adj" fmla="val 8000"/>
            </a:avLst>
          </a:prstGeom>
          <a:solidFill>
            <a:srgbClr val="E5E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2950" y="5276850"/>
            <a:ext cx="2857500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75" b="1">
                <a:solidFill>
                  <a:srgbClr val="264EC7"/>
                </a:solidFill>
                <a:latin typeface="Libre Franklin"/>
              </a:rPr>
              <a:t>How it adds up.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14750" y="5257800"/>
            <a:ext cx="7734300" cy="4762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041326"/>
                </a:solidFill>
                <a:latin typeface="Libre Franklin"/>
              </a:rPr>
              <a:t>This is the approval pack a risk committee needs before ANY agent acts; it unblocks Transact and Resolve deals in flight, and every codified rule pre-loads Sentinel.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2425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242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3957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5100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6225" y="200025"/>
            <a:ext cx="76200" cy="1524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025" y="276225"/>
            <a:ext cx="76200" cy="762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350" y="514350"/>
            <a:ext cx="8572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3367FF"/>
                </a:solidFill>
                <a:latin typeface="Libre Franklin"/>
              </a:rPr>
              <a:t>EXECUTION PLAN 3 OF 4 · GUARDRAIL STUDIO · SAMPLE OUTPUTS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781050"/>
            <a:ext cx="102870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Guardrail Studio answers the question every risk committee asks: where can an agent safely act?</a:t>
            </a:r>
          </a:p>
        </p:txBody>
      </p:sp>
      <p:pic>
        <p:nvPicPr>
          <p:cNvPr id="10" name="Picture 9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2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6B7786"/>
                </a:solidFill>
                <a:latin typeface="Libre Franklin"/>
              </a:rPr>
              <a:t>1</a:t>
            </a:fld>
          </a:p>
        </p:txBody>
      </p:sp>
      <p:sp>
        <p:nvSpPr>
          <p:cNvPr id="12" name="Rectangle 11"/>
          <p:cNvSpPr/>
          <p:nvPr/>
        </p:nvSpPr>
        <p:spPr>
          <a:xfrm>
            <a:off x="514350" y="6172200"/>
            <a:ext cx="111633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" y="6238875"/>
            <a:ext cx="111633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Illustrative specimen: every figure on this slide is a placeholder, re-based on the bank’s own data during the engagement.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350" y="1905000"/>
            <a:ext cx="3562350" cy="3143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019300"/>
            <a:ext cx="321945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3367FF"/>
                </a:solidFill>
                <a:latin typeface="Libre Franklin"/>
              </a:rPr>
              <a:t>AUTHORITY MAP · CARD DISPUTE PROCESS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2343150"/>
            <a:ext cx="3219450" cy="4572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9150" y="2400300"/>
            <a:ext cx="2095499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041326"/>
                </a:solidFill>
                <a:latin typeface="Libre Franklin"/>
              </a:rPr>
              <a:t>Freeze card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9150" y="2609850"/>
            <a:ext cx="914400" cy="133350"/>
          </a:xfrm>
          <a:prstGeom prst="roundRect">
            <a:avLst>
              <a:gd name="adj" fmla="val 8000"/>
            </a:avLst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09750" y="2581275"/>
            <a:ext cx="1981199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12" b="0">
                <a:solidFill>
                  <a:srgbClr val="6B7786"/>
                </a:solidFill>
                <a:latin typeface="Libre Franklin"/>
              </a:rPr>
              <a:t>A4 · agent executes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2895600"/>
            <a:ext cx="3219450" cy="4572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9150" y="2952750"/>
            <a:ext cx="2095499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041326"/>
                </a:solidFill>
                <a:latin typeface="Libre Franklin"/>
              </a:rPr>
              <a:t>Provisional credit ≤ €500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9150" y="3162300"/>
            <a:ext cx="914400" cy="133350"/>
          </a:xfrm>
          <a:prstGeom prst="roundRect">
            <a:avLst>
              <a:gd name="adj" fmla="val 8000"/>
            </a:avLst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09750" y="3133725"/>
            <a:ext cx="1981199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12" b="0">
                <a:solidFill>
                  <a:srgbClr val="6B7786"/>
                </a:solidFill>
                <a:latin typeface="Libre Franklin"/>
              </a:rPr>
              <a:t>A4 · executes with audit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3448050"/>
            <a:ext cx="3219450" cy="4572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9150" y="3505200"/>
            <a:ext cx="2095499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041326"/>
                </a:solidFill>
                <a:latin typeface="Libre Franklin"/>
              </a:rPr>
              <a:t>Provisional credit &gt; €500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9150" y="3714750"/>
            <a:ext cx="914400" cy="133350"/>
          </a:xfrm>
          <a:prstGeom prst="roundRect">
            <a:avLst>
              <a:gd name="adj" fmla="val 8000"/>
            </a:avLst>
          </a:prstGeom>
          <a:solidFill>
            <a:srgbClr val="99B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09750" y="3686175"/>
            <a:ext cx="1981199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12" b="0">
                <a:solidFill>
                  <a:srgbClr val="6B7786"/>
                </a:solidFill>
                <a:latin typeface="Libre Franklin"/>
              </a:rPr>
              <a:t>A3 · human approves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4000500"/>
            <a:ext cx="3219450" cy="4572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9150" y="4057650"/>
            <a:ext cx="2095499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041326"/>
                </a:solidFill>
                <a:latin typeface="Libre Franklin"/>
              </a:rPr>
              <a:t>Account closure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9150" y="4267200"/>
            <a:ext cx="914400" cy="133350"/>
          </a:xfrm>
          <a:prstGeom prst="roundRect">
            <a:avLst>
              <a:gd name="adj" fmla="val 8000"/>
            </a:avLst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09750" y="4238625"/>
            <a:ext cx="1981199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12" b="0">
                <a:solidFill>
                  <a:srgbClr val="6B7786"/>
                </a:solidFill>
                <a:latin typeface="Libre Franklin"/>
              </a:rPr>
              <a:t>A1 · human only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4629150"/>
            <a:ext cx="321945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3367FF"/>
                </a:solidFill>
                <a:latin typeface="Libre Franklin"/>
              </a:rPr>
              <a:t>→ the boundary line, drawn from the bank’s own policy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14825" y="1905000"/>
            <a:ext cx="3562350" cy="3143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86275" y="2019300"/>
            <a:ext cx="321945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3367FF"/>
                </a:solidFill>
                <a:latin typeface="Libre Franklin"/>
              </a:rPr>
              <a:t>GUARDRAIL RULE CARD · FROM THE BACKLOG OF 20-30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48175" y="2324100"/>
            <a:ext cx="3295650" cy="1714500"/>
          </a:xfrm>
          <a:prstGeom prst="roundRect">
            <a:avLst>
              <a:gd name="adj" fmla="val 8000"/>
            </a:avLst>
          </a:prstGeom>
          <a:solidFill>
            <a:srgbClr val="04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19625" y="2457450"/>
            <a:ext cx="299085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825" b="1">
                <a:solidFill>
                  <a:srgbClr val="69FEFF"/>
                </a:solidFill>
                <a:latin typeface="Libre Franklin"/>
              </a:rPr>
              <a:t>GR-014 · Provisional credit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19625" y="2743200"/>
            <a:ext cx="299085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825" b="0">
                <a:solidFill>
                  <a:srgbClr val="FFFFFF"/>
                </a:solidFill>
                <a:latin typeface="Libre Franklin"/>
              </a:rPr>
              <a:t>IF dispute.amount ≤ €500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19625" y="3028950"/>
            <a:ext cx="299085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825" b="0">
                <a:solidFill>
                  <a:srgbClr val="FFFFFF"/>
                </a:solidFill>
                <a:latin typeface="Libre Franklin"/>
              </a:rPr>
              <a:t>AND fraud_score &lt; 0.2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19625" y="3314700"/>
            <a:ext cx="299085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825" b="0">
                <a:solidFill>
                  <a:srgbClr val="FFFFFF"/>
                </a:solidFill>
                <a:latin typeface="Libre Franklin"/>
              </a:rPr>
              <a:t>THEN agent EXECUTES, immutable audit log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19625" y="3600450"/>
            <a:ext cx="299085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825" b="0">
                <a:solidFill>
                  <a:srgbClr val="FFFFFF"/>
                </a:solidFill>
                <a:latin typeface="Libre Franklin"/>
              </a:rPr>
              <a:t>ELSE route to human approver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86275" y="4152900"/>
            <a:ext cx="321945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6B7786"/>
                </a:solidFill>
                <a:latin typeface="Libre Franklin"/>
              </a:rPr>
              <a:t>Source: Card Policy §4.2 · Status: codified · Owner: dispute ops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86275" y="4572000"/>
            <a:ext cx="321945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3367FF"/>
                </a:solidFill>
                <a:latin typeface="Libre Franklin"/>
              </a:rPr>
              <a:t>→ each rule loads straight into Sentinel at install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15300" y="1905000"/>
            <a:ext cx="3562350" cy="3143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86750" y="2019300"/>
            <a:ext cx="321945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3367FF"/>
                </a:solidFill>
                <a:latin typeface="Libre Franklin"/>
              </a:rPr>
              <a:t>SENTINEL READINESS · SCORED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86750" y="2324100"/>
            <a:ext cx="3219450" cy="4762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503C"/>
                </a:solidFill>
                <a:latin typeface="Libre Franklin"/>
              </a:rPr>
              <a:t>34 / 100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86750" y="2914650"/>
            <a:ext cx="321945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2A384A"/>
                </a:solidFill>
                <a:latin typeface="Libre Franklin"/>
              </a:rPr>
              <a:t>Authority mapped · 45%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86750" y="3143250"/>
            <a:ext cx="3219450" cy="9525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286750" y="3143250"/>
            <a:ext cx="1448752" cy="9525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86750" y="3409950"/>
            <a:ext cx="321945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2A384A"/>
                </a:solidFill>
                <a:latin typeface="Libre Franklin"/>
              </a:rPr>
              <a:t>Policies codified · 20%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286750" y="3638550"/>
            <a:ext cx="3219450" cy="9525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286750" y="3638550"/>
            <a:ext cx="643890" cy="9525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286750" y="3905249"/>
            <a:ext cx="321945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2A384A"/>
                </a:solidFill>
                <a:latin typeface="Libre Franklin"/>
              </a:rPr>
              <a:t>Audit trails in place · 38%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86750" y="4133849"/>
            <a:ext cx="3219450" cy="9525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286750" y="4133849"/>
            <a:ext cx="1223391" cy="9525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286750" y="4457700"/>
            <a:ext cx="3219450" cy="3429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3367FF"/>
                </a:solidFill>
                <a:latin typeface="Libre Franklin"/>
              </a:rPr>
              <a:t>→ target: 80+ once the backlog is codified; the risk committee’s go/no-go dashboard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2425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242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3957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5100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6225" y="200025"/>
            <a:ext cx="76200" cy="1524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025" y="276225"/>
            <a:ext cx="76200" cy="762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350" y="514350"/>
            <a:ext cx="8572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3367FF"/>
                </a:solidFill>
                <a:latin typeface="Libre Franklin"/>
              </a:rPr>
              <a:t>EXECUTION PLAN 3 OF 4 · GUARDRAIL STUDIO · THE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781050"/>
            <a:ext cx="102870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Guardrail Studio attaches to every Conversational Banking deal in flight.</a:t>
            </a:r>
          </a:p>
        </p:txBody>
      </p:sp>
      <p:pic>
        <p:nvPicPr>
          <p:cNvPr id="10" name="Picture 9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2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6B7786"/>
                </a:solidFill>
                <a:latin typeface="Libre Franklin"/>
              </a:rPr>
              <a:t>1</a:t>
            </a:fld>
          </a:p>
        </p:txBody>
      </p:sp>
      <p:sp>
        <p:nvSpPr>
          <p:cNvPr id="12" name="Rectangle 11"/>
          <p:cNvSpPr/>
          <p:nvPr/>
        </p:nvSpPr>
        <p:spPr>
          <a:xfrm>
            <a:off x="514350" y="6172200"/>
            <a:ext cx="111633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" y="6238875"/>
            <a:ext cx="111633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Governed execution is the prerequisite for Transact and Resolve, which makes the Sentinel-readiness wedge a natural attach on active Conversational Banking deals.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09750" y="2762250"/>
            <a:ext cx="8572500" cy="22859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733550" y="2695575"/>
            <a:ext cx="152400" cy="152400"/>
          </a:xfrm>
          <a:prstGeom prst="ellipse">
            <a:avLst/>
          </a:prstGeom>
          <a:solidFill>
            <a:srgbClr val="3367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7250" y="238125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Jan 2027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250" y="300990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Design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250" y="327660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Decision &amp; Policy tooling alignment; risk and compliance SME briefed. 3 pw.</a:t>
            </a:r>
          </a:p>
        </p:txBody>
      </p:sp>
      <p:sp>
        <p:nvSpPr>
          <p:cNvPr id="19" name="Oval 18"/>
          <p:cNvSpPr/>
          <p:nvPr/>
        </p:nvSpPr>
        <p:spPr>
          <a:xfrm>
            <a:off x="4591050" y="2695575"/>
            <a:ext cx="152400" cy="152400"/>
          </a:xfrm>
          <a:prstGeom prst="ellipse">
            <a:avLst/>
          </a:prstGeom>
          <a:solidFill>
            <a:srgbClr val="3367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14750" y="238125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Feb-Mar 2027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14750" y="300990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Prototype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14750" y="327660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Authority-map demo: recommend, approve, execute per process. 5 pw.</a:t>
            </a:r>
          </a:p>
        </p:txBody>
      </p:sp>
      <p:sp>
        <p:nvSpPr>
          <p:cNvPr id="23" name="Oval 22"/>
          <p:cNvSpPr/>
          <p:nvPr/>
        </p:nvSpPr>
        <p:spPr>
          <a:xfrm>
            <a:off x="7448550" y="2695575"/>
            <a:ext cx="152400" cy="152400"/>
          </a:xfrm>
          <a:prstGeom prst="ellipse">
            <a:avLst/>
          </a:prstGeom>
          <a:solidFill>
            <a:srgbClr val="3367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72250" y="238125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Apr-May 2027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72250" y="300990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Proof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72250" y="327660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Paid pilot: guardrail backlog, entitlements map, Sentinel install blueprint. 6 pw.</a:t>
            </a:r>
          </a:p>
        </p:txBody>
      </p:sp>
      <p:sp>
        <p:nvSpPr>
          <p:cNvPr id="27" name="Diamond 26"/>
          <p:cNvSpPr/>
          <p:nvPr/>
        </p:nvSpPr>
        <p:spPr>
          <a:xfrm>
            <a:off x="10277475" y="2667000"/>
            <a:ext cx="209550" cy="209550"/>
          </a:xfrm>
          <a:prstGeom prst="diamond">
            <a:avLst/>
          </a:prstGeom>
          <a:solidFill>
            <a:srgbClr val="3367FF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29750" y="238125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Jun 2027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29750" y="300990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First signature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29750" y="327660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Sold at €50-100K, riding Transact and Resolve deals in flight.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14350" y="4400550"/>
            <a:ext cx="11163300" cy="914400"/>
          </a:xfrm>
          <a:prstGeom prst="roundRect">
            <a:avLst>
              <a:gd name="adj" fmla="val 8000"/>
            </a:avLst>
          </a:prstGeom>
          <a:solidFill>
            <a:srgbClr val="04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1050" y="4552950"/>
            <a:ext cx="2409825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69FEFF"/>
                </a:solidFill>
                <a:latin typeface="Libre Franklin"/>
              </a:rPr>
              <a:t>BUILD EFFORT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1050" y="4800600"/>
            <a:ext cx="2409825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087" b="1">
                <a:solidFill>
                  <a:srgbClr val="FFFFFF"/>
                </a:solidFill>
                <a:latin typeface="Libre Franklin"/>
              </a:rPr>
              <a:t>8-10 person-wks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71875" y="4552950"/>
            <a:ext cx="2409825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69FEFF"/>
                </a:solidFill>
                <a:latin typeface="Libre Franklin"/>
              </a:rPr>
              <a:t>DELIVERY PER INSTALL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71875" y="4800600"/>
            <a:ext cx="2409825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087" b="1">
                <a:solidFill>
                  <a:srgbClr val="FFFFFF"/>
                </a:solidFill>
                <a:latin typeface="Libre Franklin"/>
              </a:rPr>
              <a:t>5-6 wks · 8-10 pw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2700" y="4552950"/>
            <a:ext cx="2409825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69FEFF"/>
                </a:solidFill>
                <a:latin typeface="Libre Franklin"/>
              </a:rPr>
              <a:t>POD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62700" y="4800600"/>
            <a:ext cx="2409825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087" b="1">
                <a:solidFill>
                  <a:srgbClr val="FFFFFF"/>
                </a:solidFill>
                <a:latin typeface="Libre Franklin"/>
              </a:rPr>
              <a:t>VC 1.0 + SE 0.5 + SME 0.2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53525" y="4552950"/>
            <a:ext cx="2409825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69FEFF"/>
                </a:solidFill>
                <a:latin typeface="Libre Franklin"/>
              </a:rPr>
              <a:t>PRE-BINDS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53525" y="4800600"/>
            <a:ext cx="2409825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087" b="1">
                <a:solidFill>
                  <a:srgbClr val="FFFFFF"/>
                </a:solidFill>
                <a:latin typeface="Libre Franklin"/>
              </a:rPr>
              <a:t>Sentinel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2425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242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3957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5100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6225" y="200025"/>
            <a:ext cx="76200" cy="1524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025" y="276225"/>
            <a:ext cx="76200" cy="762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350" y="514350"/>
            <a:ext cx="8572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3367FF"/>
                </a:solidFill>
                <a:latin typeface="Libre Franklin"/>
              </a:rPr>
              <a:t>EXECUTION PLAN 4 OF 4 · VALUE TELEMETRY · WHAT IT 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781050"/>
            <a:ext cx="102870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Value Telemetry measures what live AI really costs per resolved outcome, and re-proves the ROI.</a:t>
            </a:r>
          </a:p>
        </p:txBody>
      </p:sp>
      <p:pic>
        <p:nvPicPr>
          <p:cNvPr id="10" name="Picture 9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2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6B7786"/>
                </a:solidFill>
                <a:latin typeface="Libre Franklin"/>
              </a:rPr>
              <a:t>1</a:t>
            </a:fld>
          </a:p>
        </p:txBody>
      </p:sp>
      <p:sp>
        <p:nvSpPr>
          <p:cNvPr id="12" name="Rectangle 11"/>
          <p:cNvSpPr/>
          <p:nvPr/>
        </p:nvSpPr>
        <p:spPr>
          <a:xfrm>
            <a:off x="514350" y="6172200"/>
            <a:ext cx="111633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" y="6238875"/>
            <a:ext cx="111633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Only the vendor in the execution path can measure cost per resolved outcome; external FinOps tools see the cloud bill. Gain-share terms (15-35% of realised savings) per market practice: ProsperOps, nOps, Vantage.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350" y="1905000"/>
            <a:ext cx="4286250" cy="3048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4350" y="1981199"/>
            <a:ext cx="38100" cy="28956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900" y="2038349"/>
            <a:ext cx="3905249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3367FF"/>
                </a:solidFill>
                <a:latin typeface="Libre Franklin"/>
              </a:rPr>
              <a:t>THE ACTIVITIES, WEEK BY WEEK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900" y="2305050"/>
            <a:ext cx="3905249" cy="2514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Wk 1 · instrument the live deployment: interaction logs, model calls, consumption</a:t>
            </a:r>
          </a:p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Wk 1-2 · tag outcomes: resolved, escalated, abandoned; define the outcome taxonomy</a:t>
            </a:r>
          </a:p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Wk 2 · compute cost per outcome per use case (never per interaction)</a:t>
            </a:r>
          </a:p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Wk 2-3 · scan for waste: PTU over-provision, model routing, dead agents, retry loops</a:t>
            </a:r>
          </a:p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Wk 3 · re-prove ROI vs the original case; install the quarterly cadence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0" y="1905000"/>
            <a:ext cx="3238500" cy="3048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0" y="1981199"/>
            <a:ext cx="38100" cy="28956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38750" y="2038349"/>
            <a:ext cx="2857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3367FF"/>
                </a:solidFill>
                <a:latin typeface="Libre Franklin"/>
              </a:rPr>
              <a:t>WHAT IT ENTAILS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8750" y="2305050"/>
            <a:ext cx="2857500" cy="2514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Prerequisite: a live AI deployment (Backbase or third party)</a:t>
            </a:r>
          </a:p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Access: read-only consumption + interaction logs</a:t>
            </a:r>
          </a:p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Bank effort: finance partner to validate cost lines</a:t>
            </a:r>
          </a:p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Pod: VC 0.5 + SE 0.25</a:t>
            </a:r>
          </a:p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Dependency: the keystone cost-per-outcome model (with Deepak)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96300" y="1905000"/>
            <a:ext cx="3181350" cy="3048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496300" y="1981199"/>
            <a:ext cx="38100" cy="28956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05850" y="2038349"/>
            <a:ext cx="280035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3367FF"/>
                </a:solidFill>
                <a:latin typeface="Libre Franklin"/>
              </a:rPr>
              <a:t>WHAT COMES OUT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05850" y="2305050"/>
            <a:ext cx="2800350" cy="2514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Cost-per-outcome baseline per use case</a:t>
            </a:r>
          </a:p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Waste register with € values and named owners</a:t>
            </a:r>
          </a:p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ROI re-proof vs the original business case</a:t>
            </a:r>
          </a:p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A quarterly value cadence, installed</a:t>
            </a:r>
          </a:p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Thin-lens appendices: leakage + guardrail observations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4350" y="5143500"/>
            <a:ext cx="11163300" cy="685800"/>
          </a:xfrm>
          <a:prstGeom prst="roundRect">
            <a:avLst>
              <a:gd name="adj" fmla="val 8000"/>
            </a:avLst>
          </a:prstGeom>
          <a:solidFill>
            <a:srgbClr val="E5E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2950" y="5276850"/>
            <a:ext cx="2857500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75" b="1">
                <a:solidFill>
                  <a:srgbClr val="264EC7"/>
                </a:solidFill>
                <a:latin typeface="Libre Franklin"/>
              </a:rPr>
              <a:t>How it adds up.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14750" y="5257800"/>
            <a:ext cx="7734300" cy="4762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041326"/>
                </a:solidFill>
                <a:latin typeface="Libre Franklin"/>
              </a:rPr>
              <a:t>The baseline becomes the yardstick every later Mission is measured against, and the identified waste often funds the next wedge by itself.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2425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242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3957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5100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6225" y="200025"/>
            <a:ext cx="76200" cy="1524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025" y="276225"/>
            <a:ext cx="76200" cy="762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350" y="514350"/>
            <a:ext cx="8572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3367FF"/>
                </a:solidFill>
                <a:latin typeface="Libre Franklin"/>
              </a:rPr>
              <a:t>EXECUTION PLAN 4 OF 4 · VALUE TELEMETRY · SAMPLE OUTPUTS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781050"/>
            <a:ext cx="102870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Telemetry turns “is the AI worth it” into a measured number the CFO can sign.</a:t>
            </a:r>
          </a:p>
        </p:txBody>
      </p:sp>
      <p:pic>
        <p:nvPicPr>
          <p:cNvPr id="10" name="Picture 9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2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6B7786"/>
                </a:solidFill>
                <a:latin typeface="Libre Franklin"/>
              </a:rPr>
              <a:t>1</a:t>
            </a:fld>
          </a:p>
        </p:txBody>
      </p:sp>
      <p:sp>
        <p:nvSpPr>
          <p:cNvPr id="12" name="Rectangle 11"/>
          <p:cNvSpPr/>
          <p:nvPr/>
        </p:nvSpPr>
        <p:spPr>
          <a:xfrm>
            <a:off x="514350" y="6172200"/>
            <a:ext cx="111633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" y="6238875"/>
            <a:ext cx="111633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Illustrative specimen: every figure on this slide is a placeholder, re-based on the bank’s own data during the engagement.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350" y="1905000"/>
            <a:ext cx="3562350" cy="3143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019300"/>
            <a:ext cx="321945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3367FF"/>
                </a:solidFill>
                <a:latin typeface="Libre Franklin"/>
              </a:rPr>
              <a:t>COST PER OUTCOME · BY USE CASE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2343150"/>
            <a:ext cx="3219450" cy="10668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2419350"/>
            <a:ext cx="38100" cy="914400"/>
          </a:xfrm>
          <a:prstGeom prst="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200" y="2438400"/>
            <a:ext cx="29337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041326"/>
                </a:solidFill>
                <a:latin typeface="Libre Franklin"/>
              </a:rPr>
              <a:t>Card freeze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" y="2667000"/>
            <a:ext cx="29337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64EC7"/>
                </a:solidFill>
                <a:latin typeface="Libre Franklin"/>
              </a:rPr>
              <a:t>€0.11 / outcome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200" y="2990850"/>
            <a:ext cx="293370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6B7786"/>
                </a:solidFill>
                <a:latin typeface="Libre Franklin"/>
              </a:rPr>
              <a:t>94% contained, zero human touches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505200"/>
            <a:ext cx="3219450" cy="10668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3581400"/>
            <a:ext cx="38100" cy="914400"/>
          </a:xfrm>
          <a:prstGeom prst="rect">
            <a:avLst/>
          </a:prstGeom>
          <a:solidFill>
            <a:srgbClr val="FF5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8200" y="3600450"/>
            <a:ext cx="29337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041326"/>
                </a:solidFill>
                <a:latin typeface="Libre Franklin"/>
              </a:rPr>
              <a:t>Dispute intake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3829050"/>
            <a:ext cx="29337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F503C"/>
                </a:solidFill>
                <a:latin typeface="Libre Franklin"/>
              </a:rPr>
              <a:t>€1.87 / outcome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8200" y="4152900"/>
            <a:ext cx="293370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6B7786"/>
                </a:solidFill>
                <a:latin typeface="Libre Franklin"/>
              </a:rPr>
              <a:t>3.2 human touches; 68% of simple intents routed to the premium model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667250"/>
            <a:ext cx="321945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3367FF"/>
                </a:solidFill>
                <a:latin typeface="Libre Franklin"/>
              </a:rPr>
              <a:t>→ the unit economics of every use case, measured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14825" y="1905000"/>
            <a:ext cx="3562350" cy="3143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6275" y="2019300"/>
            <a:ext cx="321945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3367FF"/>
                </a:solidFill>
                <a:latin typeface="Libre Franklin"/>
              </a:rPr>
              <a:t>WASTE REGISTER · €312K ANNUALIZED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6275" y="2381250"/>
            <a:ext cx="321945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2A384A"/>
                </a:solidFill>
                <a:latin typeface="Libre Franklin"/>
              </a:rPr>
              <a:t>PTU over-provision · €140K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6275" y="2609850"/>
            <a:ext cx="3219450" cy="11430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486275" y="2609850"/>
            <a:ext cx="3219450" cy="114300"/>
          </a:xfrm>
          <a:prstGeom prst="rect">
            <a:avLst/>
          </a:prstGeom>
          <a:solidFill>
            <a:srgbClr val="FF5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86275" y="2857500"/>
            <a:ext cx="321945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2A384A"/>
                </a:solidFill>
                <a:latin typeface="Libre Franklin"/>
              </a:rPr>
              <a:t>Model routing · €95K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86275" y="3086100"/>
            <a:ext cx="3219450" cy="11430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86275" y="3086100"/>
            <a:ext cx="2184626" cy="1143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6275" y="3333750"/>
            <a:ext cx="321945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2A384A"/>
                </a:solidFill>
                <a:latin typeface="Libre Franklin"/>
              </a:rPr>
              <a:t>Dead agents · €41K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86275" y="3562350"/>
            <a:ext cx="3219450" cy="11430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486275" y="3562350"/>
            <a:ext cx="942838" cy="1143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86275" y="3810000"/>
            <a:ext cx="321945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2A384A"/>
                </a:solidFill>
                <a:latin typeface="Libre Franklin"/>
              </a:rPr>
              <a:t>Retry loops · €36K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86275" y="4038600"/>
            <a:ext cx="3219450" cy="11430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86275" y="4038600"/>
            <a:ext cx="827858" cy="1143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86275" y="4362450"/>
            <a:ext cx="321945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3367FF"/>
                </a:solidFill>
                <a:latin typeface="Libre Franklin"/>
              </a:rPr>
              <a:t>→ each line has an owner and a fix; savings are machine-measurable, which is what makes gain-share defensible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115300" y="1905000"/>
            <a:ext cx="3562350" cy="3143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86750" y="2019300"/>
            <a:ext cx="321945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3367FF"/>
                </a:solidFill>
                <a:latin typeface="Libre Franklin"/>
              </a:rPr>
              <a:t>ROI RE-PROOF · CASE VS MEASURED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86750" y="2381250"/>
            <a:ext cx="321945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2A384A"/>
                </a:solidFill>
                <a:latin typeface="Libre Franklin"/>
              </a:rPr>
              <a:t>Original business case · €1.10M a year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86750" y="2609850"/>
            <a:ext cx="3219450" cy="13335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286750" y="2609850"/>
            <a:ext cx="3219450" cy="133350"/>
          </a:xfrm>
          <a:prstGeom prst="rect">
            <a:avLst/>
          </a:prstGeom>
          <a:solidFill>
            <a:srgbClr val="99B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86750" y="2971800"/>
            <a:ext cx="321945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2A384A"/>
                </a:solidFill>
                <a:latin typeface="Libre Franklin"/>
              </a:rPr>
              <a:t>Measured today · €0.82M a year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286750" y="3200400"/>
            <a:ext cx="3219450" cy="13335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286750" y="3200400"/>
            <a:ext cx="2399953" cy="133350"/>
          </a:xfrm>
          <a:prstGeom prst="rect">
            <a:avLst/>
          </a:prstGeom>
          <a:solidFill>
            <a:srgbClr val="FF5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86750" y="3562350"/>
            <a:ext cx="321945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2A384A"/>
                </a:solidFill>
                <a:latin typeface="Libre Franklin"/>
              </a:rPr>
              <a:t>After routing + PTU fixes · €1.05M a year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286750" y="3790949"/>
            <a:ext cx="3219450" cy="13335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286750" y="3790949"/>
            <a:ext cx="3073111" cy="13335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8286750" y="4190999"/>
            <a:ext cx="2000250" cy="285750"/>
          </a:xfrm>
          <a:prstGeom prst="roundRect">
            <a:avLst>
              <a:gd name="adj" fmla="val 8000"/>
            </a:avLst>
          </a:prstGeom>
          <a:solidFill>
            <a:srgbClr val="E5E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20100" y="4248150"/>
            <a:ext cx="180975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264EC7"/>
                </a:solidFill>
                <a:latin typeface="Libre Franklin"/>
              </a:rPr>
              <a:t>Case re-proved at 95%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86750" y="4610100"/>
            <a:ext cx="321945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3367FF"/>
                </a:solidFill>
                <a:latin typeface="Libre Franklin"/>
              </a:rPr>
              <a:t>→ renewal and expansion, argued with the bank’s own numbers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2425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242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3957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5100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6225" y="200025"/>
            <a:ext cx="76200" cy="1524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025" y="276225"/>
            <a:ext cx="76200" cy="762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350" y="514350"/>
            <a:ext cx="8572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3367FF"/>
                </a:solidFill>
                <a:latin typeface="Libre Franklin"/>
              </a:rPr>
              <a:t>EXECUTION PLAN 4 OF 4 · VALUE TELEMETRY · THE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781050"/>
            <a:ext cx="102870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Value Telemetry rides the keystone cost-per-outcome model and opens the recurring line.</a:t>
            </a:r>
          </a:p>
        </p:txBody>
      </p:sp>
      <p:pic>
        <p:nvPicPr>
          <p:cNvPr id="10" name="Picture 9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2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6B7786"/>
                </a:solidFill>
                <a:latin typeface="Libre Franklin"/>
              </a:rPr>
              <a:t>1</a:t>
            </a:fld>
          </a:p>
        </p:txBody>
      </p:sp>
      <p:sp>
        <p:nvSpPr>
          <p:cNvPr id="12" name="Rectangle 11"/>
          <p:cNvSpPr/>
          <p:nvPr/>
        </p:nvSpPr>
        <p:spPr>
          <a:xfrm>
            <a:off x="514350" y="6172200"/>
            <a:ext cx="111633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" y="6238875"/>
            <a:ext cx="111633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Gain-share pricing of 15-35% of realised savings is market-validated (ProsperOps, nOps, Vantage), with a “10% or free” floor. Current cost-model sample is n=2 use cases; the keystone study raises it to ~5.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09750" y="2762250"/>
            <a:ext cx="8572500" cy="22859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1704975" y="2667000"/>
            <a:ext cx="209550" cy="209550"/>
          </a:xfrm>
          <a:prstGeom prst="diamond">
            <a:avLst/>
          </a:prstGeom>
          <a:solidFill>
            <a:srgbClr val="FF503C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7250" y="238125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Sep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250" y="300990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Keystone gate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250" y="327660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Extend the cost model from cost-per-interaction to cost-per-outcome, with Deepak. ~5 use cases.</a:t>
            </a:r>
          </a:p>
        </p:txBody>
      </p:sp>
      <p:sp>
        <p:nvSpPr>
          <p:cNvPr id="19" name="Oval 18"/>
          <p:cNvSpPr/>
          <p:nvPr/>
        </p:nvSpPr>
        <p:spPr>
          <a:xfrm>
            <a:off x="3876674" y="2695575"/>
            <a:ext cx="152400" cy="152400"/>
          </a:xfrm>
          <a:prstGeom prst="ellipse">
            <a:avLst/>
          </a:prstGeom>
          <a:solidFill>
            <a:srgbClr val="3367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00375" y="238125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Sep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00375" y="300990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Design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00375" y="327660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SKU spec: diagnostic scope, telemetry set, gain-share terms. 4 pw, VC.</a:t>
            </a:r>
          </a:p>
        </p:txBody>
      </p:sp>
      <p:sp>
        <p:nvSpPr>
          <p:cNvPr id="23" name="Oval 22"/>
          <p:cNvSpPr/>
          <p:nvPr/>
        </p:nvSpPr>
        <p:spPr>
          <a:xfrm>
            <a:off x="6019800" y="2695575"/>
            <a:ext cx="152400" cy="152400"/>
          </a:xfrm>
          <a:prstGeom prst="ellipse">
            <a:avLst/>
          </a:prstGeom>
          <a:solidFill>
            <a:srgbClr val="3367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43500" y="238125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Oct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43500" y="300990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Prototype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43500" y="327660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Cost-per-outcome dashboard on one live deployment’s data. 3 pw.</a:t>
            </a:r>
          </a:p>
        </p:txBody>
      </p:sp>
      <p:sp>
        <p:nvSpPr>
          <p:cNvPr id="27" name="Oval 26"/>
          <p:cNvSpPr/>
          <p:nvPr/>
        </p:nvSpPr>
        <p:spPr>
          <a:xfrm>
            <a:off x="8162925" y="2695575"/>
            <a:ext cx="152400" cy="152400"/>
          </a:xfrm>
          <a:prstGeom prst="ellipse">
            <a:avLst/>
          </a:prstGeom>
          <a:solidFill>
            <a:srgbClr val="3367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86625" y="238125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Nov-Dec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6625" y="300990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Proof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86625" y="327660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2-3 week diagnostic at a live customer: waste quantified, ROI re-proved. 3 pw.</a:t>
            </a:r>
          </a:p>
        </p:txBody>
      </p:sp>
      <p:sp>
        <p:nvSpPr>
          <p:cNvPr id="31" name="Diamond 30"/>
          <p:cNvSpPr/>
          <p:nvPr/>
        </p:nvSpPr>
        <p:spPr>
          <a:xfrm>
            <a:off x="10277475" y="2667000"/>
            <a:ext cx="209550" cy="209550"/>
          </a:xfrm>
          <a:prstGeom prst="diamond">
            <a:avLst/>
          </a:prstGeom>
          <a:solidFill>
            <a:srgbClr val="3367FF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29750" y="238125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Jan 2027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29750" y="300990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First signature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9750" y="327660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€15-50K diagnostic + 15-35% gain share; quarterly recurrence begins.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14350" y="4400550"/>
            <a:ext cx="11163300" cy="914400"/>
          </a:xfrm>
          <a:prstGeom prst="roundRect">
            <a:avLst>
              <a:gd name="adj" fmla="val 8000"/>
            </a:avLst>
          </a:prstGeom>
          <a:solidFill>
            <a:srgbClr val="04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1050" y="4552950"/>
            <a:ext cx="2409825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69FEFF"/>
                </a:solidFill>
                <a:latin typeface="Libre Franklin"/>
              </a:rPr>
              <a:t>BUILD EFFORT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1050" y="4800600"/>
            <a:ext cx="2409825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087" b="1">
                <a:solidFill>
                  <a:srgbClr val="FFFFFF"/>
                </a:solidFill>
                <a:latin typeface="Libre Franklin"/>
              </a:rPr>
              <a:t>6-8 person-wks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71875" y="4552950"/>
            <a:ext cx="2409825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69FEFF"/>
                </a:solidFill>
                <a:latin typeface="Libre Franklin"/>
              </a:rPr>
              <a:t>DELIVERY PER INSTALL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71875" y="4800600"/>
            <a:ext cx="2409825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087" b="1">
                <a:solidFill>
                  <a:srgbClr val="FFFFFF"/>
                </a:solidFill>
                <a:latin typeface="Libre Franklin"/>
              </a:rPr>
              <a:t>2-3 wks · 3-4 pw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2700" y="4552950"/>
            <a:ext cx="2409825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69FEFF"/>
                </a:solidFill>
                <a:latin typeface="Libre Franklin"/>
              </a:rPr>
              <a:t>POD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2700" y="4800600"/>
            <a:ext cx="2409825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087" b="1">
                <a:solidFill>
                  <a:srgbClr val="FFFFFF"/>
                </a:solidFill>
                <a:latin typeface="Libre Franklin"/>
              </a:rPr>
              <a:t>VC 0.5 + SE 0.25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53525" y="4552950"/>
            <a:ext cx="2409825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69FEFF"/>
                </a:solidFill>
                <a:latin typeface="Libre Franklin"/>
              </a:rPr>
              <a:t>MODEL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53525" y="4800600"/>
            <a:ext cx="2409825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087" b="1">
                <a:solidFill>
                  <a:srgbClr val="FFFFFF"/>
                </a:solidFill>
                <a:latin typeface="Libre Franklin"/>
              </a:rPr>
              <a:t>Recurring + gain share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2425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242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3957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5100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6225" y="200025"/>
            <a:ext cx="76200" cy="1524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025" y="276225"/>
            <a:ext cx="76200" cy="762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350" y="514350"/>
            <a:ext cx="8572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3367FF"/>
                </a:solidFill>
                <a:latin typeface="Libre Franklin"/>
              </a:rPr>
              <a:t>EXECUTION PLAN 5 · ENGINE B · AI-NATIVE SERVICES · WHAT IT 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781050"/>
            <a:ext cx="102870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Engine B redesigns the bank’s org chart for a world where agents do the work.</a:t>
            </a:r>
          </a:p>
        </p:txBody>
      </p:sp>
      <p:pic>
        <p:nvPicPr>
          <p:cNvPr id="10" name="Picture 9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2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6B7786"/>
                </a:solidFill>
                <a:latin typeface="Libre Franklin"/>
              </a:rPr>
              <a:t>1</a:t>
            </a:fld>
          </a:p>
        </p:txBody>
      </p:sp>
      <p:sp>
        <p:nvSpPr>
          <p:cNvPr id="12" name="Rectangle 11"/>
          <p:cNvSpPr/>
          <p:nvPr/>
        </p:nvSpPr>
        <p:spPr>
          <a:xfrm>
            <a:off x="514350" y="6172200"/>
            <a:ext cx="111633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" y="6238875"/>
            <a:ext cx="111633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Sequencing rule: sold only downstream of a wedge install, so the design runs on the bank’s own evidence. Ticket of €80-150K is an assumption to validate against market org-design pricing.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350" y="1905000"/>
            <a:ext cx="4286250" cy="3048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4350" y="1981199"/>
            <a:ext cx="38100" cy="28956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900" y="2038349"/>
            <a:ext cx="3905249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3367FF"/>
                </a:solidFill>
                <a:latin typeface="Libre Franklin"/>
              </a:rPr>
              <a:t>THE ACTIVITIES, WEEK BY WEEK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900" y="2305050"/>
            <a:ext cx="3905249" cy="2514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Maturity assessment (2-3 wks) · score every LOB × ops area on the A1-A5 autonomy curve; readiness on data, guardrails, skills</a:t>
            </a:r>
          </a:p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Workforce optimization (3-4 wks) · which roles rise up the value chain, which collapse into agents; in-loop, on-loop, above-loop boundaries per function</a:t>
            </a:r>
          </a:p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Org design flagship (4-6 wks) · target inverted-T org: a thin high-judgment human layer over an agent workforce, bound by a governance spine</a:t>
            </a:r>
          </a:p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Transition path · function by function up the curve; the org chart follows the highest-autonomy function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0" y="1905000"/>
            <a:ext cx="3238500" cy="3048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0" y="1981199"/>
            <a:ext cx="38100" cy="28956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38750" y="2038349"/>
            <a:ext cx="2857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3367FF"/>
                </a:solidFill>
                <a:latin typeface="Libre Franklin"/>
              </a:rPr>
              <a:t>WHAT IT ENTAILS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8750" y="2305050"/>
            <a:ext cx="2857500" cy="2514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Sponsor: CEO, COO or CHRO; ExCo workshops</a:t>
            </a:r>
          </a:p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Inputs: Engine A evidence: X-Ray autonomy scores, Guardrail authority map, telemetry baselines</a:t>
            </a:r>
          </a:p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HR data: role inventory, spans and layers</a:t>
            </a:r>
          </a:p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Pod: VC 1.0 + org/HR SME on call</a:t>
            </a:r>
          </a:p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Method: AI-Native Org Design draft v0.1 exists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96300" y="1905000"/>
            <a:ext cx="3181350" cy="3048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496300" y="1981199"/>
            <a:ext cx="38100" cy="28956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05850" y="2038349"/>
            <a:ext cx="280035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3367FF"/>
                </a:solidFill>
                <a:latin typeface="Libre Franklin"/>
              </a:rPr>
              <a:t>WHAT COMES OUT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05850" y="2305050"/>
            <a:ext cx="2800350" cy="2514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A1-A5 maturity heatmap by function, current vs target</a:t>
            </a:r>
          </a:p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Workforce transition map: roles rising, collapsing, new</a:t>
            </a:r>
          </a:p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Target org chart: the inverted-T, with the governance spine</a:t>
            </a:r>
          </a:p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New-role definitions: Mission Owners, AgentOps, Exception Desks</a:t>
            </a:r>
          </a:p>
          <a:p>
            <a:pPr algn="l">
              <a:lnSpc>
                <a:spcPct val="122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· Function-by-function transition roadmap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4350" y="5143500"/>
            <a:ext cx="11163300" cy="685800"/>
          </a:xfrm>
          <a:prstGeom prst="roundRect">
            <a:avLst>
              <a:gd name="adj" fmla="val 8000"/>
            </a:avLst>
          </a:prstGeom>
          <a:solidFill>
            <a:srgbClr val="E5E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2950" y="5276850"/>
            <a:ext cx="2857500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75" b="1">
                <a:solidFill>
                  <a:srgbClr val="264EC7"/>
                </a:solidFill>
                <a:latin typeface="Libre Franklin"/>
              </a:rPr>
              <a:t>How it adds up.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14750" y="5257800"/>
            <a:ext cx="7734300" cy="4762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041326"/>
                </a:solidFill>
                <a:latin typeface="Libre Franklin"/>
              </a:rPr>
              <a:t>Engine B opens the door Engine A cannot: the CEO and CHRO at operating-model altitude. An organisation designed around Missions renews the platform that runs them.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2425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242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3957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5100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6225" y="200025"/>
            <a:ext cx="76200" cy="1524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025" y="276225"/>
            <a:ext cx="76200" cy="762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350" y="514350"/>
            <a:ext cx="8572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3367FF"/>
                </a:solidFill>
                <a:latin typeface="Libre Franklin"/>
              </a:rPr>
              <a:t>EXECUTION PLAN 5 · ENGINE B · SAMPLE OUTPUTS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781050"/>
            <a:ext cx="102870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Engine B shows the bank the org it will need, drawn from its own autonomy evidence.</a:t>
            </a:r>
          </a:p>
        </p:txBody>
      </p:sp>
      <p:pic>
        <p:nvPicPr>
          <p:cNvPr id="10" name="Picture 9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2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6B7786"/>
                </a:solidFill>
                <a:latin typeface="Libre Franklin"/>
              </a:rPr>
              <a:t>1</a:t>
            </a:fld>
          </a:p>
        </p:txBody>
      </p:sp>
      <p:sp>
        <p:nvSpPr>
          <p:cNvPr id="12" name="Rectangle 11"/>
          <p:cNvSpPr/>
          <p:nvPr/>
        </p:nvSpPr>
        <p:spPr>
          <a:xfrm>
            <a:off x="514350" y="6172200"/>
            <a:ext cx="111633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" y="6238875"/>
            <a:ext cx="111633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Illustrative specimen: every figure on this slide is a placeholder, re-based on the bank’s own data during the engagement.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350" y="1905000"/>
            <a:ext cx="3562350" cy="3143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019300"/>
            <a:ext cx="321945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3367FF"/>
                </a:solidFill>
                <a:latin typeface="Libre Franklin"/>
              </a:rPr>
              <a:t>AUTONOMY MATURITY HEATMAP · CURRENT → TARGET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2343150"/>
            <a:ext cx="3219450" cy="36195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9150" y="2428875"/>
            <a:ext cx="142875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041326"/>
                </a:solidFill>
                <a:latin typeface="Libre Franklin"/>
              </a:rPr>
              <a:t>Disputes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86000" y="2419350"/>
            <a:ext cx="400050" cy="209550"/>
          </a:xfrm>
          <a:prstGeom prst="roundRect">
            <a:avLst>
              <a:gd name="adj" fmla="val 8000"/>
            </a:avLst>
          </a:prstGeom>
          <a:solidFill>
            <a:srgbClr val="99B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86000" y="2438400"/>
            <a:ext cx="400050" cy="1714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50" b="1">
                <a:solidFill>
                  <a:srgbClr val="041326"/>
                </a:solidFill>
                <a:latin typeface="Libre Franklin"/>
              </a:rPr>
              <a:t>A2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2428875"/>
            <a:ext cx="2286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825" b="0">
                <a:solidFill>
                  <a:srgbClr val="6B7786"/>
                </a:solidFill>
                <a:latin typeface="Libre Franklin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009900" y="2419350"/>
            <a:ext cx="400050" cy="209550"/>
          </a:xfrm>
          <a:prstGeom prst="roundRect">
            <a:avLst>
              <a:gd name="adj" fmla="val 8000"/>
            </a:avLst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09900" y="2438400"/>
            <a:ext cx="400050" cy="1714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50" b="1">
                <a:solidFill>
                  <a:srgbClr val="FFFFFF"/>
                </a:solidFill>
                <a:latin typeface="Libre Franklin"/>
              </a:rPr>
              <a:t>A4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2781300"/>
            <a:ext cx="3219450" cy="36195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150" y="2867025"/>
            <a:ext cx="142875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041326"/>
                </a:solidFill>
                <a:latin typeface="Libre Franklin"/>
              </a:rPr>
              <a:t>Onboarding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286000" y="2857500"/>
            <a:ext cx="400050" cy="209550"/>
          </a:xfrm>
          <a:prstGeom prst="roundRect">
            <a:avLst>
              <a:gd name="adj" fmla="val 8000"/>
            </a:avLst>
          </a:prstGeom>
          <a:solidFill>
            <a:srgbClr val="99B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86000" y="2876550"/>
            <a:ext cx="400050" cy="1714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50" b="1">
                <a:solidFill>
                  <a:srgbClr val="041326"/>
                </a:solidFill>
                <a:latin typeface="Libre Franklin"/>
              </a:rPr>
              <a:t>A1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2867025"/>
            <a:ext cx="2286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825" b="0">
                <a:solidFill>
                  <a:srgbClr val="6B7786"/>
                </a:solidFill>
                <a:latin typeface="Libre Franklin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09900" y="2857500"/>
            <a:ext cx="400050" cy="209550"/>
          </a:xfrm>
          <a:prstGeom prst="roundRect">
            <a:avLst>
              <a:gd name="adj" fmla="val 8000"/>
            </a:avLst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009900" y="2876550"/>
            <a:ext cx="400050" cy="1714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50" b="1">
                <a:solidFill>
                  <a:srgbClr val="FFFFFF"/>
                </a:solidFill>
                <a:latin typeface="Libre Franklin"/>
              </a:rPr>
              <a:t>A3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3219450"/>
            <a:ext cx="3219450" cy="36195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9150" y="3305175"/>
            <a:ext cx="142875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041326"/>
                </a:solidFill>
                <a:latin typeface="Libre Franklin"/>
              </a:rPr>
              <a:t>KYC review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286000" y="3295650"/>
            <a:ext cx="400050" cy="209550"/>
          </a:xfrm>
          <a:prstGeom prst="roundRect">
            <a:avLst>
              <a:gd name="adj" fmla="val 8000"/>
            </a:avLst>
          </a:prstGeom>
          <a:solidFill>
            <a:srgbClr val="99B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286000" y="3314700"/>
            <a:ext cx="400050" cy="1714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50" b="1">
                <a:solidFill>
                  <a:srgbClr val="041326"/>
                </a:solidFill>
                <a:latin typeface="Libre Franklin"/>
              </a:rPr>
              <a:t>A2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305175"/>
            <a:ext cx="2286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825" b="0">
                <a:solidFill>
                  <a:srgbClr val="6B7786"/>
                </a:solidFill>
                <a:latin typeface="Libre Franklin"/>
              </a:rP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009900" y="3295650"/>
            <a:ext cx="400050" cy="209550"/>
          </a:xfrm>
          <a:prstGeom prst="roundRect">
            <a:avLst>
              <a:gd name="adj" fmla="val 8000"/>
            </a:avLst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09900" y="3314700"/>
            <a:ext cx="400050" cy="1714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50" b="1">
                <a:solidFill>
                  <a:srgbClr val="FFFFFF"/>
                </a:solidFill>
                <a:latin typeface="Libre Franklin"/>
              </a:rPr>
              <a:t>A4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" y="3657600"/>
            <a:ext cx="3219450" cy="36195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9150" y="3743325"/>
            <a:ext cx="142875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041326"/>
                </a:solidFill>
                <a:latin typeface="Libre Franklin"/>
              </a:rPr>
              <a:t>Contact centre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286000" y="3733799"/>
            <a:ext cx="400050" cy="209550"/>
          </a:xfrm>
          <a:prstGeom prst="roundRect">
            <a:avLst>
              <a:gd name="adj" fmla="val 8000"/>
            </a:avLst>
          </a:prstGeom>
          <a:solidFill>
            <a:srgbClr val="99B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286000" y="3752850"/>
            <a:ext cx="400050" cy="1714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50" b="1">
                <a:solidFill>
                  <a:srgbClr val="041326"/>
                </a:solidFill>
                <a:latin typeface="Libre Franklin"/>
              </a:rPr>
              <a:t>A2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43200" y="3743325"/>
            <a:ext cx="2286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825" b="0">
                <a:solidFill>
                  <a:srgbClr val="6B7786"/>
                </a:solidFill>
                <a:latin typeface="Libre Franklin"/>
              </a:rPr>
              <a:t>→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009900" y="3733799"/>
            <a:ext cx="400050" cy="209550"/>
          </a:xfrm>
          <a:prstGeom prst="roundRect">
            <a:avLst>
              <a:gd name="adj" fmla="val 8000"/>
            </a:avLst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09900" y="3752850"/>
            <a:ext cx="400050" cy="1714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50" b="1">
                <a:solidFill>
                  <a:srgbClr val="FFFFFF"/>
                </a:solidFill>
                <a:latin typeface="Libre Franklin"/>
              </a:rPr>
              <a:t>A4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85800" y="4095750"/>
            <a:ext cx="3219450" cy="36195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9150" y="4181475"/>
            <a:ext cx="142875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041326"/>
                </a:solidFill>
                <a:latin typeface="Libre Franklin"/>
              </a:rPr>
              <a:t>Credit servicing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86000" y="4171950"/>
            <a:ext cx="400050" cy="209550"/>
          </a:xfrm>
          <a:prstGeom prst="roundRect">
            <a:avLst>
              <a:gd name="adj" fmla="val 8000"/>
            </a:avLst>
          </a:prstGeom>
          <a:solidFill>
            <a:srgbClr val="99B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286000" y="4190999"/>
            <a:ext cx="400050" cy="1714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50" b="1">
                <a:solidFill>
                  <a:srgbClr val="041326"/>
                </a:solidFill>
                <a:latin typeface="Libre Franklin"/>
              </a:rPr>
              <a:t>A1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43200" y="4181475"/>
            <a:ext cx="2286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825" b="0">
                <a:solidFill>
                  <a:srgbClr val="6B7786"/>
                </a:solidFill>
                <a:latin typeface="Libre Franklin"/>
              </a:rPr>
              <a:t>→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009900" y="4171950"/>
            <a:ext cx="400050" cy="209550"/>
          </a:xfrm>
          <a:prstGeom prst="roundRect">
            <a:avLst>
              <a:gd name="adj" fmla="val 8000"/>
            </a:avLst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009900" y="4190999"/>
            <a:ext cx="400050" cy="1714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50" b="1">
                <a:solidFill>
                  <a:srgbClr val="FFFFFF"/>
                </a:solidFill>
                <a:latin typeface="Libre Franklin"/>
              </a:rPr>
              <a:t>A3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5800" y="4610100"/>
            <a:ext cx="3219450" cy="3429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750" b="1">
                <a:solidFill>
                  <a:srgbClr val="3367FF"/>
                </a:solidFill>
                <a:latin typeface="Libre Franklin"/>
              </a:rPr>
              <a:t>→ scored from X-Ray + Guardrail evidence, never from interviews alone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314825" y="1905000"/>
            <a:ext cx="3562350" cy="3143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486275" y="2019300"/>
            <a:ext cx="321945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3367FF"/>
                </a:solidFill>
                <a:latin typeface="Libre Franklin"/>
              </a:rPr>
              <a:t>THE ORG SHIFT · PYRAMID → INVERTED-T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962525" y="2476500"/>
            <a:ext cx="571500" cy="266700"/>
          </a:xfrm>
          <a:prstGeom prst="rect">
            <a:avLst/>
          </a:prstGeom>
          <a:solidFill>
            <a:srgbClr val="99B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724400" y="2800350"/>
            <a:ext cx="1047749" cy="266700"/>
          </a:xfrm>
          <a:prstGeom prst="rect">
            <a:avLst/>
          </a:prstGeom>
          <a:solidFill>
            <a:srgbClr val="99B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486275" y="3124200"/>
            <a:ext cx="1524000" cy="266700"/>
          </a:xfrm>
          <a:prstGeom prst="rect">
            <a:avLst/>
          </a:prstGeom>
          <a:solidFill>
            <a:srgbClr val="99B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486275" y="3524250"/>
            <a:ext cx="152400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0000"/>
              </a:lnSpc>
            </a:pPr>
            <a:r>
              <a:rPr sz="712" b="0">
                <a:solidFill>
                  <a:srgbClr val="6B7786"/>
                </a:solidFill>
                <a:latin typeface="Libre Franklin"/>
              </a:rPr>
              <a:t>Today: layers of</a:t>
            </a:r>
          </a:p>
          <a:p>
            <a:pPr algn="ctr">
              <a:lnSpc>
                <a:spcPct val="110000"/>
              </a:lnSpc>
            </a:pPr>
            <a:r>
              <a:rPr sz="712" b="0">
                <a:solidFill>
                  <a:srgbClr val="6B7786"/>
                </a:solidFill>
                <a:latin typeface="Libre Franklin"/>
              </a:rPr>
              <a:t>human processing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91225" y="2857500"/>
            <a:ext cx="28575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6B7786"/>
                </a:solidFill>
                <a:latin typeface="Libre Franklin"/>
              </a:rPr>
              <a:t>→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219825" y="2476500"/>
            <a:ext cx="1524000" cy="2667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38875" y="2524125"/>
            <a:ext cx="1485900" cy="1714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637" b="1">
                <a:solidFill>
                  <a:srgbClr val="FFFFFF"/>
                </a:solidFill>
                <a:latin typeface="Libre Franklin"/>
              </a:rPr>
              <a:t>Human judgment layer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791325" y="2781300"/>
            <a:ext cx="381000" cy="647700"/>
          </a:xfrm>
          <a:prstGeom prst="rect">
            <a:avLst/>
          </a:prstGeom>
          <a:solidFill>
            <a:srgbClr val="04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238875" y="3524250"/>
            <a:ext cx="152400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0000"/>
              </a:lnSpc>
            </a:pPr>
            <a:r>
              <a:rPr sz="712" b="0">
                <a:solidFill>
                  <a:srgbClr val="6B7786"/>
                </a:solidFill>
                <a:latin typeface="Libre Franklin"/>
              </a:rPr>
              <a:t>Governance + AgentOps spine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486275" y="4000500"/>
            <a:ext cx="3219450" cy="323850"/>
          </a:xfrm>
          <a:prstGeom prst="roundRect">
            <a:avLst>
              <a:gd name="adj" fmla="val 8000"/>
            </a:avLst>
          </a:prstGeom>
          <a:solidFill>
            <a:srgbClr val="E5E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600575" y="4076699"/>
            <a:ext cx="299085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264EC7"/>
                </a:solidFill>
                <a:latin typeface="Libre Franklin"/>
              </a:rPr>
              <a:t>Agent workforce running Missions underneath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486275" y="4610100"/>
            <a:ext cx="321945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3367FF"/>
                </a:solidFill>
                <a:latin typeface="Libre Franklin"/>
              </a:rPr>
              <a:t>→ the flagship exhibit for the CEO and CHRO conversation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115300" y="1905000"/>
            <a:ext cx="3562350" cy="3143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286750" y="2019300"/>
            <a:ext cx="321945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3367FF"/>
                </a:solidFill>
                <a:latin typeface="Libre Franklin"/>
              </a:rPr>
              <a:t>NEW ROLES ON THE TARGET CHART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286750" y="2343150"/>
            <a:ext cx="3219450" cy="381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286750" y="2390775"/>
            <a:ext cx="38100" cy="28575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420100" y="2381250"/>
            <a:ext cx="142875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041326"/>
                </a:solidFill>
                <a:latin typeface="Libre Franklin"/>
              </a:rPr>
              <a:t>Mission Owners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715500" y="2390775"/>
            <a:ext cx="1695450" cy="3238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675" b="0">
                <a:solidFill>
                  <a:srgbClr val="6B7786"/>
                </a:solidFill>
                <a:latin typeface="Libre Franklin"/>
              </a:rPr>
              <a:t>own agent-delivered outcomes per LOB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286750" y="2800350"/>
            <a:ext cx="3219450" cy="381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286750" y="2847975"/>
            <a:ext cx="38100" cy="28575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420100" y="2838450"/>
            <a:ext cx="142875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041326"/>
                </a:solidFill>
                <a:latin typeface="Libre Franklin"/>
              </a:rPr>
              <a:t>AgentOps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715500" y="2847975"/>
            <a:ext cx="1695450" cy="3238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675" b="0">
                <a:solidFill>
                  <a:srgbClr val="6B7786"/>
                </a:solidFill>
                <a:latin typeface="Libre Franklin"/>
              </a:rPr>
              <a:t>deploy, monitor, optimize the fleet; home of FinOps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286750" y="3257550"/>
            <a:ext cx="3219450" cy="381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286750" y="3305175"/>
            <a:ext cx="38100" cy="28575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420100" y="3295650"/>
            <a:ext cx="142875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041326"/>
                </a:solidFill>
                <a:latin typeface="Libre Franklin"/>
              </a:rPr>
              <a:t>Nexus Stewards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715500" y="3305175"/>
            <a:ext cx="1695450" cy="3238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675" b="0">
                <a:solidFill>
                  <a:srgbClr val="6B7786"/>
                </a:solidFill>
                <a:latin typeface="Libre Franklin"/>
              </a:rPr>
              <a:t>data-as-product; keepers of shared truth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286750" y="3714750"/>
            <a:ext cx="3219450" cy="381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286750" y="3762374"/>
            <a:ext cx="38100" cy="28575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420100" y="3752850"/>
            <a:ext cx="142875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041326"/>
                </a:solidFill>
                <a:latin typeface="Libre Franklin"/>
              </a:rPr>
              <a:t>Sentinel Governance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715500" y="3762374"/>
            <a:ext cx="1695450" cy="3238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675" b="0">
                <a:solidFill>
                  <a:srgbClr val="6B7786"/>
                </a:solidFill>
                <a:latin typeface="Libre Franklin"/>
              </a:rPr>
              <a:t>AI assurance, authority, audit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8286750" y="4171950"/>
            <a:ext cx="3219450" cy="381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8286750" y="4219575"/>
            <a:ext cx="38100" cy="28575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420100" y="4210050"/>
            <a:ext cx="142875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041326"/>
                </a:solidFill>
                <a:latin typeface="Libre Franklin"/>
              </a:rPr>
              <a:t>Exception Desks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715500" y="4219575"/>
            <a:ext cx="1695450" cy="3238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675" b="0">
                <a:solidFill>
                  <a:srgbClr val="6B7786"/>
                </a:solidFill>
                <a:latin typeface="Libre Franklin"/>
              </a:rPr>
              <a:t>the re-skilled processing floor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286750" y="4705350"/>
            <a:ext cx="321945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3367FF"/>
                </a:solidFill>
                <a:latin typeface="Libre Franklin"/>
              </a:rPr>
              <a:t>→ every role binds the org to a Banking OS construct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2425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242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3957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5100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6225" y="200025"/>
            <a:ext cx="76200" cy="1524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025" y="276225"/>
            <a:ext cx="76200" cy="762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350" y="514350"/>
            <a:ext cx="8572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3367FF"/>
                </a:solidFill>
                <a:latin typeface="Libre Franklin"/>
              </a:rPr>
              <a:t>EXECUTION PLAN 5 · ENGINE B · THE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781050"/>
            <a:ext cx="102870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Engine B hardens the v0.1 method now, and sells its first engagement downstream of X-Ray.</a:t>
            </a:r>
          </a:p>
        </p:txBody>
      </p:sp>
      <p:pic>
        <p:nvPicPr>
          <p:cNvPr id="10" name="Picture 9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2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6B7786"/>
                </a:solidFill>
                <a:latin typeface="Libre Franklin"/>
              </a:rPr>
              <a:t>1</a:t>
            </a:fld>
          </a:p>
        </p:txBody>
      </p:sp>
      <p:sp>
        <p:nvSpPr>
          <p:cNvPr id="12" name="Rectangle 11"/>
          <p:cNvSpPr/>
          <p:nvPr/>
        </p:nvSpPr>
        <p:spPr>
          <a:xfrm>
            <a:off x="514350" y="6172200"/>
            <a:ext cx="111633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" y="6238875"/>
            <a:ext cx="111633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Ticket of €80-150K is an assumption to validate: anchor against market org-design pricing and the value of the workforce decisions it informs. The moat is the evidence feed, never the method alone.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09750" y="2762250"/>
            <a:ext cx="8572500" cy="22859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733550" y="2695575"/>
            <a:ext cx="152400" cy="152400"/>
          </a:xfrm>
          <a:prstGeom prst="ellipse">
            <a:avLst/>
          </a:prstGeom>
          <a:solidFill>
            <a:srgbClr val="3367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7250" y="238125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Sep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250" y="300990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Method hardening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250" y="327660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Pressure-test org-design v0.1 with Mayur; codify the delivery kit. 4 pw.</a:t>
            </a:r>
          </a:p>
        </p:txBody>
      </p:sp>
      <p:sp>
        <p:nvSpPr>
          <p:cNvPr id="19" name="Oval 18"/>
          <p:cNvSpPr/>
          <p:nvPr/>
        </p:nvSpPr>
        <p:spPr>
          <a:xfrm>
            <a:off x="3876674" y="2695575"/>
            <a:ext cx="152400" cy="152400"/>
          </a:xfrm>
          <a:prstGeom prst="ellipse">
            <a:avLst/>
          </a:prstGeom>
          <a:solidFill>
            <a:srgbClr val="3367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00375" y="238125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Oct-Dec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00375" y="300990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Evidence binding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00375" y="327660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Wire the method to X-Ray and Guardrail outputs: autonomy scores feed the org model.</a:t>
            </a:r>
          </a:p>
        </p:txBody>
      </p:sp>
      <p:sp>
        <p:nvSpPr>
          <p:cNvPr id="23" name="Diamond 22"/>
          <p:cNvSpPr/>
          <p:nvPr/>
        </p:nvSpPr>
        <p:spPr>
          <a:xfrm>
            <a:off x="5991225" y="2667000"/>
            <a:ext cx="209550" cy="209550"/>
          </a:xfrm>
          <a:prstGeom prst="diamond">
            <a:avLst/>
          </a:prstGeom>
          <a:solidFill>
            <a:srgbClr val="FF503C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43500" y="238125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Q1 2027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43500" y="300990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Sequencing 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43500" y="327660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First sale only downstream of a wedge install; never sold cold.</a:t>
            </a:r>
          </a:p>
        </p:txBody>
      </p:sp>
      <p:sp>
        <p:nvSpPr>
          <p:cNvPr id="27" name="Oval 26"/>
          <p:cNvSpPr/>
          <p:nvPr/>
        </p:nvSpPr>
        <p:spPr>
          <a:xfrm>
            <a:off x="8162925" y="2695575"/>
            <a:ext cx="152400" cy="152400"/>
          </a:xfrm>
          <a:prstGeom prst="ellipse">
            <a:avLst/>
          </a:prstGeom>
          <a:solidFill>
            <a:srgbClr val="3367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86625" y="238125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Mar-May 2027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6625" y="300990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First engagement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86625" y="327660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Maturity + workforce + org design at the X-Ray pilot account. 10-14 pw.</a:t>
            </a:r>
          </a:p>
        </p:txBody>
      </p:sp>
      <p:sp>
        <p:nvSpPr>
          <p:cNvPr id="31" name="Diamond 30"/>
          <p:cNvSpPr/>
          <p:nvPr/>
        </p:nvSpPr>
        <p:spPr>
          <a:xfrm>
            <a:off x="10277475" y="2667000"/>
            <a:ext cx="209550" cy="209550"/>
          </a:xfrm>
          <a:prstGeom prst="diamond">
            <a:avLst/>
          </a:prstGeom>
          <a:solidFill>
            <a:srgbClr val="3367FF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29750" y="238125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Jun 2027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29750" y="300990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Flagship scale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9750" y="327660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CEO/CHRO-altitude offer; Early Access cohort accounts first.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14350" y="4400550"/>
            <a:ext cx="11163300" cy="914400"/>
          </a:xfrm>
          <a:prstGeom prst="roundRect">
            <a:avLst>
              <a:gd name="adj" fmla="val 8000"/>
            </a:avLst>
          </a:prstGeom>
          <a:solidFill>
            <a:srgbClr val="04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1050" y="4552950"/>
            <a:ext cx="2409825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69FEFF"/>
                </a:solidFill>
                <a:latin typeface="Libre Franklin"/>
              </a:rPr>
              <a:t>BUILD EFFORT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1050" y="4800600"/>
            <a:ext cx="2409825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087" b="1">
                <a:solidFill>
                  <a:srgbClr val="FFFFFF"/>
                </a:solidFill>
                <a:latin typeface="Libre Franklin"/>
              </a:rPr>
              <a:t>6-8 pw (v0.1 exists)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71875" y="4552950"/>
            <a:ext cx="2409825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69FEFF"/>
                </a:solidFill>
                <a:latin typeface="Libre Franklin"/>
              </a:rPr>
              <a:t>DELIVERY PER ENGAGEMENT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71875" y="4800600"/>
            <a:ext cx="2409825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087" b="1">
                <a:solidFill>
                  <a:srgbClr val="FFFFFF"/>
                </a:solidFill>
                <a:latin typeface="Libre Franklin"/>
              </a:rPr>
              <a:t>6-8 wks · 10-14 pw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2700" y="4552950"/>
            <a:ext cx="2409825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69FEFF"/>
                </a:solidFill>
                <a:latin typeface="Libre Franklin"/>
              </a:rPr>
              <a:t>POD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2700" y="4800600"/>
            <a:ext cx="2409825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087" b="1">
                <a:solidFill>
                  <a:srgbClr val="FFFFFF"/>
                </a:solidFill>
                <a:latin typeface="Libre Franklin"/>
              </a:rPr>
              <a:t>VC 1.0 + org SME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53525" y="4552950"/>
            <a:ext cx="2409825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69FEFF"/>
                </a:solidFill>
                <a:latin typeface="Libre Franklin"/>
              </a:rPr>
              <a:t>PRE-BINDS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53525" y="4800600"/>
            <a:ext cx="2409825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087" b="1">
                <a:solidFill>
                  <a:srgbClr val="FFFFFF"/>
                </a:solidFill>
                <a:latin typeface="Libre Franklin"/>
              </a:rPr>
              <a:t>The human layer of Banking OS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2425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242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3957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5100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6225" y="200025"/>
            <a:ext cx="76200" cy="1524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025" y="276225"/>
            <a:ext cx="76200" cy="762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350" y="514350"/>
            <a:ext cx="8572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3367FF"/>
                </a:solidFill>
                <a:latin typeface="Libre Franklin"/>
              </a:rPr>
              <a:t>EXECUTION PLANS · THE REGISTER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781050"/>
            <a:ext cx="102870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Twelve months of product build fits inside the existing pod.</a:t>
            </a:r>
          </a:p>
        </p:txBody>
      </p:sp>
      <p:pic>
        <p:nvPicPr>
          <p:cNvPr id="10" name="Picture 9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2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6B7786"/>
                </a:solidFill>
                <a:latin typeface="Libre Franklin"/>
              </a:rPr>
              <a:t>1</a:t>
            </a:fld>
          </a:p>
        </p:txBody>
      </p:sp>
      <p:sp>
        <p:nvSpPr>
          <p:cNvPr id="12" name="Rectangle 11"/>
          <p:cNvSpPr/>
          <p:nvPr/>
        </p:nvSpPr>
        <p:spPr>
          <a:xfrm>
            <a:off x="514350" y="6172200"/>
            <a:ext cx="111633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" y="6238875"/>
            <a:ext cx="111633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pw = person-weeks. Build = one-time productization effort. Delivery = elapsed and effort figures per client install once productized. All efforts carry a ±30% planning tolerance.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350" y="2190750"/>
            <a:ext cx="318135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6B7786"/>
                </a:solidFill>
                <a:latin typeface="Libre Franklin"/>
              </a:rPr>
              <a:t>PRODUCT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99" y="2190750"/>
            <a:ext cx="165735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6B7786"/>
                </a:solidFill>
                <a:latin typeface="Libre Franklin"/>
              </a:rPr>
              <a:t>ONE-TIME BUILD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57850" y="2190750"/>
            <a:ext cx="2038349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6B7786"/>
                </a:solidFill>
                <a:latin typeface="Libre Franklin"/>
              </a:rPr>
              <a:t>DELIVERY PER INSTALL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48600" y="2190750"/>
            <a:ext cx="222885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6B7786"/>
                </a:solidFill>
                <a:latin typeface="Libre Franklin"/>
              </a:rPr>
              <a:t>POD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29850" y="2190750"/>
            <a:ext cx="127635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6B7786"/>
                </a:solidFill>
                <a:latin typeface="Libre Franklin"/>
              </a:rPr>
              <a:t>FIRST REVENUE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4350" y="2476500"/>
            <a:ext cx="11144250" cy="20955"/>
          </a:xfrm>
          <a:prstGeom prst="rect">
            <a:avLst/>
          </a:prstGeom>
          <a:solidFill>
            <a:srgbClr val="04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4350" y="2724150"/>
            <a:ext cx="31813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Process X-Ray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8099" y="2724150"/>
            <a:ext cx="16573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0">
                <a:solidFill>
                  <a:srgbClr val="2A384A"/>
                </a:solidFill>
                <a:latin typeface="Libre Franklin"/>
              </a:rPr>
              <a:t>8-10 pw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57850" y="2724150"/>
            <a:ext cx="2038349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0">
                <a:solidFill>
                  <a:srgbClr val="2A384A"/>
                </a:solidFill>
                <a:latin typeface="Libre Franklin"/>
              </a:rPr>
              <a:t>4-6 wks · 12-14 pw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48600" y="2724150"/>
            <a:ext cx="22288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0">
                <a:solidFill>
                  <a:srgbClr val="2A384A"/>
                </a:solidFill>
                <a:latin typeface="Libre Franklin"/>
              </a:rPr>
              <a:t>VC 1.0 + SE 0.5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9850" y="2724150"/>
            <a:ext cx="12763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0">
                <a:solidFill>
                  <a:srgbClr val="2A384A"/>
                </a:solidFill>
                <a:latin typeface="Libre Franklin"/>
              </a:rPr>
              <a:t>Jan 2027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4350" y="3143250"/>
            <a:ext cx="1114425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4350" y="3314700"/>
            <a:ext cx="31813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Ontology Cartographer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8099" y="3314700"/>
            <a:ext cx="16573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0">
                <a:solidFill>
                  <a:srgbClr val="2A384A"/>
                </a:solidFill>
                <a:latin typeface="Libre Franklin"/>
              </a:rPr>
              <a:t>10-12 pw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57850" y="3314700"/>
            <a:ext cx="2038349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0">
                <a:solidFill>
                  <a:srgbClr val="2A384A"/>
                </a:solidFill>
                <a:latin typeface="Libre Franklin"/>
              </a:rPr>
              <a:t>6-8 wks · 12-16 pw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48600" y="3314700"/>
            <a:ext cx="22288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0">
                <a:solidFill>
                  <a:srgbClr val="2A384A"/>
                </a:solidFill>
                <a:latin typeface="Libre Franklin"/>
              </a:rPr>
              <a:t>SE 1.0 + VC 0.5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29850" y="3314700"/>
            <a:ext cx="12763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0">
                <a:solidFill>
                  <a:srgbClr val="2A384A"/>
                </a:solidFill>
                <a:latin typeface="Libre Franklin"/>
              </a:rPr>
              <a:t>Aug 2027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4350" y="3733799"/>
            <a:ext cx="1114425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4350" y="3905249"/>
            <a:ext cx="31813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Guardrail Studio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48099" y="3905249"/>
            <a:ext cx="16573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0">
                <a:solidFill>
                  <a:srgbClr val="2A384A"/>
                </a:solidFill>
                <a:latin typeface="Libre Franklin"/>
              </a:rPr>
              <a:t>8-10 pw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57850" y="3905249"/>
            <a:ext cx="2038349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0">
                <a:solidFill>
                  <a:srgbClr val="2A384A"/>
                </a:solidFill>
                <a:latin typeface="Libre Franklin"/>
              </a:rPr>
              <a:t>5-6 wks · 8-10 pw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48600" y="3905249"/>
            <a:ext cx="22288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0">
                <a:solidFill>
                  <a:srgbClr val="2A384A"/>
                </a:solidFill>
                <a:latin typeface="Libre Franklin"/>
              </a:rPr>
              <a:t>VC 1.0 + SE 0.5 + SME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29850" y="3905249"/>
            <a:ext cx="12763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0">
                <a:solidFill>
                  <a:srgbClr val="2A384A"/>
                </a:solidFill>
                <a:latin typeface="Libre Franklin"/>
              </a:rPr>
              <a:t>Jun 2027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14350" y="4324350"/>
            <a:ext cx="1114425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14350" y="4495800"/>
            <a:ext cx="31813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Value Telemetry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48099" y="4495800"/>
            <a:ext cx="16573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0">
                <a:solidFill>
                  <a:srgbClr val="2A384A"/>
                </a:solidFill>
                <a:latin typeface="Libre Franklin"/>
              </a:rPr>
              <a:t>6-8 pw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57850" y="4495800"/>
            <a:ext cx="2038349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0">
                <a:solidFill>
                  <a:srgbClr val="2A384A"/>
                </a:solidFill>
                <a:latin typeface="Libre Franklin"/>
              </a:rPr>
              <a:t>2-3 wks · 3-4 pw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48600" y="4495800"/>
            <a:ext cx="22288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0">
                <a:solidFill>
                  <a:srgbClr val="2A384A"/>
                </a:solidFill>
                <a:latin typeface="Libre Franklin"/>
              </a:rPr>
              <a:t>VC 0.5 + SE 0.25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29850" y="4495800"/>
            <a:ext cx="12763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0">
                <a:solidFill>
                  <a:srgbClr val="2A384A"/>
                </a:solidFill>
                <a:latin typeface="Libre Franklin"/>
              </a:rPr>
              <a:t>Jan 2027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14350" y="4914900"/>
            <a:ext cx="1114425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4350" y="5086350"/>
            <a:ext cx="31813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AI-Native Org Design (Engine B)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48099" y="5086350"/>
            <a:ext cx="16573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0">
                <a:solidFill>
                  <a:srgbClr val="2A384A"/>
                </a:solidFill>
                <a:latin typeface="Libre Franklin"/>
              </a:rPr>
              <a:t>6-8 pw (v0.1 exists)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57850" y="5086350"/>
            <a:ext cx="2038349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0">
                <a:solidFill>
                  <a:srgbClr val="2A384A"/>
                </a:solidFill>
                <a:latin typeface="Libre Franklin"/>
              </a:rPr>
              <a:t>6-8 wks · 10-14 pw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48600" y="5086350"/>
            <a:ext cx="22288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0">
                <a:solidFill>
                  <a:srgbClr val="2A384A"/>
                </a:solidFill>
                <a:latin typeface="Libre Franklin"/>
              </a:rPr>
              <a:t>VC 1.0 + org SME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29850" y="5086350"/>
            <a:ext cx="12763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0">
                <a:solidFill>
                  <a:srgbClr val="2A384A"/>
                </a:solidFill>
                <a:latin typeface="Libre Franklin"/>
              </a:rPr>
              <a:t>May 2027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14350" y="5505450"/>
            <a:ext cx="1114425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76375"/>
            <a:ext cx="12192000" cy="13334"/>
          </a:xfrm>
          <a:prstGeom prst="rect">
            <a:avLst/>
          </a:prstGeom>
          <a:solidFill>
            <a:srgbClr val="2E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4825" y="0"/>
            <a:ext cx="13334" cy="6858000"/>
          </a:xfrm>
          <a:prstGeom prst="rect">
            <a:avLst/>
          </a:prstGeom>
          <a:solidFill>
            <a:srgbClr val="2E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687175" y="0"/>
            <a:ext cx="13334" cy="6858000"/>
          </a:xfrm>
          <a:prstGeom prst="rect">
            <a:avLst/>
          </a:prstGeom>
          <a:solidFill>
            <a:srgbClr val="2E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4825" y="4448175"/>
            <a:ext cx="11182350" cy="13334"/>
          </a:xfrm>
          <a:prstGeom prst="rect">
            <a:avLst/>
          </a:prstGeom>
          <a:solidFill>
            <a:srgbClr val="2E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8625" y="1323975"/>
            <a:ext cx="76200" cy="152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52425" y="1400175"/>
            <a:ext cx="76200" cy="76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ackbase-wordmark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55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5A6B80"/>
                </a:solidFill>
                <a:latin typeface="Libre Franklin"/>
              </a:rPr>
              <a:t>1</a:t>
            </a:fld>
          </a:p>
        </p:txBody>
      </p:sp>
      <p:sp>
        <p:nvSpPr>
          <p:cNvPr id="10" name="TextBox 9"/>
          <p:cNvSpPr txBox="1"/>
          <p:nvPr/>
        </p:nvSpPr>
        <p:spPr>
          <a:xfrm>
            <a:off x="1019174" y="2019300"/>
            <a:ext cx="6667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69FEFF"/>
                </a:solidFill>
                <a:latin typeface="Libre Franklin"/>
              </a:rPr>
              <a:t>03 · CHAPTER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0125" y="2381250"/>
            <a:ext cx="9525000" cy="76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Libre Franklin"/>
              </a:rPr>
              <a:t>Mobilization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9174" y="3333750"/>
            <a:ext cx="9334500" cy="571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1125" b="0">
                <a:solidFill>
                  <a:srgbClr val="C5CFDE"/>
                </a:solidFill>
                <a:latin typeface="Libre Franklin"/>
              </a:rPr>
              <a:t>The twelve-month sequence, how the Delivery Factory carries it, and the asks that unlock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2425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242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3957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5100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6225" y="200025"/>
            <a:ext cx="76200" cy="1524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025" y="276225"/>
            <a:ext cx="76200" cy="762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350" y="514350"/>
            <a:ext cx="8572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3367FF"/>
                </a:solidFill>
                <a:latin typeface="Libre Franklin"/>
              </a:rPr>
              <a:t>MOBILIZATION · THE SEQUENCE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781050"/>
            <a:ext cx="102870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One product at a time reaches four sellable SKUs and recurring revenue inside twelve months.</a:t>
            </a:r>
          </a:p>
        </p:txBody>
      </p:sp>
      <p:pic>
        <p:nvPicPr>
          <p:cNvPr id="10" name="Picture 9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2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6B7786"/>
                </a:solidFill>
                <a:latin typeface="Libre Franklin"/>
              </a:rPr>
              <a:t>1</a:t>
            </a:fld>
          </a:p>
        </p:txBody>
      </p:sp>
      <p:sp>
        <p:nvSpPr>
          <p:cNvPr id="12" name="Rectangle 11"/>
          <p:cNvSpPr/>
          <p:nvPr/>
        </p:nvSpPr>
        <p:spPr>
          <a:xfrm>
            <a:off x="514350" y="6172200"/>
            <a:ext cx="111633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" y="6238875"/>
            <a:ext cx="111633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Red diamonds are decision gates (SE named · pilot green-light · R&amp;D alignment). Blue diamonds mark first revenue per product. The ontology and guardrail lenses ship thin inside X-Ray from the first pilot.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76500" y="2019300"/>
            <a:ext cx="7620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87" b="1">
                <a:solidFill>
                  <a:srgbClr val="6B7786"/>
                </a:solidFill>
                <a:latin typeface="Libre Franklin"/>
              </a:rPr>
              <a:t>Aug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76500" y="2247900"/>
            <a:ext cx="9525" cy="3314700"/>
          </a:xfrm>
          <a:prstGeom prst="rect">
            <a:avLst/>
          </a:prstGeom>
          <a:solidFill>
            <a:srgbClr val="E4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38500" y="2019300"/>
            <a:ext cx="7620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87" b="1">
                <a:solidFill>
                  <a:srgbClr val="6B7786"/>
                </a:solidFill>
                <a:latin typeface="Libre Franklin"/>
              </a:rPr>
              <a:t>Sep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38500" y="2247900"/>
            <a:ext cx="9525" cy="3314700"/>
          </a:xfrm>
          <a:prstGeom prst="rect">
            <a:avLst/>
          </a:prstGeom>
          <a:solidFill>
            <a:srgbClr val="E4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00500" y="2019300"/>
            <a:ext cx="7620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87" b="1">
                <a:solidFill>
                  <a:srgbClr val="6B7786"/>
                </a:solidFill>
                <a:latin typeface="Libre Franklin"/>
              </a:rPr>
              <a:t>Oct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00500" y="2247900"/>
            <a:ext cx="9525" cy="3314700"/>
          </a:xfrm>
          <a:prstGeom prst="rect">
            <a:avLst/>
          </a:prstGeom>
          <a:solidFill>
            <a:srgbClr val="E4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62500" y="2019300"/>
            <a:ext cx="7620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87" b="1">
                <a:solidFill>
                  <a:srgbClr val="6B7786"/>
                </a:solidFill>
                <a:latin typeface="Libre Franklin"/>
              </a:rPr>
              <a:t>Nov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62500" y="2247900"/>
            <a:ext cx="9525" cy="3314700"/>
          </a:xfrm>
          <a:prstGeom prst="rect">
            <a:avLst/>
          </a:prstGeom>
          <a:solidFill>
            <a:srgbClr val="E4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24500" y="2019300"/>
            <a:ext cx="7620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87" b="1">
                <a:solidFill>
                  <a:srgbClr val="6B7786"/>
                </a:solidFill>
                <a:latin typeface="Libre Franklin"/>
              </a:rPr>
              <a:t>Dec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524500" y="2247900"/>
            <a:ext cx="9525" cy="3314700"/>
          </a:xfrm>
          <a:prstGeom prst="rect">
            <a:avLst/>
          </a:prstGeom>
          <a:solidFill>
            <a:srgbClr val="E4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86500" y="2019300"/>
            <a:ext cx="7620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87" b="1">
                <a:solidFill>
                  <a:srgbClr val="6B7786"/>
                </a:solidFill>
                <a:latin typeface="Libre Franklin"/>
              </a:rPr>
              <a:t>Jan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86500" y="2247900"/>
            <a:ext cx="9525" cy="3314700"/>
          </a:xfrm>
          <a:prstGeom prst="rect">
            <a:avLst/>
          </a:prstGeom>
          <a:solidFill>
            <a:srgbClr val="E4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0" y="2019300"/>
            <a:ext cx="7620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87" b="1">
                <a:solidFill>
                  <a:srgbClr val="6B7786"/>
                </a:solidFill>
                <a:latin typeface="Libre Franklin"/>
              </a:rPr>
              <a:t>Feb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48500" y="2247900"/>
            <a:ext cx="9525" cy="3314700"/>
          </a:xfrm>
          <a:prstGeom prst="rect">
            <a:avLst/>
          </a:prstGeom>
          <a:solidFill>
            <a:srgbClr val="E4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10499" y="2019300"/>
            <a:ext cx="7620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87" b="1">
                <a:solidFill>
                  <a:srgbClr val="6B7786"/>
                </a:solidFill>
                <a:latin typeface="Libre Franklin"/>
              </a:rPr>
              <a:t>Mar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10499" y="2247900"/>
            <a:ext cx="9525" cy="3314700"/>
          </a:xfrm>
          <a:prstGeom prst="rect">
            <a:avLst/>
          </a:prstGeom>
          <a:solidFill>
            <a:srgbClr val="E4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72500" y="2019300"/>
            <a:ext cx="7620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87" b="1">
                <a:solidFill>
                  <a:srgbClr val="6B7786"/>
                </a:solidFill>
                <a:latin typeface="Libre Franklin"/>
              </a:rPr>
              <a:t>Apr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72500" y="2247900"/>
            <a:ext cx="9525" cy="3314700"/>
          </a:xfrm>
          <a:prstGeom prst="rect">
            <a:avLst/>
          </a:prstGeom>
          <a:solidFill>
            <a:srgbClr val="E4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34500" y="2019300"/>
            <a:ext cx="7620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87" b="1">
                <a:solidFill>
                  <a:srgbClr val="6B7786"/>
                </a:solidFill>
                <a:latin typeface="Libre Franklin"/>
              </a:rPr>
              <a:t>May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334500" y="2247900"/>
            <a:ext cx="9525" cy="3314700"/>
          </a:xfrm>
          <a:prstGeom prst="rect">
            <a:avLst/>
          </a:prstGeom>
          <a:solidFill>
            <a:srgbClr val="E4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6500" y="2019300"/>
            <a:ext cx="7620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87" b="1">
                <a:solidFill>
                  <a:srgbClr val="6B7786"/>
                </a:solidFill>
                <a:latin typeface="Libre Franklin"/>
              </a:rPr>
              <a:t>Jun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96500" y="2247900"/>
            <a:ext cx="9525" cy="3314700"/>
          </a:xfrm>
          <a:prstGeom prst="rect">
            <a:avLst/>
          </a:prstGeom>
          <a:solidFill>
            <a:srgbClr val="E4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858500" y="2019300"/>
            <a:ext cx="7620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87" b="1">
                <a:solidFill>
                  <a:srgbClr val="6B7786"/>
                </a:solidFill>
                <a:latin typeface="Libre Franklin"/>
              </a:rPr>
              <a:t>Jul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858500" y="2247900"/>
            <a:ext cx="9525" cy="3314700"/>
          </a:xfrm>
          <a:prstGeom prst="rect">
            <a:avLst/>
          </a:prstGeom>
          <a:solidFill>
            <a:srgbClr val="E4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476500" y="1809750"/>
            <a:ext cx="19050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6B7786"/>
                </a:solidFill>
                <a:latin typeface="Libre Franklin"/>
              </a:rPr>
              <a:t>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86500" y="1809750"/>
            <a:ext cx="19050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6B7786"/>
                </a:solidFill>
                <a:latin typeface="Libre Franklin"/>
              </a:rPr>
              <a:t>2027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4350" y="2400300"/>
            <a:ext cx="1809750" cy="419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041326"/>
                </a:solidFill>
                <a:latin typeface="Libre Franklin"/>
              </a:rPr>
              <a:t>Keystone study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257550" y="2381250"/>
            <a:ext cx="1485900" cy="247649"/>
          </a:xfrm>
          <a:prstGeom prst="roundRect">
            <a:avLst>
              <a:gd name="adj" fmla="val 8000"/>
            </a:avLst>
          </a:prstGeom>
          <a:solidFill>
            <a:srgbClr val="264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352800" y="2409825"/>
            <a:ext cx="13335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12" b="1">
                <a:solidFill>
                  <a:srgbClr val="FFFFFF"/>
                </a:solidFill>
                <a:latin typeface="Libre Franklin"/>
              </a:rPr>
              <a:t>With Deepak</a:t>
            </a:r>
          </a:p>
        </p:txBody>
      </p:sp>
      <p:sp>
        <p:nvSpPr>
          <p:cNvPr id="43" name="Diamond 42"/>
          <p:cNvSpPr/>
          <p:nvPr/>
        </p:nvSpPr>
        <p:spPr>
          <a:xfrm>
            <a:off x="3162300" y="2428875"/>
            <a:ext cx="152400" cy="152400"/>
          </a:xfrm>
          <a:prstGeom prst="diamond">
            <a:avLst/>
          </a:prstGeom>
          <a:solidFill>
            <a:srgbClr val="FF503C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4350" y="2952750"/>
            <a:ext cx="1809750" cy="419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041326"/>
                </a:solidFill>
                <a:latin typeface="Libre Franklin"/>
              </a:rPr>
              <a:t>Process X-Ray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495550" y="2933700"/>
            <a:ext cx="723900" cy="247649"/>
          </a:xfrm>
          <a:prstGeom prst="roundRect">
            <a:avLst>
              <a:gd name="adj" fmla="val 8000"/>
            </a:avLst>
          </a:prstGeom>
          <a:solidFill>
            <a:srgbClr val="99B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257550" y="2933700"/>
            <a:ext cx="1485900" cy="247649"/>
          </a:xfrm>
          <a:prstGeom prst="roundRect">
            <a:avLst>
              <a:gd name="adj" fmla="val 8000"/>
            </a:avLst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52800" y="2962275"/>
            <a:ext cx="13335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12" b="1">
                <a:solidFill>
                  <a:srgbClr val="FFFFFF"/>
                </a:solidFill>
                <a:latin typeface="Libre Franklin"/>
              </a:rPr>
              <a:t>Prototype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781550" y="2933700"/>
            <a:ext cx="1485900" cy="247649"/>
          </a:xfrm>
          <a:prstGeom prst="roundRect">
            <a:avLst>
              <a:gd name="adj" fmla="val 8000"/>
            </a:avLst>
          </a:prstGeom>
          <a:solidFill>
            <a:srgbClr val="264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76800" y="2962275"/>
            <a:ext cx="13335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12" b="1">
                <a:solidFill>
                  <a:srgbClr val="FFFFFF"/>
                </a:solidFill>
                <a:latin typeface="Libre Franklin"/>
              </a:rPr>
              <a:t>Proof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05550" y="2933700"/>
            <a:ext cx="5295900" cy="247649"/>
          </a:xfrm>
          <a:prstGeom prst="roundRect">
            <a:avLst>
              <a:gd name="adj" fmla="val 8000"/>
            </a:avLst>
          </a:prstGeom>
          <a:solidFill>
            <a:srgbClr val="04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00800" y="2962275"/>
            <a:ext cx="51435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12" b="1">
                <a:solidFill>
                  <a:srgbClr val="FFFFFF"/>
                </a:solidFill>
                <a:latin typeface="Libre Franklin"/>
              </a:rPr>
              <a:t>Sell + install</a:t>
            </a:r>
          </a:p>
        </p:txBody>
      </p:sp>
      <p:sp>
        <p:nvSpPr>
          <p:cNvPr id="52" name="Diamond 51"/>
          <p:cNvSpPr/>
          <p:nvPr/>
        </p:nvSpPr>
        <p:spPr>
          <a:xfrm>
            <a:off x="3924300" y="2981325"/>
            <a:ext cx="152400" cy="152400"/>
          </a:xfrm>
          <a:prstGeom prst="diamond">
            <a:avLst/>
          </a:prstGeom>
          <a:solidFill>
            <a:srgbClr val="FF503C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Diamond 52"/>
          <p:cNvSpPr/>
          <p:nvPr/>
        </p:nvSpPr>
        <p:spPr>
          <a:xfrm>
            <a:off x="6210300" y="2981325"/>
            <a:ext cx="152400" cy="152400"/>
          </a:xfrm>
          <a:prstGeom prst="diamond">
            <a:avLst/>
          </a:prstGeom>
          <a:solidFill>
            <a:srgbClr val="3367FF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14350" y="3505200"/>
            <a:ext cx="1809750" cy="419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041326"/>
                </a:solidFill>
                <a:latin typeface="Libre Franklin"/>
              </a:rPr>
              <a:t>Value Telemetry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257550" y="3486150"/>
            <a:ext cx="723900" cy="247649"/>
          </a:xfrm>
          <a:prstGeom prst="roundRect">
            <a:avLst>
              <a:gd name="adj" fmla="val 8000"/>
            </a:avLst>
          </a:prstGeom>
          <a:solidFill>
            <a:srgbClr val="99B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4019549" y="3486150"/>
            <a:ext cx="723900" cy="247649"/>
          </a:xfrm>
          <a:prstGeom prst="roundRect">
            <a:avLst>
              <a:gd name="adj" fmla="val 8000"/>
            </a:avLst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4781550" y="3486150"/>
            <a:ext cx="1485900" cy="247649"/>
          </a:xfrm>
          <a:prstGeom prst="roundRect">
            <a:avLst>
              <a:gd name="adj" fmla="val 8000"/>
            </a:avLst>
          </a:prstGeom>
          <a:solidFill>
            <a:srgbClr val="264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876800" y="3514725"/>
            <a:ext cx="13335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12" b="1">
                <a:solidFill>
                  <a:srgbClr val="FFFFFF"/>
                </a:solidFill>
                <a:latin typeface="Libre Franklin"/>
              </a:rPr>
              <a:t>Proof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305550" y="3486150"/>
            <a:ext cx="5295900" cy="247649"/>
          </a:xfrm>
          <a:prstGeom prst="roundRect">
            <a:avLst>
              <a:gd name="adj" fmla="val 8000"/>
            </a:avLst>
          </a:prstGeom>
          <a:solidFill>
            <a:srgbClr val="04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00800" y="3514725"/>
            <a:ext cx="51435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12" b="1">
                <a:solidFill>
                  <a:srgbClr val="FFFFFF"/>
                </a:solidFill>
                <a:latin typeface="Libre Franklin"/>
              </a:rPr>
              <a:t>Recurring</a:t>
            </a:r>
          </a:p>
        </p:txBody>
      </p:sp>
      <p:sp>
        <p:nvSpPr>
          <p:cNvPr id="61" name="Diamond 60"/>
          <p:cNvSpPr/>
          <p:nvPr/>
        </p:nvSpPr>
        <p:spPr>
          <a:xfrm>
            <a:off x="6210300" y="3533775"/>
            <a:ext cx="152400" cy="152400"/>
          </a:xfrm>
          <a:prstGeom prst="diamond">
            <a:avLst/>
          </a:prstGeom>
          <a:solidFill>
            <a:srgbClr val="3367FF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14350" y="4057650"/>
            <a:ext cx="1809750" cy="419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041326"/>
                </a:solidFill>
                <a:latin typeface="Libre Franklin"/>
              </a:rPr>
              <a:t>Guardrail Studio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305550" y="4038600"/>
            <a:ext cx="723900" cy="247649"/>
          </a:xfrm>
          <a:prstGeom prst="roundRect">
            <a:avLst>
              <a:gd name="adj" fmla="val 8000"/>
            </a:avLst>
          </a:prstGeom>
          <a:solidFill>
            <a:srgbClr val="99B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7067550" y="4038600"/>
            <a:ext cx="1485900" cy="247649"/>
          </a:xfrm>
          <a:prstGeom prst="roundRect">
            <a:avLst>
              <a:gd name="adj" fmla="val 8000"/>
            </a:avLst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162800" y="4067175"/>
            <a:ext cx="13335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12" b="1">
                <a:solidFill>
                  <a:srgbClr val="FFFFFF"/>
                </a:solidFill>
                <a:latin typeface="Libre Franklin"/>
              </a:rPr>
              <a:t>Prototype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591550" y="4038600"/>
            <a:ext cx="1485900" cy="247649"/>
          </a:xfrm>
          <a:prstGeom prst="roundRect">
            <a:avLst>
              <a:gd name="adj" fmla="val 8000"/>
            </a:avLst>
          </a:prstGeom>
          <a:solidFill>
            <a:srgbClr val="264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686800" y="4067175"/>
            <a:ext cx="13335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12" b="1">
                <a:solidFill>
                  <a:srgbClr val="FFFFFF"/>
                </a:solidFill>
                <a:latin typeface="Libre Franklin"/>
              </a:rPr>
              <a:t>Proof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115550" y="4038600"/>
            <a:ext cx="1485900" cy="247649"/>
          </a:xfrm>
          <a:prstGeom prst="roundRect">
            <a:avLst>
              <a:gd name="adj" fmla="val 8000"/>
            </a:avLst>
          </a:prstGeom>
          <a:solidFill>
            <a:srgbClr val="04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210800" y="4067175"/>
            <a:ext cx="13335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12" b="1">
                <a:solidFill>
                  <a:srgbClr val="FFFFFF"/>
                </a:solidFill>
                <a:latin typeface="Libre Franklin"/>
              </a:rPr>
              <a:t>Sell</a:t>
            </a:r>
          </a:p>
        </p:txBody>
      </p:sp>
      <p:sp>
        <p:nvSpPr>
          <p:cNvPr id="70" name="Diamond 69"/>
          <p:cNvSpPr/>
          <p:nvPr/>
        </p:nvSpPr>
        <p:spPr>
          <a:xfrm>
            <a:off x="10020300" y="4086225"/>
            <a:ext cx="152400" cy="152400"/>
          </a:xfrm>
          <a:prstGeom prst="diamond">
            <a:avLst/>
          </a:prstGeom>
          <a:solidFill>
            <a:srgbClr val="3367FF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350" y="4610100"/>
            <a:ext cx="1809750" cy="419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041326"/>
                </a:solidFill>
                <a:latin typeface="Libre Franklin"/>
              </a:rPr>
              <a:t>Ontology Cartographer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067550" y="4591050"/>
            <a:ext cx="723900" cy="247649"/>
          </a:xfrm>
          <a:prstGeom prst="roundRect">
            <a:avLst>
              <a:gd name="adj" fmla="val 8000"/>
            </a:avLst>
          </a:prstGeom>
          <a:solidFill>
            <a:srgbClr val="99B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7829550" y="4591050"/>
            <a:ext cx="1485900" cy="247649"/>
          </a:xfrm>
          <a:prstGeom prst="roundRect">
            <a:avLst>
              <a:gd name="adj" fmla="val 8000"/>
            </a:avLst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924799" y="4619625"/>
            <a:ext cx="13335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12" b="1">
                <a:solidFill>
                  <a:srgbClr val="FFFFFF"/>
                </a:solidFill>
                <a:latin typeface="Libre Franklin"/>
              </a:rPr>
              <a:t>Prototype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353550" y="4591050"/>
            <a:ext cx="2247900" cy="247649"/>
          </a:xfrm>
          <a:prstGeom prst="roundRect">
            <a:avLst>
              <a:gd name="adj" fmla="val 8000"/>
            </a:avLst>
          </a:prstGeom>
          <a:solidFill>
            <a:srgbClr val="264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448800" y="4619625"/>
            <a:ext cx="2095499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12" b="1">
                <a:solidFill>
                  <a:srgbClr val="FFFFFF"/>
                </a:solidFill>
                <a:latin typeface="Libre Franklin"/>
              </a:rPr>
              <a:t>Proof</a:t>
            </a:r>
          </a:p>
        </p:txBody>
      </p:sp>
      <p:sp>
        <p:nvSpPr>
          <p:cNvPr id="77" name="Diamond 76"/>
          <p:cNvSpPr/>
          <p:nvPr/>
        </p:nvSpPr>
        <p:spPr>
          <a:xfrm>
            <a:off x="6972300" y="4638675"/>
            <a:ext cx="152400" cy="152400"/>
          </a:xfrm>
          <a:prstGeom prst="diamond">
            <a:avLst/>
          </a:prstGeom>
          <a:solidFill>
            <a:srgbClr val="FF503C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14350" y="5162550"/>
            <a:ext cx="1809750" cy="419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041326"/>
                </a:solidFill>
                <a:latin typeface="Libre Franklin"/>
              </a:rPr>
              <a:t>Org Design (Engine B)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3257550" y="5143500"/>
            <a:ext cx="723900" cy="247649"/>
          </a:xfrm>
          <a:prstGeom prst="roundRect">
            <a:avLst>
              <a:gd name="adj" fmla="val 8000"/>
            </a:avLst>
          </a:prstGeom>
          <a:solidFill>
            <a:srgbClr val="99B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4019549" y="5143500"/>
            <a:ext cx="2247900" cy="247649"/>
          </a:xfrm>
          <a:prstGeom prst="roundRect">
            <a:avLst>
              <a:gd name="adj" fmla="val 8000"/>
            </a:avLst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114800" y="5172075"/>
            <a:ext cx="2095499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12" b="1">
                <a:solidFill>
                  <a:srgbClr val="FFFFFF"/>
                </a:solidFill>
                <a:latin typeface="Libre Franklin"/>
              </a:rPr>
              <a:t>Evidence binding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829550" y="5143500"/>
            <a:ext cx="2247900" cy="247649"/>
          </a:xfrm>
          <a:prstGeom prst="roundRect">
            <a:avLst>
              <a:gd name="adj" fmla="val 8000"/>
            </a:avLst>
          </a:prstGeom>
          <a:solidFill>
            <a:srgbClr val="264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924799" y="5172075"/>
            <a:ext cx="2095499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12" b="1">
                <a:solidFill>
                  <a:srgbClr val="FFFFFF"/>
                </a:solidFill>
                <a:latin typeface="Libre Franklin"/>
              </a:rPr>
              <a:t>First engagement</a:t>
            </a:r>
          </a:p>
        </p:txBody>
      </p:sp>
      <p:sp>
        <p:nvSpPr>
          <p:cNvPr id="84" name="Diamond 83"/>
          <p:cNvSpPr/>
          <p:nvPr/>
        </p:nvSpPr>
        <p:spPr>
          <a:xfrm>
            <a:off x="7734300" y="5191125"/>
            <a:ext cx="152400" cy="152400"/>
          </a:xfrm>
          <a:prstGeom prst="diamond">
            <a:avLst/>
          </a:prstGeom>
          <a:solidFill>
            <a:srgbClr val="FF503C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Diamond 84"/>
          <p:cNvSpPr/>
          <p:nvPr/>
        </p:nvSpPr>
        <p:spPr>
          <a:xfrm>
            <a:off x="10020300" y="5191125"/>
            <a:ext cx="152400" cy="152400"/>
          </a:xfrm>
          <a:prstGeom prst="diamond">
            <a:avLst/>
          </a:prstGeom>
          <a:solidFill>
            <a:srgbClr val="3367FF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2425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242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3957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5100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6225" y="200025"/>
            <a:ext cx="76200" cy="1524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025" y="276225"/>
            <a:ext cx="76200" cy="762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350" y="514350"/>
            <a:ext cx="8572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3367FF"/>
                </a:solidFill>
                <a:latin typeface="Libre Franklin"/>
              </a:rPr>
              <a:t>MOBILIZATION · THE DELIVERY FACTORY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781050"/>
            <a:ext cx="102870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The Delivery Factory carries every stage from prototype to installed layer.</a:t>
            </a:r>
          </a:p>
        </p:txBody>
      </p:sp>
      <p:pic>
        <p:nvPicPr>
          <p:cNvPr id="10" name="Picture 9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2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6B7786"/>
                </a:solidFill>
                <a:latin typeface="Libre Franklin"/>
              </a:rPr>
              <a:t>1</a:t>
            </a:fld>
          </a:p>
        </p:txBody>
      </p:sp>
      <p:sp>
        <p:nvSpPr>
          <p:cNvPr id="12" name="Rectangle 11"/>
          <p:cNvSpPr/>
          <p:nvPr/>
        </p:nvSpPr>
        <p:spPr>
          <a:xfrm>
            <a:off x="514350" y="6172200"/>
            <a:ext cx="111633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" y="6238875"/>
            <a:ext cx="111633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Factory toolchain per the Banking OS canon: Process &amp; Workspace Designer · Semantic Modeler · Agent Builder · Decision &amp; Policy · Connector Studio · Simulation &amp; Testing · Deployment &amp; Ops Control.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350" y="2190750"/>
            <a:ext cx="2619375" cy="2667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3900" y="2400300"/>
            <a:ext cx="2238375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3367FF"/>
                </a:solidFill>
                <a:latin typeface="Libre Franklin"/>
              </a:rPr>
              <a:t>PROTOTYPE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900" y="2686050"/>
            <a:ext cx="2238375" cy="666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1087" b="1">
                <a:solidFill>
                  <a:srgbClr val="041326"/>
                </a:solidFill>
                <a:latin typeface="Libre Franklin"/>
              </a:rPr>
              <a:t>Semantic Modeler +</a:t>
            </a:r>
          </a:p>
          <a:p>
            <a:pPr algn="l">
              <a:lnSpc>
                <a:spcPct val="112000"/>
              </a:lnSpc>
            </a:pPr>
            <a:r>
              <a:rPr sz="1087" b="1">
                <a:solidFill>
                  <a:srgbClr val="041326"/>
                </a:solidFill>
                <a:latin typeface="Libre Franklin"/>
              </a:rPr>
              <a:t>Connector Studio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3900" y="3505200"/>
            <a:ext cx="2200275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3900" y="3638550"/>
            <a:ext cx="2238375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A working demo on the bank’s own data, in weeks.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2775" y="3333750"/>
            <a:ext cx="1905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125" b="0">
                <a:solidFill>
                  <a:srgbClr val="6B7786"/>
                </a:solidFill>
                <a:latin typeface="Libre Franklin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62325" y="2190750"/>
            <a:ext cx="2619375" cy="2667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71875" y="2400300"/>
            <a:ext cx="2238375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3367FF"/>
                </a:solidFill>
                <a:latin typeface="Libre Franklin"/>
              </a:rPr>
              <a:t>PROOF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71875" y="2686050"/>
            <a:ext cx="2238375" cy="666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1087" b="1">
                <a:solidFill>
                  <a:srgbClr val="041326"/>
                </a:solidFill>
                <a:latin typeface="Libre Franklin"/>
              </a:rPr>
              <a:t>Simulation &amp; Testing +</a:t>
            </a:r>
          </a:p>
          <a:p>
            <a:pPr algn="l">
              <a:lnSpc>
                <a:spcPct val="112000"/>
              </a:lnSpc>
            </a:pPr>
            <a:r>
              <a:rPr sz="1087" b="1">
                <a:solidFill>
                  <a:srgbClr val="041326"/>
                </a:solidFill>
                <a:latin typeface="Libre Franklin"/>
              </a:rPr>
              <a:t>Ops Control telemetry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71875" y="3505200"/>
            <a:ext cx="2200275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71875" y="3638550"/>
            <a:ext cx="2238375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CFO-grade evidence runs with zero production risk.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00750" y="3333750"/>
            <a:ext cx="1905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125" b="0">
                <a:solidFill>
                  <a:srgbClr val="6B7786"/>
                </a:solidFill>
                <a:latin typeface="Libre Franklin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0300" y="2190750"/>
            <a:ext cx="2619375" cy="2667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850" y="2400300"/>
            <a:ext cx="2238375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3367FF"/>
                </a:solidFill>
                <a:latin typeface="Libre Franklin"/>
              </a:rPr>
              <a:t>INSTALL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850" y="2686050"/>
            <a:ext cx="2238375" cy="666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1087" b="1">
                <a:solidFill>
                  <a:srgbClr val="041326"/>
                </a:solidFill>
                <a:latin typeface="Libre Franklin"/>
              </a:rPr>
              <a:t>Mission Contract with</a:t>
            </a:r>
          </a:p>
          <a:p>
            <a:pPr algn="l">
              <a:lnSpc>
                <a:spcPct val="112000"/>
              </a:lnSpc>
            </a:pPr>
            <a:r>
              <a:rPr sz="1087" b="1">
                <a:solidFill>
                  <a:srgbClr val="041326"/>
                </a:solidFill>
                <a:latin typeface="Libre Franklin"/>
              </a:rPr>
              <a:t>Nexus + Sentinel binding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19850" y="3505200"/>
            <a:ext cx="2200275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850" y="3638550"/>
            <a:ext cx="2238375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The Banking OS layer live in 6-12 weeks, via the agentic SDLC.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48725" y="3333750"/>
            <a:ext cx="1905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125" b="0">
                <a:solidFill>
                  <a:srgbClr val="6B7786"/>
                </a:solidFill>
                <a:latin typeface="Libre Franklin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58275" y="2190750"/>
            <a:ext cx="2619375" cy="2667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67825" y="2400300"/>
            <a:ext cx="2238375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3367FF"/>
                </a:solidFill>
                <a:latin typeface="Libre Franklin"/>
              </a:rPr>
              <a:t>RUN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67825" y="2686050"/>
            <a:ext cx="2238375" cy="666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1087" b="1">
                <a:solidFill>
                  <a:srgbClr val="041326"/>
                </a:solidFill>
                <a:latin typeface="Libre Franklin"/>
              </a:rPr>
              <a:t>Deployment &amp;</a:t>
            </a:r>
          </a:p>
          <a:p>
            <a:pPr algn="l">
              <a:lnSpc>
                <a:spcPct val="112000"/>
              </a:lnSpc>
            </a:pPr>
            <a:r>
              <a:rPr sz="1087" b="1">
                <a:solidFill>
                  <a:srgbClr val="041326"/>
                </a:solidFill>
                <a:latin typeface="Libre Franklin"/>
              </a:rPr>
              <a:t>Ops Control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267825" y="3505200"/>
            <a:ext cx="2200275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67825" y="3638550"/>
            <a:ext cx="2238375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Live telemetry that feeds Value Telemetry and the expansion case.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2425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242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3957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5100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6225" y="200025"/>
            <a:ext cx="76200" cy="1524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025" y="276225"/>
            <a:ext cx="76200" cy="762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350" y="514350"/>
            <a:ext cx="8572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3367FF"/>
                </a:solidFill>
                <a:latin typeface="Libre Franklin"/>
              </a:rPr>
              <a:t>MOBILIZATION · THE ASK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781050"/>
            <a:ext cx="102870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Four decisions unlock execution; the €5,000 talent budget seeds product number one.</a:t>
            </a:r>
          </a:p>
        </p:txBody>
      </p:sp>
      <p:pic>
        <p:nvPicPr>
          <p:cNvPr id="10" name="Picture 9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2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6B7786"/>
                </a:solidFill>
                <a:latin typeface="Libre Franklin"/>
              </a:rPr>
              <a:t>1</a:t>
            </a:fld>
          </a:p>
        </p:txBody>
      </p:sp>
      <p:sp>
        <p:nvSpPr>
          <p:cNvPr id="12" name="Rectangle 11"/>
          <p:cNvSpPr/>
          <p:nvPr/>
        </p:nvSpPr>
        <p:spPr>
          <a:xfrm>
            <a:off x="514350" y="6172200"/>
            <a:ext cx="111633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" y="6238875"/>
            <a:ext cx="111633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Quota figure of ~€200K recognition and pilot-account choice are open PDP items (1.3, 1.4) for the next 1:1 with Mayur. Keystone study scope sits with Deepak (backlog item 2.2).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350" y="2057400"/>
            <a:ext cx="5334000" cy="762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4350" y="2133600"/>
            <a:ext cx="38100" cy="6096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850" y="2171700"/>
            <a:ext cx="4991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1 · Name the solution engineer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850" y="2438400"/>
            <a:ext cx="49911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0.5 FTE from the regional pool, committed by September. The single critical-path resource.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4350" y="2933700"/>
            <a:ext cx="5334000" cy="762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4350" y="3009900"/>
            <a:ext cx="38100" cy="6096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3048000"/>
            <a:ext cx="4991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2 · Green-light one prospect pilot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850" y="3314700"/>
            <a:ext cx="49911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AIB-profile account for the X-Ray proof, by October. A prospect, keeping existing customers out of scope.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4350" y="3810000"/>
            <a:ext cx="5334000" cy="762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4350" y="3886200"/>
            <a:ext cx="38100" cy="6096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850" y="3924300"/>
            <a:ext cx="4991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3 · Back the keystone study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850" y="4190999"/>
            <a:ext cx="49911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Cost-per-outcome model with Deepak in September. Value Telemetry and the FinOps line depend on it.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4350" y="4686300"/>
            <a:ext cx="5334000" cy="762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4350" y="4762500"/>
            <a:ext cx="38100" cy="6096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4800600"/>
            <a:ext cx="4991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4 · Agree the commercial treatment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850" y="5067300"/>
            <a:ext cx="49911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Quota recognition of ~€200K so the line carries a real target from day one.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1250" y="2057400"/>
            <a:ext cx="5486400" cy="3390900"/>
          </a:xfrm>
          <a:prstGeom prst="roundRect">
            <a:avLst>
              <a:gd name="adj" fmla="val 8000"/>
            </a:avLst>
          </a:prstGeom>
          <a:solidFill>
            <a:srgbClr val="04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77000" y="2305050"/>
            <a:ext cx="49149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69FEFF"/>
                </a:solidFill>
                <a:latin typeface="Libre Franklin"/>
              </a:rPr>
              <a:t>THE €5,000 SEED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7000" y="2609850"/>
            <a:ext cx="4914900" cy="1143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1575" b="1">
                <a:solidFill>
                  <a:srgbClr val="FFFFFF"/>
                </a:solidFill>
                <a:latin typeface="Libre Franklin"/>
              </a:rPr>
              <a:t>The talent budget launches product number one.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77000" y="4324350"/>
            <a:ext cx="4914900" cy="99059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0">
                <a:solidFill>
                  <a:srgbClr val="C5CFDE"/>
                </a:solidFill>
                <a:latin typeface="Libre Franklin"/>
              </a:rPr>
              <a:t>Packaging and delivery kit for Process X-Ray, a demo built on the APA V3 catalog, launch collateral produced with marketing, and pricing pressure-tests with three friendly accounts.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2425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242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3957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5100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6225" y="200025"/>
            <a:ext cx="76200" cy="1524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025" y="276225"/>
            <a:ext cx="76200" cy="762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350" y="514350"/>
            <a:ext cx="8572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3367FF"/>
                </a:solidFill>
                <a:latin typeface="Libre Franklin"/>
              </a:rPr>
              <a:t>MOBILIZATION · PLANNING BASIS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781050"/>
            <a:ext cx="102870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The plan stands on six explicit assumptions, each with an owner to validate.</a:t>
            </a:r>
          </a:p>
        </p:txBody>
      </p:sp>
      <p:pic>
        <p:nvPicPr>
          <p:cNvPr id="10" name="Picture 9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2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6B7786"/>
                </a:solidFill>
                <a:latin typeface="Libre Franklin"/>
              </a:rPr>
              <a:t>1</a:t>
            </a:fld>
          </a:p>
        </p:txBody>
      </p:sp>
      <p:sp>
        <p:nvSpPr>
          <p:cNvPr id="12" name="Rectangle 11"/>
          <p:cNvSpPr/>
          <p:nvPr/>
        </p:nvSpPr>
        <p:spPr>
          <a:xfrm>
            <a:off x="514350" y="6172200"/>
            <a:ext cx="111633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" y="6238875"/>
            <a:ext cx="111633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Confidence ratings follow the repo standard: every assumption is documented, conservative, and sensitivity-tested before any figure becomes client-facing or budget-committed.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350" y="2000250"/>
            <a:ext cx="11163300" cy="55245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2950" y="2076450"/>
            <a:ext cx="3810000" cy="419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37" b="1">
                <a:solidFill>
                  <a:srgbClr val="041326"/>
                </a:solidFill>
                <a:latin typeface="Libre Franklin"/>
              </a:rPr>
              <a:t>Team cost ~€1.2M a year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5350" y="2076450"/>
            <a:ext cx="4095750" cy="419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825" b="0">
                <a:solidFill>
                  <a:srgbClr val="2A384A"/>
                </a:solidFill>
                <a:latin typeface="Libre Franklin"/>
              </a:rPr>
              <a:t>PDP working figure</a:t>
            </a:r>
          </a:p>
        </p:txBody>
      </p:sp>
      <p:sp>
        <p:nvSpPr>
          <p:cNvPr id="17" name="Oval 16"/>
          <p:cNvSpPr/>
          <p:nvPr/>
        </p:nvSpPr>
        <p:spPr>
          <a:xfrm>
            <a:off x="9467850" y="2219325"/>
            <a:ext cx="114300" cy="114300"/>
          </a:xfrm>
          <a:prstGeom prst="ellipse">
            <a:avLst/>
          </a:prstGeom>
          <a:solidFill>
            <a:srgbClr val="FF5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2171700"/>
            <a:ext cx="7239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6B7786"/>
                </a:solidFill>
                <a:latin typeface="Libre Franklin"/>
              </a:rPr>
              <a:t>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1300" y="2095499"/>
            <a:ext cx="1219200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750" b="1">
                <a:solidFill>
                  <a:srgbClr val="3367FF"/>
                </a:solidFill>
                <a:latin typeface="Libre Franklin"/>
              </a:rPr>
              <a:t>Validate: Mayur + finance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4350" y="2647950"/>
            <a:ext cx="11163300" cy="55245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2950" y="2724150"/>
            <a:ext cx="3810000" cy="419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37" b="1">
                <a:solidFill>
                  <a:srgbClr val="041326"/>
                </a:solidFill>
                <a:latin typeface="Libre Franklin"/>
              </a:rPr>
              <a:t>Effort estimates within ±30%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05350" y="2724150"/>
            <a:ext cx="4095750" cy="419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825" b="0">
                <a:solidFill>
                  <a:srgbClr val="2A384A"/>
                </a:solidFill>
                <a:latin typeface="Libre Franklin"/>
              </a:rPr>
              <a:t>Analogous VC engagements; first build actuals recalibrate</a:t>
            </a:r>
          </a:p>
        </p:txBody>
      </p:sp>
      <p:sp>
        <p:nvSpPr>
          <p:cNvPr id="23" name="Oval 22"/>
          <p:cNvSpPr/>
          <p:nvPr/>
        </p:nvSpPr>
        <p:spPr>
          <a:xfrm>
            <a:off x="9467850" y="2867025"/>
            <a:ext cx="114300" cy="114300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58350" y="2819400"/>
            <a:ext cx="7239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6B7786"/>
                </a:solidFill>
                <a:latin typeface="Libre Franklin"/>
              </a:rPr>
              <a:t>Medium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01300" y="2743200"/>
            <a:ext cx="1219200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750" b="1">
                <a:solidFill>
                  <a:srgbClr val="3367FF"/>
                </a:solidFill>
                <a:latin typeface="Libre Franklin"/>
              </a:rPr>
              <a:t>Validate: First build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4350" y="3295650"/>
            <a:ext cx="11163300" cy="55245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2950" y="3371850"/>
            <a:ext cx="3810000" cy="419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37" b="1">
                <a:solidFill>
                  <a:srgbClr val="041326"/>
                </a:solidFill>
                <a:latin typeface="Libre Franklin"/>
              </a:rPr>
              <a:t>SE at 0.5 FTE is available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5350" y="3371850"/>
            <a:ext cx="4095750" cy="419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825" b="0">
                <a:solidFill>
                  <a:srgbClr val="2A384A"/>
                </a:solidFill>
                <a:latin typeface="Libre Franklin"/>
              </a:rPr>
              <a:t>Regional pool capacity, unconfirmed</a:t>
            </a:r>
          </a:p>
        </p:txBody>
      </p:sp>
      <p:sp>
        <p:nvSpPr>
          <p:cNvPr id="29" name="Oval 28"/>
          <p:cNvSpPr/>
          <p:nvPr/>
        </p:nvSpPr>
        <p:spPr>
          <a:xfrm>
            <a:off x="9467850" y="3514725"/>
            <a:ext cx="114300" cy="114300"/>
          </a:xfrm>
          <a:prstGeom prst="ellipse">
            <a:avLst/>
          </a:prstGeom>
          <a:solidFill>
            <a:srgbClr val="FF5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58350" y="3467100"/>
            <a:ext cx="7239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6B7786"/>
                </a:solidFill>
                <a:latin typeface="Libre Franklin"/>
              </a:rPr>
              <a:t>Low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1300" y="3390900"/>
            <a:ext cx="1219200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750" b="1">
                <a:solidFill>
                  <a:srgbClr val="3367FF"/>
                </a:solidFill>
                <a:latin typeface="Libre Franklin"/>
              </a:rPr>
              <a:t>Validate: SE leadership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14350" y="3943350"/>
            <a:ext cx="11163300" cy="55245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2950" y="4019549"/>
            <a:ext cx="3810000" cy="419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37" b="1">
                <a:solidFill>
                  <a:srgbClr val="041326"/>
                </a:solidFill>
                <a:latin typeface="Libre Franklin"/>
              </a:rPr>
              <a:t>Tickets of €15-100K clear the market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5350" y="4019549"/>
            <a:ext cx="4095750" cy="419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825" b="0">
                <a:solidFill>
                  <a:srgbClr val="2A384A"/>
                </a:solidFill>
                <a:latin typeface="Libre Franklin"/>
              </a:rPr>
              <a:t>AIB paid ~€80K for a weaker ADS; SAP and AWS wedge benchmarks</a:t>
            </a:r>
          </a:p>
        </p:txBody>
      </p:sp>
      <p:sp>
        <p:nvSpPr>
          <p:cNvPr id="35" name="Oval 34"/>
          <p:cNvSpPr/>
          <p:nvPr/>
        </p:nvSpPr>
        <p:spPr>
          <a:xfrm>
            <a:off x="9467850" y="4162424"/>
            <a:ext cx="114300" cy="114300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58350" y="4114800"/>
            <a:ext cx="7239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6B7786"/>
                </a:solidFill>
                <a:latin typeface="Libre Franklin"/>
              </a:rPr>
              <a:t>Medium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01300" y="4038600"/>
            <a:ext cx="1219200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750" b="1">
                <a:solidFill>
                  <a:srgbClr val="3367FF"/>
                </a:solidFill>
                <a:latin typeface="Libre Franklin"/>
              </a:rPr>
              <a:t>Validate: First 3 deals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14350" y="4591050"/>
            <a:ext cx="11163300" cy="55245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2950" y="4667250"/>
            <a:ext cx="3810000" cy="419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37" b="1">
                <a:solidFill>
                  <a:srgbClr val="041326"/>
                </a:solidFill>
                <a:latin typeface="Libre Franklin"/>
              </a:rPr>
              <a:t>Wedge-to-Mission attach of 50%+ in 6 months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05350" y="4667250"/>
            <a:ext cx="4095750" cy="419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825" b="0">
                <a:solidFill>
                  <a:srgbClr val="2A384A"/>
                </a:solidFill>
                <a:latin typeface="Libre Franklin"/>
              </a:rPr>
              <a:t>SAP and ServiceNow expansion patterns</a:t>
            </a:r>
          </a:p>
        </p:txBody>
      </p:sp>
      <p:sp>
        <p:nvSpPr>
          <p:cNvPr id="41" name="Oval 40"/>
          <p:cNvSpPr/>
          <p:nvPr/>
        </p:nvSpPr>
        <p:spPr>
          <a:xfrm>
            <a:off x="9467850" y="4810125"/>
            <a:ext cx="114300" cy="114300"/>
          </a:xfrm>
          <a:prstGeom prst="ellipse">
            <a:avLst/>
          </a:prstGeom>
          <a:solidFill>
            <a:srgbClr val="FF5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58350" y="4762500"/>
            <a:ext cx="7239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6B7786"/>
                </a:solidFill>
                <a:latin typeface="Libre Franklin"/>
              </a:rPr>
              <a:t>Low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01300" y="4686300"/>
            <a:ext cx="1219200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750" b="1">
                <a:solidFill>
                  <a:srgbClr val="3367FF"/>
                </a:solidFill>
                <a:latin typeface="Libre Franklin"/>
              </a:rPr>
              <a:t>Validate: Pilot cohort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14350" y="5238750"/>
            <a:ext cx="11163300" cy="55245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2950" y="5314950"/>
            <a:ext cx="3810000" cy="419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37" b="1">
                <a:solidFill>
                  <a:srgbClr val="041326"/>
                </a:solidFill>
                <a:latin typeface="Libre Franklin"/>
              </a:rPr>
              <a:t>EAP slots are open to our nominations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05350" y="5314950"/>
            <a:ext cx="4095750" cy="419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825" b="0">
                <a:solidFill>
                  <a:srgbClr val="2A384A"/>
                </a:solidFill>
                <a:latin typeface="Libre Franklin"/>
              </a:rPr>
              <a:t>Mid-year program; 8 slots remain; eligibility (new logos vs existing customers) unconfirmed</a:t>
            </a:r>
          </a:p>
        </p:txBody>
      </p:sp>
      <p:sp>
        <p:nvSpPr>
          <p:cNvPr id="47" name="Oval 46"/>
          <p:cNvSpPr/>
          <p:nvPr/>
        </p:nvSpPr>
        <p:spPr>
          <a:xfrm>
            <a:off x="9467850" y="5457825"/>
            <a:ext cx="114300" cy="114300"/>
          </a:xfrm>
          <a:prstGeom prst="ellipse">
            <a:avLst/>
          </a:prstGeom>
          <a:solidFill>
            <a:srgbClr val="FF5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58350" y="5410200"/>
            <a:ext cx="7239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6B7786"/>
                </a:solidFill>
                <a:latin typeface="Libre Franklin"/>
              </a:rPr>
              <a:t>Low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01300" y="5334000"/>
            <a:ext cx="1219200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750" b="1">
                <a:solidFill>
                  <a:srgbClr val="3367FF"/>
                </a:solidFill>
                <a:latin typeface="Libre Franklin"/>
              </a:rPr>
              <a:t>Validate: Program owner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76375"/>
            <a:ext cx="12192000" cy="13334"/>
          </a:xfrm>
          <a:prstGeom prst="rect">
            <a:avLst/>
          </a:prstGeom>
          <a:solidFill>
            <a:srgbClr val="2E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4825" y="0"/>
            <a:ext cx="13334" cy="6858000"/>
          </a:xfrm>
          <a:prstGeom prst="rect">
            <a:avLst/>
          </a:prstGeom>
          <a:solidFill>
            <a:srgbClr val="2E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687175" y="0"/>
            <a:ext cx="13334" cy="6858000"/>
          </a:xfrm>
          <a:prstGeom prst="rect">
            <a:avLst/>
          </a:prstGeom>
          <a:solidFill>
            <a:srgbClr val="2E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4825" y="4448175"/>
            <a:ext cx="11182350" cy="13334"/>
          </a:xfrm>
          <a:prstGeom prst="rect">
            <a:avLst/>
          </a:prstGeom>
          <a:solidFill>
            <a:srgbClr val="2E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8625" y="1323975"/>
            <a:ext cx="76200" cy="152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52425" y="1400175"/>
            <a:ext cx="76200" cy="76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ackbase-wordmark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55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5A6B80"/>
                </a:solidFill>
                <a:latin typeface="Libre Franklin"/>
              </a:rPr>
              <a:t>1</a:t>
            </a:fld>
          </a:p>
        </p:txBody>
      </p:sp>
      <p:sp>
        <p:nvSpPr>
          <p:cNvPr id="10" name="TextBox 9"/>
          <p:cNvSpPr txBox="1"/>
          <p:nvPr/>
        </p:nvSpPr>
        <p:spPr>
          <a:xfrm>
            <a:off x="1019174" y="2019300"/>
            <a:ext cx="6667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69FEFF"/>
                </a:solidFill>
                <a:latin typeface="Libre Franklin"/>
              </a:rPr>
              <a:t>04 · CHAPTER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0125" y="2381250"/>
            <a:ext cx="9525000" cy="76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Libre Franklin"/>
              </a:rPr>
              <a:t>Selling into apprehension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9174" y="3333750"/>
            <a:ext cx="9334500" cy="571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1125" b="0">
                <a:solidFill>
                  <a:srgbClr val="C5CFDE"/>
                </a:solidFill>
                <a:latin typeface="Libre Franklin"/>
              </a:rPr>
              <a:t>The bank’s buying criteria, the Early Access route around the RFP, and the honest critique of this plan.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2425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242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3957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5100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6225" y="200025"/>
            <a:ext cx="76200" cy="1524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025" y="276225"/>
            <a:ext cx="76200" cy="762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350" y="514350"/>
            <a:ext cx="8572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3367FF"/>
                </a:solidFill>
                <a:latin typeface="Libre Franklin"/>
              </a:rPr>
              <a:t>APPREHENSION · THE BUYING CRITERIA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781050"/>
            <a:ext cx="102870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Five questions decide a pre-RFP purchase; the wedge is shaped to answer every one.</a:t>
            </a:r>
          </a:p>
        </p:txBody>
      </p:sp>
      <p:pic>
        <p:nvPicPr>
          <p:cNvPr id="10" name="Picture 9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2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6B7786"/>
                </a:solidFill>
                <a:latin typeface="Libre Franklin"/>
              </a:rPr>
              <a:t>1</a:t>
            </a:fld>
          </a:p>
        </p:txBody>
      </p:sp>
      <p:sp>
        <p:nvSpPr>
          <p:cNvPr id="12" name="Rectangle 11"/>
          <p:cNvSpPr/>
          <p:nvPr/>
        </p:nvSpPr>
        <p:spPr>
          <a:xfrm>
            <a:off x="514350" y="6172200"/>
            <a:ext cx="111633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" y="6238875"/>
            <a:ext cx="111633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Delegated-authority thresholds vary by bank; the design rule is to price each rung inside one named sponsor’s delegation, and phase anything larger. Validate per account in the free wedge.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350" y="1981199"/>
            <a:ext cx="3619500" cy="723900"/>
          </a:xfrm>
          <a:prstGeom prst="roundRect">
            <a:avLst>
              <a:gd name="adj" fmla="val 8000"/>
            </a:avLst>
          </a:prstGeom>
          <a:solidFill>
            <a:srgbClr val="04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3900" y="2095499"/>
            <a:ext cx="3200400" cy="533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37" b="1">
                <a:solidFill>
                  <a:srgbClr val="FFFFFF"/>
                </a:solidFill>
                <a:latin typeface="Libre Franklin"/>
              </a:rPr>
              <a:t>“Can one sponsor sign it?”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4350" y="1981199"/>
            <a:ext cx="7353299" cy="7239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24350" y="2038349"/>
            <a:ext cx="38100" cy="6096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2950" y="2095499"/>
            <a:ext cx="6896100" cy="533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0">
                <a:solidFill>
                  <a:srgbClr val="041326"/>
                </a:solidFill>
                <a:latin typeface="Libre Franklin"/>
              </a:rPr>
              <a:t>Fixed price, sized inside the sponsor’s delegated authority; anything larger phases into rungs.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4350" y="2800350"/>
            <a:ext cx="3619500" cy="723900"/>
          </a:xfrm>
          <a:prstGeom prst="roundRect">
            <a:avLst>
              <a:gd name="adj" fmla="val 8000"/>
            </a:avLst>
          </a:prstGeom>
          <a:solidFill>
            <a:srgbClr val="04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900" y="2914650"/>
            <a:ext cx="3200400" cy="533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37" b="1">
                <a:solidFill>
                  <a:srgbClr val="FFFFFF"/>
                </a:solidFill>
                <a:latin typeface="Libre Franklin"/>
              </a:rPr>
              <a:t>“What is our InfoSec exposure?”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4350" y="2800350"/>
            <a:ext cx="7353299" cy="7239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24350" y="2857500"/>
            <a:ext cx="38100" cy="6096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52950" y="2914650"/>
            <a:ext cx="6896100" cy="533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0">
                <a:solidFill>
                  <a:srgbClr val="041326"/>
                </a:solidFill>
                <a:latin typeface="Libre Franklin"/>
              </a:rPr>
              <a:t>Lite modes run on MI packs and schema metadata; customer data never leaves the bank.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4350" y="3619500"/>
            <a:ext cx="3619500" cy="723900"/>
          </a:xfrm>
          <a:prstGeom prst="roundRect">
            <a:avLst>
              <a:gd name="adj" fmla="val 8000"/>
            </a:avLst>
          </a:prstGeom>
          <a:solidFill>
            <a:srgbClr val="04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3900" y="3733799"/>
            <a:ext cx="3200400" cy="533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37" b="1">
                <a:solidFill>
                  <a:srgbClr val="FFFFFF"/>
                </a:solidFill>
                <a:latin typeface="Libre Franklin"/>
              </a:rPr>
              <a:t>“What if we stop after this?”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4350" y="3619500"/>
            <a:ext cx="7353299" cy="7239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4350" y="3676649"/>
            <a:ext cx="38100" cy="6096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52950" y="3733799"/>
            <a:ext cx="6896100" cy="533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0">
                <a:solidFill>
                  <a:srgbClr val="041326"/>
                </a:solidFill>
                <a:latin typeface="Libre Franklin"/>
              </a:rPr>
              <a:t>The bank owns every artifact outright; the evidence is vendor-neutral and usable in any later tender.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14350" y="4438650"/>
            <a:ext cx="3619500" cy="723900"/>
          </a:xfrm>
          <a:prstGeom prst="roundRect">
            <a:avLst>
              <a:gd name="adj" fmla="val 8000"/>
            </a:avLst>
          </a:prstGeom>
          <a:solidFill>
            <a:srgbClr val="04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3900" y="4552950"/>
            <a:ext cx="3200400" cy="533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37" b="1">
                <a:solidFill>
                  <a:srgbClr val="FFFFFF"/>
                </a:solidFill>
                <a:latin typeface="Libre Franklin"/>
              </a:rPr>
              <a:t>“Is the spend defensible to audit?”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24350" y="4438650"/>
            <a:ext cx="7353299" cy="7239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24350" y="4495800"/>
            <a:ext cx="38100" cy="6096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52950" y="4552950"/>
            <a:ext cx="6896100" cy="533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0">
                <a:solidFill>
                  <a:srgbClr val="041326"/>
                </a:solidFill>
                <a:latin typeface="Libre Franklin"/>
              </a:rPr>
              <a:t>Fixed scope, named deliverables, a value floor (documented value ≥ 10× fee or it is free), full fee credit on conversion.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4350" y="5257800"/>
            <a:ext cx="3619500" cy="723900"/>
          </a:xfrm>
          <a:prstGeom prst="roundRect">
            <a:avLst>
              <a:gd name="adj" fmla="val 8000"/>
            </a:avLst>
          </a:prstGeom>
          <a:solidFill>
            <a:srgbClr val="04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3900" y="5372100"/>
            <a:ext cx="3200400" cy="533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37" b="1">
                <a:solidFill>
                  <a:srgbClr val="FFFFFF"/>
                </a:solidFill>
                <a:latin typeface="Libre Franklin"/>
              </a:rPr>
              <a:t>“Why you? You are new to this.”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24350" y="5257800"/>
            <a:ext cx="7353299" cy="7239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24350" y="5314950"/>
            <a:ext cx="38100" cy="6096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52950" y="5372100"/>
            <a:ext cx="6896100" cy="533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0">
                <a:solidFill>
                  <a:srgbClr val="041326"/>
                </a:solidFill>
                <a:latin typeface="Libre Franklin"/>
              </a:rPr>
              <a:t>Co-creation, never procurement: an Early Access nomination with roadmap influence, engineering access and joint proof.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2425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242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3957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5100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6225" y="200025"/>
            <a:ext cx="76200" cy="1524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025" y="276225"/>
            <a:ext cx="76200" cy="762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350" y="514350"/>
            <a:ext cx="8572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3367FF"/>
                </a:solidFill>
                <a:latin typeface="Libre Franklin"/>
              </a:rPr>
              <a:t>APPREHENSION · THE EARLY ACCESS ROUTE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781050"/>
            <a:ext cx="102870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The Early Access Program is the pre-RFP vehicle: slots are nominated, never tendered.</a:t>
            </a:r>
          </a:p>
        </p:txBody>
      </p:sp>
      <p:pic>
        <p:nvPicPr>
          <p:cNvPr id="10" name="Picture 9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2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6B7786"/>
                </a:solidFill>
                <a:latin typeface="Libre Franklin"/>
              </a:rPr>
              <a:t>1</a:t>
            </a:fld>
          </a:p>
        </p:txBody>
      </p:sp>
      <p:sp>
        <p:nvSpPr>
          <p:cNvPr id="12" name="Rectangle 11"/>
          <p:cNvSpPr/>
          <p:nvPr/>
        </p:nvSpPr>
        <p:spPr>
          <a:xfrm>
            <a:off x="514350" y="6172200"/>
            <a:ext cx="111633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" y="6238875"/>
            <a:ext cx="111633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OPEN ITEM: eligibility (new logos vs existing customers) is unconfirmed; verify with the program owner before the first account conversation. Slot count (8 remaining) per the mid-year program status.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350" y="2057400"/>
            <a:ext cx="5334000" cy="762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4350" y="2133600"/>
            <a:ext cx="38100" cy="6096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850" y="2171700"/>
            <a:ext cx="4991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Named roadmap influence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850" y="2438400"/>
            <a:ext cx="49911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The bank co-shapes Banking OS: direct input on Nexus, Sentinel and Mission patterns during the program.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4350" y="2933700"/>
            <a:ext cx="5334000" cy="762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4350" y="3009900"/>
            <a:ext cx="38100" cy="6096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3048000"/>
            <a:ext cx="4991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Fee becomes participation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850" y="3314700"/>
            <a:ext cx="49911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The wedge fee is framed as program participation and credits forward into the Mission POC.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4350" y="3810000"/>
            <a:ext cx="5334000" cy="762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4350" y="3886200"/>
            <a:ext cx="38100" cy="6096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850" y="3924300"/>
            <a:ext cx="4991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Engineering at the table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850" y="4190999"/>
            <a:ext cx="49911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A direct line to Factory engineering during the Mission; issues resolve in days, never through support queues.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4350" y="4686300"/>
            <a:ext cx="5334000" cy="762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4350" y="4762500"/>
            <a:ext cx="38100" cy="6096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4800600"/>
            <a:ext cx="4991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Joint proof, joint story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850" y="5067300"/>
            <a:ext cx="49911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Co-authored case study and reference rights; the bank is a design partner, never a logo on a slide.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1250" y="2057400"/>
            <a:ext cx="5486400" cy="3390900"/>
          </a:xfrm>
          <a:prstGeom prst="roundRect">
            <a:avLst>
              <a:gd name="adj" fmla="val 8000"/>
            </a:avLst>
          </a:prstGeom>
          <a:solidFill>
            <a:srgbClr val="04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77000" y="2305050"/>
            <a:ext cx="49149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69FEFF"/>
                </a:solidFill>
                <a:latin typeface="Libre Franklin"/>
              </a:rPr>
              <a:t>NOMINATED, NEVER TENDERED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7000" y="2609850"/>
            <a:ext cx="4914900" cy="1143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1575" b="1">
                <a:solidFill>
                  <a:srgbClr val="FFFFFF"/>
                </a:solidFill>
                <a:latin typeface="Libre Franklin"/>
              </a:rPr>
              <a:t>8 slots remain in the mid-year cohort.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77000" y="4324350"/>
            <a:ext cx="4914900" cy="99059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0">
                <a:solidFill>
                  <a:srgbClr val="C5CFDE"/>
                </a:solidFill>
                <a:latin typeface="Libre Franklin"/>
              </a:rPr>
              <a:t>A bank joins by nomination against program criteria, so there is nothing to RFP. The scarcity is honest: when the slots are gone, the cohort closes. Confirm eligibility for new logos vs existing customers with the program owner before nominating.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2425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242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3957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5100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6225" y="200025"/>
            <a:ext cx="76200" cy="1524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025" y="276225"/>
            <a:ext cx="76200" cy="762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350" y="514350"/>
            <a:ext cx="8572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3367FF"/>
                </a:solidFill>
                <a:latin typeface="Libre Franklin"/>
              </a:rPr>
              <a:t>APPREHENSION · THE PRE-RFP MECHANICS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781050"/>
            <a:ext cx="102870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Five mechanics keep the wedge inside the sponsor’s pen and outside the tender process.</a:t>
            </a:r>
          </a:p>
        </p:txBody>
      </p:sp>
      <p:pic>
        <p:nvPicPr>
          <p:cNvPr id="10" name="Picture 9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2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6B7786"/>
                </a:solidFill>
                <a:latin typeface="Libre Franklin"/>
              </a:rPr>
              <a:t>1</a:t>
            </a:fld>
          </a:p>
        </p:txBody>
      </p:sp>
      <p:sp>
        <p:nvSpPr>
          <p:cNvPr id="12" name="Rectangle 11"/>
          <p:cNvSpPr/>
          <p:nvPr/>
        </p:nvSpPr>
        <p:spPr>
          <a:xfrm>
            <a:off x="514350" y="6172200"/>
            <a:ext cx="111633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" y="6238875"/>
            <a:ext cx="111633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The one thing never to do: dodge procurement by making the work free. Free diagnostics re-break the economics and devalue the evidence. The credit-forward fee is the middle path.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350" y="1981199"/>
            <a:ext cx="11163300" cy="7239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4350" y="2038349"/>
            <a:ext cx="38100" cy="6096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2950" y="2076450"/>
            <a:ext cx="4000500" cy="571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37" b="1">
                <a:solidFill>
                  <a:srgbClr val="041326"/>
                </a:solidFill>
                <a:latin typeface="Libre Franklin"/>
              </a:rPr>
              <a:t>1 · A product SKU, never a services engagement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57750" y="2095499"/>
            <a:ext cx="6667500" cy="533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0">
                <a:solidFill>
                  <a:srgbClr val="041326"/>
                </a:solidFill>
                <a:latin typeface="Libre Franklin"/>
              </a:rPr>
              <a:t>Fixed price, fixed scope, catalogued deliverables. Procurement treats it like a software purchase; there is nothing to tender against.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4350" y="2800350"/>
            <a:ext cx="11163300" cy="7239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4350" y="2857500"/>
            <a:ext cx="38100" cy="6096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2950" y="2895600"/>
            <a:ext cx="4000500" cy="571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37" b="1">
                <a:solidFill>
                  <a:srgbClr val="041326"/>
                </a:solidFill>
                <a:latin typeface="Libre Franklin"/>
              </a:rPr>
              <a:t>2 · Sized to the sponsor’s pen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57750" y="2914650"/>
            <a:ext cx="6667500" cy="533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0">
                <a:solidFill>
                  <a:srgbClr val="041326"/>
                </a:solidFill>
                <a:latin typeface="Libre Franklin"/>
              </a:rPr>
              <a:t>Each rung sits inside one executive’s delegated authority. Larger ambitions phase across rungs; the threshold is never jumped.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4350" y="3619500"/>
            <a:ext cx="11163300" cy="7239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4350" y="3676649"/>
            <a:ext cx="38100" cy="6096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2950" y="3714750"/>
            <a:ext cx="4000500" cy="571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37" b="1">
                <a:solidFill>
                  <a:srgbClr val="041326"/>
                </a:solidFill>
                <a:latin typeface="Libre Franklin"/>
              </a:rPr>
              <a:t>3 · The fee credits forward, 100%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57750" y="3733799"/>
            <a:ext cx="6667500" cy="533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0">
                <a:solidFill>
                  <a:srgbClr val="041326"/>
                </a:solidFill>
                <a:latin typeface="Libre Franklin"/>
              </a:rPr>
              <a:t>On conversion the wedge fee credits into the Mission POC or licence. The budget is never spent on a maybe.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4350" y="4438650"/>
            <a:ext cx="11163300" cy="7239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4350" y="4495800"/>
            <a:ext cx="38100" cy="6096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2950" y="4533900"/>
            <a:ext cx="4000500" cy="571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37" b="1">
                <a:solidFill>
                  <a:srgbClr val="041326"/>
                </a:solidFill>
                <a:latin typeface="Libre Franklin"/>
              </a:rPr>
              <a:t>4 · The specimen pack sells before the SoW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57750" y="4552950"/>
            <a:ext cx="6667500" cy="533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0">
                <a:solidFill>
                  <a:srgbClr val="041326"/>
                </a:solidFill>
                <a:latin typeface="Libre Franklin"/>
              </a:rPr>
              <a:t>The free wedge ends by showing the exact artifacts (this deck’s sample outputs). The bank buys a known object.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4350" y="5257800"/>
            <a:ext cx="11163300" cy="7239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14350" y="5314950"/>
            <a:ext cx="38100" cy="6096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2950" y="5353050"/>
            <a:ext cx="4000500" cy="571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37" b="1">
                <a:solidFill>
                  <a:srgbClr val="041326"/>
                </a:solidFill>
                <a:latin typeface="Libre Franklin"/>
              </a:rPr>
              <a:t>5 · The bank owns the evidence, floor-guaranteed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57750" y="5372100"/>
            <a:ext cx="6667500" cy="533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0">
                <a:solidFill>
                  <a:srgbClr val="041326"/>
                </a:solidFill>
                <a:latin typeface="Libre Franklin"/>
              </a:rPr>
              <a:t>All artifacts are the bank’s property, vendor-neutral, with a value floor: documented value ≥ 10× fee, or it is free.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2425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242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3957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5100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6225" y="200025"/>
            <a:ext cx="76200" cy="1524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025" y="276225"/>
            <a:ext cx="76200" cy="762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350" y="514350"/>
            <a:ext cx="8572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3367FF"/>
                </a:solidFill>
                <a:latin typeface="Libre Franklin"/>
              </a:rPr>
              <a:t>APPREHENSION · THE HONEST CRITIQUE 1 OF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781050"/>
            <a:ext cx="102870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The capacity math does not support ten installs in year one; call year one a proof year.</a:t>
            </a:r>
          </a:p>
        </p:txBody>
      </p:sp>
      <p:pic>
        <p:nvPicPr>
          <p:cNvPr id="10" name="Picture 9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2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6B7786"/>
                </a:solidFill>
                <a:latin typeface="Libre Franklin"/>
              </a:rPr>
              <a:t>1</a:t>
            </a:fld>
          </a:p>
        </p:txBody>
      </p:sp>
      <p:sp>
        <p:nvSpPr>
          <p:cNvPr id="12" name="Rectangle 11"/>
          <p:cNvSpPr/>
          <p:nvPr/>
        </p:nvSpPr>
        <p:spPr>
          <a:xfrm>
            <a:off x="514350" y="6172200"/>
            <a:ext cx="111633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" y="6238875"/>
            <a:ext cx="111633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Revision to the chapter-1 economics: ten a year remains the cost-neutral bar, reached in year two with two delivery consultants funded by year-one revenue and the delivery kits.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350" y="2000250"/>
            <a:ext cx="3562350" cy="180975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3900" y="2171700"/>
            <a:ext cx="314325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3367FF"/>
                </a:solidFill>
                <a:latin typeface="Libre Franklin"/>
              </a:rPr>
              <a:t>DEMAND OF TEN INSTALLS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900" y="2438400"/>
            <a:ext cx="3143250" cy="571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425" b="1">
                <a:solidFill>
                  <a:srgbClr val="041326"/>
                </a:solidFill>
                <a:latin typeface="Libre Franklin"/>
              </a:rPr>
              <a:t>120-140 person-weeks a year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900" y="3143250"/>
            <a:ext cx="3143250" cy="533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825" b="0">
                <a:solidFill>
                  <a:srgbClr val="6B7786"/>
                </a:solidFill>
                <a:latin typeface="Libre Franklin"/>
              </a:rPr>
              <a:t>Delivery effort alone, per the register; excludes the build.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4825" y="2000250"/>
            <a:ext cx="3562350" cy="180975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4375" y="2171700"/>
            <a:ext cx="314325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3367FF"/>
                </a:solidFill>
                <a:latin typeface="Libre Franklin"/>
              </a:rPr>
              <a:t>POD SUPPLY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4375" y="2438400"/>
            <a:ext cx="3143250" cy="571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425" b="1">
                <a:solidFill>
                  <a:srgbClr val="041326"/>
                </a:solidFill>
                <a:latin typeface="Libre Franklin"/>
              </a:rPr>
              <a:t>≈ 70 person-weeks a year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4375" y="3143250"/>
            <a:ext cx="3143250" cy="533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825" b="0">
                <a:solidFill>
                  <a:srgbClr val="6B7786"/>
                </a:solidFill>
                <a:latin typeface="Libre Franklin"/>
              </a:rPr>
              <a:t>1.5 FTE across build, sell, deliver and the PDP itself.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15300" y="2000250"/>
            <a:ext cx="3562350" cy="180975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24849" y="2171700"/>
            <a:ext cx="314325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3367FF"/>
                </a:solidFill>
                <a:latin typeface="Libre Franklin"/>
              </a:rPr>
              <a:t>REALISTIC CEILING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4849" y="2438400"/>
            <a:ext cx="3143250" cy="571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425" b="1">
                <a:solidFill>
                  <a:srgbClr val="FF503C"/>
                </a:solidFill>
                <a:latin typeface="Libre Franklin"/>
              </a:rPr>
              <a:t>4-5 installs alongside the build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4849" y="3143250"/>
            <a:ext cx="3143250" cy="533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825" b="0">
                <a:solidFill>
                  <a:srgbClr val="6B7786"/>
                </a:solidFill>
                <a:latin typeface="Libre Franklin"/>
              </a:rPr>
              <a:t>The honest year-one number, with zero slack for surprises.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4350" y="4114800"/>
            <a:ext cx="11163300" cy="914400"/>
          </a:xfrm>
          <a:prstGeom prst="roundRect">
            <a:avLst>
              <a:gd name="adj" fmla="val 8000"/>
            </a:avLst>
          </a:prstGeom>
          <a:solidFill>
            <a:srgbClr val="E5E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2950" y="4248150"/>
            <a:ext cx="2857500" cy="666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75" b="1">
                <a:solidFill>
                  <a:srgbClr val="264EC7"/>
                </a:solidFill>
                <a:latin typeface="Libre Franklin"/>
              </a:rPr>
              <a:t>The revised plan.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14750" y="4229100"/>
            <a:ext cx="7734300" cy="7048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041326"/>
                </a:solidFill>
                <a:latin typeface="Libre Franklin"/>
              </a:rPr>
              <a:t>Year one proves the model: 3-4 paid installs (€0.4-0.5M), one per product family, plus the Early Access cohort. Year two reaches the ten-install cost-neutral rate with two delivery consultants funded by year-one revenue, delivering from the kits.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2425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242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3957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5100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6225" y="200025"/>
            <a:ext cx="76200" cy="1524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025" y="276225"/>
            <a:ext cx="76200" cy="762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350" y="514350"/>
            <a:ext cx="8572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3367FF"/>
                </a:solidFill>
                <a:latin typeface="Libre Franklin"/>
              </a:rPr>
              <a:t>APPREHENSION · THE HONEST CRITIQUE 2 OF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781050"/>
            <a:ext cx="102870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Five contradictions need a named decision before the first account conversation.</a:t>
            </a:r>
          </a:p>
        </p:txBody>
      </p:sp>
      <p:pic>
        <p:nvPicPr>
          <p:cNvPr id="10" name="Picture 9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2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6B7786"/>
                </a:solidFill>
                <a:latin typeface="Libre Franklin"/>
              </a:rPr>
              <a:t>1</a:t>
            </a:fld>
          </a:p>
        </p:txBody>
      </p:sp>
      <p:sp>
        <p:nvSpPr>
          <p:cNvPr id="12" name="Rectangle 11"/>
          <p:cNvSpPr/>
          <p:nvPr/>
        </p:nvSpPr>
        <p:spPr>
          <a:xfrm>
            <a:off x="514350" y="6172200"/>
            <a:ext cx="111633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" y="6238875"/>
            <a:ext cx="111633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Each row is a real tension inside the current plan, surfaced deliberately: resolving them on paper now is cheaper than discovering them inside a live account.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350" y="1943100"/>
            <a:ext cx="11163300" cy="762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4350" y="2019300"/>
            <a:ext cx="38100" cy="609600"/>
          </a:xfrm>
          <a:prstGeom prst="rect">
            <a:avLst/>
          </a:prstGeom>
          <a:solidFill>
            <a:srgbClr val="FF5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2950" y="2038349"/>
            <a:ext cx="3143250" cy="609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37" b="1">
                <a:solidFill>
                  <a:srgbClr val="041326"/>
                </a:solidFill>
                <a:latin typeface="Libre Franklin"/>
              </a:rPr>
              <a:t>Prospect-only rule vs Telemetry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00500" y="2038349"/>
            <a:ext cx="5143500" cy="609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25" b="0">
                <a:solidFill>
                  <a:srgbClr val="041326"/>
                </a:solidFill>
                <a:latin typeface="Libre Franklin"/>
              </a:rPr>
              <a:t>The pilot must be a prospect (Mayur’s ask), yet Telemetry needs a live deployment, which usually means an existing customer.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72600" y="2114550"/>
            <a:ext cx="2152650" cy="438150"/>
          </a:xfrm>
          <a:prstGeom prst="roundRect">
            <a:avLst>
              <a:gd name="adj" fmla="val 8000"/>
            </a:avLst>
          </a:prstGeom>
          <a:solidFill>
            <a:srgbClr val="E5E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5950" y="2171700"/>
            <a:ext cx="190500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787" b="1">
                <a:solidFill>
                  <a:srgbClr val="264EC7"/>
                </a:solidFill>
                <a:latin typeface="Libre Franklin"/>
              </a:rPr>
              <a:t>Mayur: scope the rule per product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4350" y="2781300"/>
            <a:ext cx="11163300" cy="762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4350" y="2857500"/>
            <a:ext cx="38100" cy="609600"/>
          </a:xfrm>
          <a:prstGeom prst="rect">
            <a:avLst/>
          </a:prstGeom>
          <a:solidFill>
            <a:srgbClr val="FF5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2950" y="2876550"/>
            <a:ext cx="3143250" cy="609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37" b="1">
                <a:solidFill>
                  <a:srgbClr val="041326"/>
                </a:solidFill>
                <a:latin typeface="Libre Franklin"/>
              </a:rPr>
              <a:t>Credited fees vs the revenue KPI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00500" y="2876550"/>
            <a:ext cx="5143500" cy="609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25" b="0">
                <a:solidFill>
                  <a:srgbClr val="041326"/>
                </a:solidFill>
                <a:latin typeface="Libre Franklin"/>
              </a:rPr>
              <a:t>A credited fee is pipeline; an uncredited install is revenue. The line carries one primary KPI; pick it before quota is set.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72600" y="2952750"/>
            <a:ext cx="2152650" cy="438150"/>
          </a:xfrm>
          <a:prstGeom prst="roundRect">
            <a:avLst>
              <a:gd name="adj" fmla="val 8000"/>
            </a:avLst>
          </a:prstGeom>
          <a:solidFill>
            <a:srgbClr val="E5E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05950" y="3009900"/>
            <a:ext cx="190500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787" b="1">
                <a:solidFill>
                  <a:srgbClr val="264EC7"/>
                </a:solidFill>
                <a:latin typeface="Libre Franklin"/>
              </a:rPr>
              <a:t>Mayur + finance: fix the KPI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4350" y="3619500"/>
            <a:ext cx="11163300" cy="762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4350" y="3695700"/>
            <a:ext cx="38100" cy="609600"/>
          </a:xfrm>
          <a:prstGeom prst="rect">
            <a:avLst/>
          </a:prstGeom>
          <a:solidFill>
            <a:srgbClr val="FF5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2950" y="3714750"/>
            <a:ext cx="3143250" cy="609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37" b="1">
                <a:solidFill>
                  <a:srgbClr val="041326"/>
                </a:solidFill>
                <a:latin typeface="Libre Franklin"/>
              </a:rPr>
              <a:t>The wedge reads as a tollbooth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00500" y="3714750"/>
            <a:ext cx="5143500" cy="609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25" b="0">
                <a:solidFill>
                  <a:srgbClr val="041326"/>
                </a:solidFill>
                <a:latin typeface="Libre Franklin"/>
              </a:rPr>
              <a:t>A €60K gate in front of a platform deal will push AEs to give discovery away free unless wedge revenue credits the account team.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372600" y="3790949"/>
            <a:ext cx="2152650" cy="438150"/>
          </a:xfrm>
          <a:prstGeom prst="roundRect">
            <a:avLst>
              <a:gd name="adj" fmla="val 8000"/>
            </a:avLst>
          </a:prstGeom>
          <a:solidFill>
            <a:srgbClr val="E5E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05950" y="3848099"/>
            <a:ext cx="190500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787" b="1">
                <a:solidFill>
                  <a:srgbClr val="264EC7"/>
                </a:solidFill>
                <a:latin typeface="Libre Franklin"/>
              </a:rPr>
              <a:t>Sales leadership: align incentives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14350" y="4457700"/>
            <a:ext cx="11163300" cy="762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14350" y="4533900"/>
            <a:ext cx="38100" cy="609600"/>
          </a:xfrm>
          <a:prstGeom prst="rect">
            <a:avLst/>
          </a:prstGeom>
          <a:solidFill>
            <a:srgbClr val="FF5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2950" y="4552950"/>
            <a:ext cx="3143250" cy="609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37" b="1">
                <a:solidFill>
                  <a:srgbClr val="041326"/>
                </a:solidFill>
                <a:latin typeface="Libre Franklin"/>
              </a:rPr>
              <a:t>EAP eligibility is unconfirmed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00500" y="4552950"/>
            <a:ext cx="5143500" cy="609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25" b="0">
                <a:solidFill>
                  <a:srgbClr val="041326"/>
                </a:solidFill>
                <a:latin typeface="Libre Franklin"/>
              </a:rPr>
              <a:t>Whether the 8 remaining slots take new logos, existing customers, or both changes which accounts can be nominated first.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372600" y="4629150"/>
            <a:ext cx="2152650" cy="438150"/>
          </a:xfrm>
          <a:prstGeom prst="roundRect">
            <a:avLst>
              <a:gd name="adj" fmla="val 8000"/>
            </a:avLst>
          </a:prstGeom>
          <a:solidFill>
            <a:srgbClr val="E5E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05950" y="4686300"/>
            <a:ext cx="190500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787" b="1">
                <a:solidFill>
                  <a:srgbClr val="264EC7"/>
                </a:solidFill>
                <a:latin typeface="Libre Franklin"/>
              </a:rPr>
              <a:t>Program owner: confirm eligibility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14350" y="5295900"/>
            <a:ext cx="11163300" cy="762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14350" y="5372100"/>
            <a:ext cx="38100" cy="609600"/>
          </a:xfrm>
          <a:prstGeom prst="rect">
            <a:avLst/>
          </a:prstGeom>
          <a:solidFill>
            <a:srgbClr val="FF5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42950" y="5391150"/>
            <a:ext cx="3143250" cy="609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37" b="1">
                <a:solidFill>
                  <a:srgbClr val="041326"/>
                </a:solidFill>
                <a:latin typeface="Libre Franklin"/>
              </a:rPr>
              <a:t>Engine B fights MBB on their turf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00500" y="5391150"/>
            <a:ext cx="5143500" cy="609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25" b="0">
                <a:solidFill>
                  <a:srgbClr val="041326"/>
                </a:solidFill>
                <a:latin typeface="Libre Franklin"/>
              </a:rPr>
              <a:t>Generic org design is customer-proximate space we lose; it is defensible only when it runs on Engine A’s harvested evidence.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372600" y="5467350"/>
            <a:ext cx="2152650" cy="438150"/>
          </a:xfrm>
          <a:prstGeom prst="roundRect">
            <a:avLst>
              <a:gd name="adj" fmla="val 8000"/>
            </a:avLst>
          </a:prstGeom>
          <a:solidFill>
            <a:srgbClr val="E5E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05950" y="5524500"/>
            <a:ext cx="190500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787" b="1">
                <a:solidFill>
                  <a:srgbClr val="264EC7"/>
                </a:solidFill>
                <a:latin typeface="Libre Franklin"/>
              </a:rPr>
              <a:t>You: enforce the sequencing rule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4825" y="0"/>
            <a:ext cx="13334" cy="6858000"/>
          </a:xfrm>
          <a:prstGeom prst="rect">
            <a:avLst/>
          </a:prstGeom>
          <a:solidFill>
            <a:srgbClr val="2E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687175" y="0"/>
            <a:ext cx="13334" cy="6858000"/>
          </a:xfrm>
          <a:prstGeom prst="rect">
            <a:avLst/>
          </a:prstGeom>
          <a:solidFill>
            <a:srgbClr val="2E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4825" y="1476375"/>
            <a:ext cx="11182350" cy="13334"/>
          </a:xfrm>
          <a:prstGeom prst="rect">
            <a:avLst/>
          </a:prstGeom>
          <a:solidFill>
            <a:srgbClr val="2E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896224" y="0"/>
            <a:ext cx="13334" cy="6858000"/>
          </a:xfrm>
          <a:prstGeom prst="rect">
            <a:avLst/>
          </a:prstGeom>
          <a:solidFill>
            <a:srgbClr val="2E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4825" y="4752975"/>
            <a:ext cx="7391400" cy="13334"/>
          </a:xfrm>
          <a:prstGeom prst="rect">
            <a:avLst/>
          </a:prstGeom>
          <a:solidFill>
            <a:srgbClr val="2E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20025" y="1476375"/>
            <a:ext cx="76200" cy="152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43825" y="1476375"/>
            <a:ext cx="76200" cy="76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125" y="2095499"/>
            <a:ext cx="6667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69FEFF"/>
                </a:solidFill>
                <a:latin typeface="Libre Franklin"/>
              </a:rPr>
              <a:t>THE MOTION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495550"/>
            <a:ext cx="6858000" cy="152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3150" b="1">
                <a:solidFill>
                  <a:srgbClr val="FFFFFF"/>
                </a:solidFill>
                <a:latin typeface="Libre Franklin"/>
              </a:rPr>
              <a:t>Land fast. Prove value.</a:t>
            </a:r>
          </a:p>
          <a:p>
            <a:pPr algn="l">
              <a:lnSpc>
                <a:spcPct val="105000"/>
              </a:lnSpc>
            </a:pPr>
            <a:r>
              <a:rPr sz="3150" b="1">
                <a:solidFill>
                  <a:srgbClr val="FFFFFF"/>
                </a:solidFill>
                <a:latin typeface="Libre Franklin"/>
              </a:rPr>
              <a:t>Expand.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1550" y="5029200"/>
            <a:ext cx="6762750" cy="76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C5CFDE"/>
                </a:solidFill>
                <a:latin typeface="Libre Franklin"/>
              </a:rPr>
              <a:t>One product in market by January. A proof year of 3-4 installs.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C5CFDE"/>
                </a:solidFill>
                <a:latin typeface="Libre Franklin"/>
              </a:rPr>
              <a:t>Cost neutral in year two. The platform pre-installed in every account we touch.</a:t>
            </a:r>
          </a:p>
        </p:txBody>
      </p:sp>
      <p:sp>
        <p:nvSpPr>
          <p:cNvPr id="12" name="Oval 11"/>
          <p:cNvSpPr/>
          <p:nvPr/>
        </p:nvSpPr>
        <p:spPr>
          <a:xfrm>
            <a:off x="8429625" y="2105025"/>
            <a:ext cx="95250" cy="95250"/>
          </a:xfrm>
          <a:prstGeom prst="ellipse">
            <a:avLst/>
          </a:prstGeom>
          <a:solidFill>
            <a:srgbClr val="69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2019300"/>
            <a:ext cx="2952750" cy="49529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825" b="0">
                <a:solidFill>
                  <a:srgbClr val="FFFFFF"/>
                </a:solidFill>
                <a:latin typeface="Libre Franklin"/>
              </a:rPr>
              <a:t>This week · book the Mayur 1:1: quota, pilot green-light, SE allocation, the four decisions.</a:t>
            </a:r>
          </a:p>
        </p:txBody>
      </p:sp>
      <p:sp>
        <p:nvSpPr>
          <p:cNvPr id="14" name="Oval 13"/>
          <p:cNvSpPr/>
          <p:nvPr/>
        </p:nvSpPr>
        <p:spPr>
          <a:xfrm>
            <a:off x="8429625" y="2657475"/>
            <a:ext cx="95250" cy="95250"/>
          </a:xfrm>
          <a:prstGeom prst="ellipse">
            <a:avLst/>
          </a:prstGeom>
          <a:solidFill>
            <a:srgbClr val="69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0" y="2571750"/>
            <a:ext cx="2952750" cy="49529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825" b="0">
                <a:solidFill>
                  <a:srgbClr val="FFFFFF"/>
                </a:solidFill>
                <a:latin typeface="Libre Franklin"/>
              </a:rPr>
              <a:t>This week · confirm EAP eligibility with the program owner; shortlist nominations.</a:t>
            </a:r>
          </a:p>
        </p:txBody>
      </p:sp>
      <p:sp>
        <p:nvSpPr>
          <p:cNvPr id="16" name="Oval 15"/>
          <p:cNvSpPr/>
          <p:nvPr/>
        </p:nvSpPr>
        <p:spPr>
          <a:xfrm>
            <a:off x="8429625" y="3209925"/>
            <a:ext cx="95250" cy="95250"/>
          </a:xfrm>
          <a:prstGeom prst="ellipse">
            <a:avLst/>
          </a:prstGeom>
          <a:solidFill>
            <a:srgbClr val="69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0" y="3124200"/>
            <a:ext cx="2952750" cy="49529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825" b="0">
                <a:solidFill>
                  <a:srgbClr val="FFFFFF"/>
                </a:solidFill>
                <a:latin typeface="Libre Franklin"/>
              </a:rPr>
              <a:t>This week · follow up with Tim: category story, launch collateral, talent-budget plan.</a:t>
            </a:r>
          </a:p>
        </p:txBody>
      </p:sp>
      <p:sp>
        <p:nvSpPr>
          <p:cNvPr id="18" name="Oval 17"/>
          <p:cNvSpPr/>
          <p:nvPr/>
        </p:nvSpPr>
        <p:spPr>
          <a:xfrm>
            <a:off x="8429625" y="3762374"/>
            <a:ext cx="95250" cy="95250"/>
          </a:xfrm>
          <a:prstGeom prst="ellipse">
            <a:avLst/>
          </a:prstGeom>
          <a:solidFill>
            <a:srgbClr val="69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0" y="3676649"/>
            <a:ext cx="2952750" cy="49529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825" b="0">
                <a:solidFill>
                  <a:srgbClr val="FFFFFF"/>
                </a:solidFill>
                <a:latin typeface="Libre Franklin"/>
              </a:rPr>
              <a:t>September · scope the keystone cost-per-outcome study with Deepak.</a:t>
            </a:r>
          </a:p>
        </p:txBody>
      </p:sp>
      <p:pic>
        <p:nvPicPr>
          <p:cNvPr id="20" name="Picture 19" descr="backbase-wordmark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553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5A6B80"/>
                </a:solidFill>
                <a:latin typeface="Libre Franklin"/>
              </a:rPr>
              <a:t>1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