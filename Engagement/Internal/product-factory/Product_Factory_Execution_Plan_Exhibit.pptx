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three-part design filter from the 29 Jun PDP session. Product-proximate = moat; customer-proximate = competitive space we lose. Every SKU must pass all three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Cost-neutrality is the floor, revenue generation is the objective. 10 × €120K ≈ €1.2M. Year two adds recurring Value Telemetry revenue on top of installs.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Rung 0 free = funnel. Rungs 1+2 = the €120K SKVC package = cost neutrality. Rung 3 = the growth flywheel (Value Telemetry + gain-share).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exit gates: Concept = qualified sponsor + pain. Design = signed SoW, agreed metrics, data access. Prototype = working demo on the client’s own data. Proof = CFO-grade evidence pack. Proposal = commercial offer + named Mission candidate. Signature = signed order form. Install = layer live + expansion roadmap handed to the 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an allocation ask, and specifically NOT a hiring ask. The SE is the critical unlock: same person across all four products so tooling skill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in the Tim and Mayur conversations. Each answer is evidence-backed, from the PDP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X-Ray productizes the Process &amp; Workspace Designer. It observes real flows across the 6-12 systems per journey and quantifies leakage in the messy middle, where ~60% of bank work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backlog item 2.2 (keystone, do first) + 2.3 (the SKU). Partner with Aayushi on the value-assurance line. Only Backbase sees cost-per-resolved-outcome; external FinOps tools see the cloud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Guardrail Studio productizes Decision &amp; Policy. It codifies authority, policies, entitlements and audit needs into executable guardrails, and the output is the Sentinel deployment blueprint.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Cartographer productizes the Semantic Modeler. Relationship Intelligence (Grow plays, share of wallet) requires shared truth, so every RI opportunity is a Cartographer prospect.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Total build load Aug 2026 - Jul 2027: 32-40 person-weeks across four products, sequenced so the pod never carries two builds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Sequencing logic: X-Ray first (lowest build risk, front-door product), Telemetry parallel (shares the keystone cost model work), Guardrail rides the Conversational pipeline, Cartographer lands on X-Ray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insight from the PDP session: the Factory already contains the discovery-end tools. The products ARE those tools, productized as standalone paid wedges. Delivery cost stays at person-weeks because nothing is built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for Tim: the talent budget becomes seed capital for a product launch, and specifically not a training spend. Framing for Mayur: these four asks are the same asks already on the PDP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CLAUDE.md governance: no hidden assumptions. These five carry the plan; validating the first three in September de-risks the whole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4825" y="14763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96224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4825" y="4752975"/>
            <a:ext cx="73914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20025" y="14763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43825" y="14763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09600"/>
            <a:ext cx="1143000" cy="2758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0125" y="2095499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VALUE CONSULTING · PDP ·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2495550"/>
            <a:ext cx="6858000" cy="1619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</a:pPr>
            <a:r>
              <a:rPr sz="3300" b="1">
                <a:solidFill>
                  <a:srgbClr val="FFFFFF"/>
                </a:solidFill>
                <a:latin typeface="Libre Franklin"/>
              </a:rPr>
              <a:t>Product Factory:</a:t>
            </a:r>
          </a:p>
          <a:p>
            <a:pPr algn="l">
              <a:lnSpc>
                <a:spcPct val="104000"/>
              </a:lnSpc>
            </a:pPr>
            <a:r>
              <a:rPr sz="3300" b="1">
                <a:solidFill>
                  <a:srgbClr val="FFFFFF"/>
                </a:solidFill>
                <a:latin typeface="Libre Franklin"/>
              </a:rPr>
              <a:t>from concept to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5029200"/>
            <a:ext cx="66675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87" b="0">
                <a:solidFill>
                  <a:srgbClr val="C5CFDE"/>
                </a:solidFill>
                <a:latin typeface="Libre Franklin"/>
              </a:rPr>
              <a:t>The execution plan for four paid product wedges that pre-install Banking OS,</a:t>
            </a:r>
          </a:p>
          <a:p>
            <a:pPr algn="l">
              <a:lnSpc>
                <a:spcPct val="130000"/>
              </a:lnSpc>
            </a:pPr>
            <a:r>
              <a:rPr sz="1087" b="0">
                <a:solidFill>
                  <a:srgbClr val="C5CFDE"/>
                </a:solidFill>
                <a:latin typeface="Libre Franklin"/>
              </a:rPr>
              <a:t>make the function cost neutral inside a year, and open a recurring revenue 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6143625"/>
            <a:ext cx="66675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Shyam · July 2026 · prepared for the talent programme (Tim Ruttner) and the PDP track (Mayur)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999" y="2095499"/>
            <a:ext cx="3048000" cy="857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Libre Franklin"/>
              </a:rPr>
              <a:t>One product in market</a:t>
            </a:r>
          </a:p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Libre Franklin"/>
              </a:rPr>
              <a:t>by January 2027.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999" y="3048000"/>
            <a:ext cx="30480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C5CFDE"/>
                </a:solidFill>
                <a:latin typeface="Libre Franklin"/>
              </a:rPr>
              <a:t>Four sellable SKUs and a recurring</a:t>
            </a:r>
          </a:p>
          <a:p>
            <a:pPr algn="l">
              <a:lnSpc>
                <a:spcPct val="125000"/>
              </a:lnSpc>
            </a:pPr>
            <a:r>
              <a:rPr sz="975" b="0">
                <a:solidFill>
                  <a:srgbClr val="C5CFDE"/>
                </a:solidFill>
                <a:latin typeface="Libre Franklin"/>
              </a:rPr>
              <a:t>line by mid 2027.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76375"/>
            <a:ext cx="121920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825" y="44481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8625" y="13239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2425" y="14001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019174" y="2019300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01 · CHAPTER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2381250"/>
            <a:ext cx="91440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The frameworks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4" y="333375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The thesis, the product filter, the economics, the lifecycle, and the pod that runs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Every product earns a fee, harvests the bank’s reality, and installs the first component of Banking OS.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Filter rule: a candidate that fails any one of the three tests is consulting, and stays out of the product line. Aligned to the Banking OS canon (knowledge/product/banking-os.md).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11455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1907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2288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1 · It earns a fee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49555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Each install is paid work at €15-100K, priced as a product with a fixed scope and a delivery kit.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327660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335280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33909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2 · It harvests proprietary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365760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engagement captures the bank’s real processes, data structures and policies. Evidence only Backbase holds.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4438650"/>
            <a:ext cx="53340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45148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455295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Test 3 · It pre-binds a Banking OS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819650"/>
            <a:ext cx="4991100" cy="552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output is a working component: Nexus, Sentinel or a Mission candidate, already present in the account.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1250" y="2114550"/>
            <a:ext cx="5486400" cy="3314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7000" y="236220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THE ONE-LINER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66700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Paid discovery that leaves the platform installed.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0" y="4305300"/>
            <a:ext cx="49149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Each engagement ends with a live Banking OS component in the account, a quantified expansion case for the AE, and account intelligence competitors and SIs never see.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Ten paid installs a year cover the full team cost; every install beyond is new revenue.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Package = Assess &amp; Solution €60K + Mission POC €60K. Team cost of ~€1.2M a year is the PDP working figure and is to be validated with finance. Year-two target of 14-16 installs is a planning range.</a:t>
            </a:r>
          </a:p>
        </p:txBody>
      </p:sp>
      <p:sp>
        <p:nvSpPr>
          <p:cNvPr id="14" name="Oval 13"/>
          <p:cNvSpPr/>
          <p:nvPr/>
        </p:nvSpPr>
        <p:spPr>
          <a:xfrm>
            <a:off x="9525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383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241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099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57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815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673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3100" y="27622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52500" y="34480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638300" y="3448050"/>
            <a:ext cx="400050" cy="4000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241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0099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6957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815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673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753100" y="3448050"/>
            <a:ext cx="400050" cy="40005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1550" y="4495800"/>
            <a:ext cx="152400" cy="15240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9200" y="4476750"/>
            <a:ext cx="285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Installs to cost neutrality (10)</a:t>
            </a:r>
          </a:p>
        </p:txBody>
      </p:sp>
      <p:sp>
        <p:nvSpPr>
          <p:cNvPr id="32" name="Oval 31"/>
          <p:cNvSpPr/>
          <p:nvPr/>
        </p:nvSpPr>
        <p:spPr>
          <a:xfrm>
            <a:off x="4400550" y="4495800"/>
            <a:ext cx="152400" cy="152400"/>
          </a:xfrm>
          <a:prstGeom prst="ellipse">
            <a:avLst/>
          </a:prstGeom>
          <a:solidFill>
            <a:srgbClr val="CC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48200" y="4476750"/>
            <a:ext cx="3048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786"/>
                </a:solidFill>
                <a:latin typeface="Libre Franklin"/>
              </a:rPr>
              <a:t>Year-two expansion range (14-16)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96150" y="2286000"/>
            <a:ext cx="4381500" cy="24765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77150" y="2552700"/>
            <a:ext cx="1714500" cy="857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3367FF"/>
                </a:solidFill>
                <a:latin typeface="Libre Franklin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77150" y="3524250"/>
            <a:ext cx="36195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087" b="0">
                <a:solidFill>
                  <a:srgbClr val="041326"/>
                </a:solidFill>
                <a:latin typeface="Libre Franklin"/>
              </a:rPr>
              <a:t>installs a year at an average package of €120K cover the ~€1.2M annual team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LADDER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wedge stays free; depth and recurrence carry the price.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Recurring range is a target shape anchored on SAP and ServiceNow success-plan pricing of 10-30% of licence value, and on FinOps gain-share market practice (15-35% of realised savings).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438400"/>
            <a:ext cx="2286000" cy="12382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552700"/>
            <a:ext cx="1943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Rung 0 · free wedge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819400"/>
            <a:ext cx="19431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Ignite Inspire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~4 meetings, benchmark and use-case shortlist. Grows the funnel.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650" y="2857500"/>
            <a:ext cx="2857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3750" y="2762250"/>
            <a:ext cx="26670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5200" y="2876550"/>
            <a:ext cx="22860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Assess &amp; Solution</a:t>
            </a:r>
          </a:p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00750" y="2762250"/>
            <a:ext cx="2667000" cy="723900"/>
          </a:xfrm>
          <a:prstGeom prst="rect">
            <a:avLst/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876550"/>
            <a:ext cx="228600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Mission POC</a:t>
            </a:r>
          </a:p>
          <a:p>
            <a:pPr algn="l">
              <a:lnSpc>
                <a:spcPct val="110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3750" y="2457450"/>
            <a:ext cx="5334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B7786"/>
                </a:solidFill>
                <a:latin typeface="Libre Franklin"/>
              </a:rPr>
              <a:t>Rungs 1 + 2 · the €120K package (to 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82050" y="2857500"/>
            <a:ext cx="2857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2100" y="2438400"/>
            <a:ext cx="2495550" cy="123825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1650" y="2552700"/>
            <a:ext cx="209549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1650" y="2800350"/>
            <a:ext cx="2095499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Value Assurance</a:t>
            </a:r>
          </a:p>
          <a:p>
            <a:pPr algn="l">
              <a:lnSpc>
                <a:spcPct val="115000"/>
              </a:lnSpc>
            </a:pPr>
            <a:r>
              <a:rPr sz="975" b="1">
                <a:solidFill>
                  <a:srgbClr val="FFFFFF"/>
                </a:solidFill>
                <a:latin typeface="Libre Franklin"/>
              </a:rPr>
              <a:t>€30-50K a year + gain share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4350" y="4381500"/>
            <a:ext cx="5448300" cy="8763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4350" y="4457700"/>
            <a:ext cx="381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95800"/>
            <a:ext cx="51054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The free wedge feeds the funnel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4762500"/>
            <a:ext cx="5105400" cy="4000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Four meetings surface the leakage evidence that qualifies the paid wedge. Zero friction to start.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9350" y="4381500"/>
            <a:ext cx="5448300" cy="8763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29350" y="4457700"/>
            <a:ext cx="38100" cy="7239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850" y="4495800"/>
            <a:ext cx="51054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Recurrence is the growth flywheel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850" y="4762500"/>
            <a:ext cx="5105400" cy="4000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Telemetry converts every live deployment into quarterly revenue that compounds with AI consumption.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LIFECYCLE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One motion carries every product from concept to installed platform.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Durations are per-engagement figures once the product is built, with a ±30% planning tolerance. The first pass through stages 1-4 is the one-time product build.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7225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25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Concept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· 1 wk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1199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24075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66950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66950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6475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6475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+ SE · 1-2 wks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0925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33799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76674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76674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SE · 2-3 wks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0650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43525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6400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95925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5925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· 2-4 wks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0375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3250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96125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96125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5650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Proposal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05650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VC + AE · 1 wk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100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62975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05850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05850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15375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Signature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15375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AE + VC · 2-4 wks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29825" y="300990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172700" y="2457450"/>
            <a:ext cx="1485900" cy="14287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315575" y="2619375"/>
            <a:ext cx="323850" cy="323850"/>
          </a:xfrm>
          <a:prstGeom prst="ellipse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15575" y="2676525"/>
            <a:ext cx="323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37" b="1">
                <a:solidFill>
                  <a:srgbClr val="FFFFFF"/>
                </a:solidFill>
                <a:latin typeface="Libre Franklin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25100" y="3048000"/>
            <a:ext cx="120015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Install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25100" y="3333750"/>
            <a:ext cx="1200150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FDE + SE · 6-12 wks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14350" y="4381500"/>
            <a:ext cx="11163300" cy="800100"/>
          </a:xfrm>
          <a:prstGeom prst="roundRect">
            <a:avLst>
              <a:gd name="adj" fmla="val 8000"/>
            </a:avLst>
          </a:prstGeom>
          <a:solidFill>
            <a:srgbClr val="E5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2950" y="4533900"/>
            <a:ext cx="2857500" cy="4952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12" b="1">
                <a:solidFill>
                  <a:srgbClr val="264EC7"/>
                </a:solidFill>
                <a:latin typeface="Libre Franklin"/>
              </a:rPr>
              <a:t>The lifecycle runs twice over.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14750" y="4495800"/>
            <a:ext cx="7734300" cy="60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The first pass through stages 1-4 builds the product itself. From the second account onward, the same motion runs as a 4-8 week sales-and-delivery cycle per install.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RESOURCING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A pod of two and a half people runs the whole line; hiring follows revenue.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FTE figures are steady-state allocations during build and delivery phases; FDE capacity is drawn from standard Mission Sprint staffing at install, so it is charged to the delivery, and not to this pod.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574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1336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1717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You · product owner · 1.0 FTE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4384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SKU design, value narrative, proof economics, proposal. Owns the P&amp;L of the 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29337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30099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30480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Solution engineer · 0.5 FTE,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33147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Connectors, data extraction, Factory tooling at prototype and install. The technical spine.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38100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38862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9243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FDE · on demand at 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190999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Runs the Factory Mission Sprint once an install is signed. 6-12 weeks per Mission.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46863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350" y="47625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8006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SME · on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50673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Risk and compliance review for Guardrail Studio; R&amp;D liaison for the Cartographer.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1250" y="2057400"/>
            <a:ext cx="5486400" cy="3390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230505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WHY THE SOLUTION ENGINEER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260985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One named SE across all four products, so skill compounds.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0" y="4324350"/>
            <a:ext cx="49149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Every product runs on the same Factory tools: Connector Studio, Semantic Modeler, Simulation &amp; Testing. Each install makes the next one cheaper and faster to deliver.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FRAMEWORKS · THE OBJECTIONS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three obvious objections have concrete answers.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AIB reference: paid an estimated ~€80K for an external current/future-state assessment (ADS), PDP session record, 29 Jun 2026. Wedge pattern references: AWS OLA, SAP Outside-In, ServiceNow Inspire.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11455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950" y="228600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“Banks will not pay for discovery.”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5350" y="2114550"/>
            <a:ext cx="69723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5350" y="21907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3950" y="2247900"/>
            <a:ext cx="65151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The market already does: AIB paid ~€80K for a weaker assessment. AWS, SAP and ServiceNow all run the diagnostic-wedge motion; ours goes further by installing product.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350" y="327660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950" y="344805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“We have no capacity to build products.”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5350" y="3276600"/>
            <a:ext cx="69723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05350" y="335280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3950" y="3409950"/>
            <a:ext cx="65151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Build effort is 6-12 person-weeks per product because the Factory tools, the APA V3 catalog and the cost model already exist. The sequence builds one product at a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4350" y="4438650"/>
            <a:ext cx="4000500" cy="10287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950" y="4610100"/>
            <a:ext cx="3543300" cy="723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Libre Franklin"/>
              </a:rPr>
              <a:t>“This distracts from platform sales.”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5350" y="4438650"/>
            <a:ext cx="6972300" cy="10287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05350" y="4514850"/>
            <a:ext cx="38100" cy="8763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3950" y="4572000"/>
            <a:ext cx="6515100" cy="800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937" b="0">
                <a:solidFill>
                  <a:srgbClr val="041326"/>
                </a:solidFill>
                <a:latin typeface="Libre Franklin"/>
              </a:rPr>
              <a:t>Every install pre-binds Nexus, Sentinel or a Mission and hands the AE a quantified expansion case. The wedge is the land motion of land-and-expand.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76375"/>
            <a:ext cx="121920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825" y="44481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8625" y="13239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2425" y="14001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019174" y="2019300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02 · CHAPTER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2381250"/>
            <a:ext cx="91440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Four execution plans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4" y="333375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Product by product: milestones, effort, pod, ticket, and the gate that unlocks each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1 OF 4 · PROCESS X-RAY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Process X-Ray ships first: demo by October, paid proof by December, first revenue in January.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Effort carries a ±30% tolerance. Build is low-risk because the APA V3 catalog (65 processes, 283 steps), the journey builder and the value-leakage method already exist in the repo.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3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Aug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Delivery kit, pricing one-pager, demo script. 3 pw, VC.</a:t>
            </a:r>
          </a:p>
        </p:txBody>
      </p:sp>
      <p:sp>
        <p:nvSpPr>
          <p:cNvPr id="19" name="Oval 18"/>
          <p:cNvSpPr/>
          <p:nvPr/>
        </p:nvSpPr>
        <p:spPr>
          <a:xfrm>
            <a:off x="3876674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037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Sep-Oct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037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037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Demo on the APA V3 catalog (65 processes) plus one friendly dataset. 5 pw, SE-led.</a:t>
            </a:r>
          </a:p>
        </p:txBody>
      </p:sp>
      <p:sp>
        <p:nvSpPr>
          <p:cNvPr id="23" name="Diamond 22"/>
          <p:cNvSpPr/>
          <p:nvPr/>
        </p:nvSpPr>
        <p:spPr>
          <a:xfrm>
            <a:off x="5991225" y="266700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350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Pilot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4350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Prospect pilot green-light with Mayur. AIB-profile account.</a:t>
            </a:r>
          </a:p>
        </p:txBody>
      </p:sp>
      <p:sp>
        <p:nvSpPr>
          <p:cNvPr id="27" name="Oval 26"/>
          <p:cNvSpPr/>
          <p:nvPr/>
        </p:nvSpPr>
        <p:spPr>
          <a:xfrm>
            <a:off x="8162925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662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Oct-Dec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662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662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leakage heatmap, top-3 Mission candidates with ROI evidence. 6 pw.</a:t>
            </a:r>
          </a:p>
        </p:txBody>
      </p:sp>
      <p:sp>
        <p:nvSpPr>
          <p:cNvPr id="31" name="Diamond 30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Wedge sold at €50-75K; install starts as a Factory Mission Sprint.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1.0 + SE 0.5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Mission candidate + ROI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2 OF 4 · VALUE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Value Telemetry rides the keystone cost-per-outcome model and opens the recurring line.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Gain-share pricing of 15-35% of realised savings is market-validated (ProsperOps, nOps, Vantage), with a “10% or free” floor. Current cost-model sample is n=2 use cases; the keystone study raises it to ~5.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704975" y="266700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Keystone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Extend the cost model from cost-per-interaction to cost-per-outcome, with Deepak. ~5 use cases.</a:t>
            </a:r>
          </a:p>
        </p:txBody>
      </p:sp>
      <p:sp>
        <p:nvSpPr>
          <p:cNvPr id="19" name="Oval 18"/>
          <p:cNvSpPr/>
          <p:nvPr/>
        </p:nvSpPr>
        <p:spPr>
          <a:xfrm>
            <a:off x="3876674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037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Sep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037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037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SKU spec: diagnostic scope, telemetry set, gain-share terms. 4 pw, VC.</a:t>
            </a:r>
          </a:p>
        </p:txBody>
      </p:sp>
      <p:sp>
        <p:nvSpPr>
          <p:cNvPr id="23" name="Oval 22"/>
          <p:cNvSpPr/>
          <p:nvPr/>
        </p:nvSpPr>
        <p:spPr>
          <a:xfrm>
            <a:off x="601980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350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4350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Cost-per-outcome dashboard on one live deployment’s data. 3 pw.</a:t>
            </a:r>
          </a:p>
        </p:txBody>
      </p:sp>
      <p:sp>
        <p:nvSpPr>
          <p:cNvPr id="27" name="Oval 26"/>
          <p:cNvSpPr/>
          <p:nvPr/>
        </p:nvSpPr>
        <p:spPr>
          <a:xfrm>
            <a:off x="8162925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6625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Nov-Dec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6625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6625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2-3 week diagnostic at a live customer: waste quantified, ROI re-proved. 3 pw.</a:t>
            </a:r>
          </a:p>
        </p:txBody>
      </p:sp>
      <p:sp>
        <p:nvSpPr>
          <p:cNvPr id="31" name="Diamond 30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€15-50K diagnostic + 15-35% gain share; quarterly recurrence begins.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6-8 person-wks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2-3 wks · 3-4 pw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0.5 + SE 0.25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Recurring + gain share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3 OF 4 · GUARDRAIL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Guardrail Studio attaches to every Conversational Banking deal in flight.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Timed to the Conversational Banking pipeline: Transact and Resolve capabilities require governed execution, which makes the Sentinel-readiness wedge a natural attach on active deals.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33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Jan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Decision &amp; Policy tooling alignment; risk and compliance SME briefed. 3 pw.</a:t>
            </a:r>
          </a:p>
        </p:txBody>
      </p:sp>
      <p:sp>
        <p:nvSpPr>
          <p:cNvPr id="19" name="Oval 18"/>
          <p:cNvSpPr/>
          <p:nvPr/>
        </p:nvSpPr>
        <p:spPr>
          <a:xfrm>
            <a:off x="45910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14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Feb-Mar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4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Authority-map demo: recommend, approve, execute per process. 5 pw.</a:t>
            </a:r>
          </a:p>
        </p:txBody>
      </p:sp>
      <p:sp>
        <p:nvSpPr>
          <p:cNvPr id="23" name="Oval 22"/>
          <p:cNvSpPr/>
          <p:nvPr/>
        </p:nvSpPr>
        <p:spPr>
          <a:xfrm>
            <a:off x="7448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2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Apr-May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2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2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guardrail backlog, entitlements map, Sentinel install blueprint. 6 pw.</a:t>
            </a:r>
          </a:p>
        </p:txBody>
      </p:sp>
      <p:sp>
        <p:nvSpPr>
          <p:cNvPr id="27" name="Diamond 26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Jun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Sold at €50-100K, riding Transact and Resolve deals in flight.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VC 1.0 + SE 0.5 + SME 0.2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Sentinel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 4 OF 4 · ONTOLOGY CARTOGRAPHER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Ontology Cartographer is the deepest build and lands where X-Ray has created demand.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Sequenced last deliberately: it has the highest technical depth, needs R&amp;D alignment, and sells best into accounts where an X-Ray install has already evidenced the cost of fragmented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2762250"/>
            <a:ext cx="8572500" cy="22859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704975" y="2667000"/>
            <a:ext cx="209550" cy="20955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Feb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R&amp;D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Alignment with the Semantic Modeler and Nexus teams on tooling reuse.</a:t>
            </a:r>
          </a:p>
        </p:txBody>
      </p:sp>
      <p:sp>
        <p:nvSpPr>
          <p:cNvPr id="19" name="Oval 18"/>
          <p:cNvSpPr/>
          <p:nvPr/>
        </p:nvSpPr>
        <p:spPr>
          <a:xfrm>
            <a:off x="45910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14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Mar-Apr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4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Ontology mapping demo on two sample cores (core, CRM, LMS, credit). 6 pw, SE-led.</a:t>
            </a:r>
          </a:p>
        </p:txBody>
      </p:sp>
      <p:sp>
        <p:nvSpPr>
          <p:cNvPr id="23" name="Oval 22"/>
          <p:cNvSpPr/>
          <p:nvPr/>
        </p:nvSpPr>
        <p:spPr>
          <a:xfrm>
            <a:off x="7448550" y="2695575"/>
            <a:ext cx="152400" cy="152400"/>
          </a:xfrm>
          <a:prstGeom prst="ellipse">
            <a:avLst/>
          </a:prstGeom>
          <a:solidFill>
            <a:srgbClr val="3367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22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May-Jul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22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22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Paid pilot: ontology coverage map, data-to-truth gap report, Nexus blueprint. 8 pw.</a:t>
            </a:r>
          </a:p>
        </p:txBody>
      </p:sp>
      <p:sp>
        <p:nvSpPr>
          <p:cNvPr id="27" name="Diamond 26"/>
          <p:cNvSpPr/>
          <p:nvPr/>
        </p:nvSpPr>
        <p:spPr>
          <a:xfrm>
            <a:off x="10277475" y="2667000"/>
            <a:ext cx="209550" cy="20955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29750" y="2381250"/>
            <a:ext cx="19050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3367FF"/>
                </a:solidFill>
                <a:latin typeface="Libre Franklin"/>
              </a:rPr>
              <a:t>Aug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9750" y="3009900"/>
            <a:ext cx="19050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First signature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3276600"/>
            <a:ext cx="1905000" cy="952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787" b="0">
                <a:solidFill>
                  <a:srgbClr val="6B7786"/>
                </a:solidFill>
                <a:latin typeface="Libre Franklin"/>
              </a:rPr>
              <a:t>Sold at €75-100K, attached to Relationship Intelligence opportunities.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4350" y="4400550"/>
            <a:ext cx="11163300" cy="9144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05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BUILD EFFORT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05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10-12 person-wks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187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187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2700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SE 1.0 + VC 0.5 (SE-led)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53525" y="4552950"/>
            <a:ext cx="2409825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87" b="1">
                <a:solidFill>
                  <a:srgbClr val="69FEFF"/>
                </a:solidFill>
                <a:latin typeface="Libre Franklin"/>
              </a:rPr>
              <a:t>PRE-BINDS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3525" y="4800600"/>
            <a:ext cx="2409825" cy="438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87" b="1">
                <a:solidFill>
                  <a:srgbClr val="FFFFFF"/>
                </a:solidFill>
                <a:latin typeface="Libre Franklin"/>
              </a:rPr>
              <a:t>Nexus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EXECUTION PLANS · THE 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Twelve months of product build fits inside the existing pod.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pw = person-weeks. Build = one-time productization effort. Delivery = elapsed and effort figures per client install once productized. All efforts carry a ±30% planning tolerance.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" y="2190750"/>
            <a:ext cx="3181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99" y="2190750"/>
            <a:ext cx="1657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ONE-TIME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7850" y="2190750"/>
            <a:ext cx="2038349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2190750"/>
            <a:ext cx="22288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POD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9850" y="2190750"/>
            <a:ext cx="127635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FIRST REVENUE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" y="2476500"/>
            <a:ext cx="11144250" cy="20955"/>
          </a:xfrm>
          <a:prstGeom prst="rect">
            <a:avLst/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350" y="2724150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Process X-Ray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8099" y="272415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8-10 pw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7850" y="272415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8600" y="272415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1.0 + SE 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9850" y="272415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Jan 2027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350" y="3181350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" y="3352800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Value Telemetry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8099" y="335280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6-8 pw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57850" y="335280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2-3 wks · 3-4 pw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8600" y="335280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0.5 + SE 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9850" y="335280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Jan 2027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" y="3810000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350" y="3981450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Guardrail 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8099" y="398145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8-10 pw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57850" y="398145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8600" y="398145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VC 1.0 + SE 0.5 + SME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9850" y="398145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Jun 2027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4350" y="4438650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4350" y="4610100"/>
            <a:ext cx="3181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1">
                <a:solidFill>
                  <a:srgbClr val="041326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8099" y="4610100"/>
            <a:ext cx="1657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10-12 pw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57850" y="4610100"/>
            <a:ext cx="2038349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48600" y="4610100"/>
            <a:ext cx="22288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SE 1.0 + VC 0.5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29850" y="4610100"/>
            <a:ext cx="1276350" cy="381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12" b="0">
                <a:solidFill>
                  <a:srgbClr val="2A384A"/>
                </a:solidFill>
                <a:latin typeface="Libre Franklin"/>
              </a:rPr>
              <a:t>Aug 2027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4350" y="5067300"/>
            <a:ext cx="1114425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76375"/>
            <a:ext cx="121920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825" y="44481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8625" y="13239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2425" y="14001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019174" y="2019300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03 · CHAPTER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2381250"/>
            <a:ext cx="91440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Libre Franklin"/>
              </a:rPr>
              <a:t>Mobilization and the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4" y="333375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5CFDE"/>
                </a:solidFill>
                <a:latin typeface="Libre Franklin"/>
              </a:rPr>
              <a:t>The twelve-month sequence, how the Delivery Factory carries it, and the four decisions that unlock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MOBILIZATION · THE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One product at a time reaches four sellable SKUs and recurring revenue inside twelve months.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Red diamonds are decision gates (SE named · pilot green-light · R&amp;D alignment). Blue diamonds mark first revenue per product. Bars show elapsed calendar time, and effort within them is per the register.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Aug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8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Sep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8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00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Oct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Nov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62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Dec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4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6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6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8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0499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Mar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0499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2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Apr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2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34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May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34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6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Jun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96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58500" y="2019300"/>
            <a:ext cx="762000" cy="2095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787" b="1">
                <a:solidFill>
                  <a:srgbClr val="6B7786"/>
                </a:solidFill>
                <a:latin typeface="Libre Franklin"/>
              </a:rPr>
              <a:t>Jul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58500" y="2247900"/>
            <a:ext cx="9525" cy="2952750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76500" y="1809750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6500" y="1809750"/>
            <a:ext cx="19050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6B7786"/>
                </a:solidFill>
                <a:latin typeface="Libre Franklin"/>
              </a:rPr>
              <a:t>2027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350" y="240030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Keystone study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57550" y="238125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52800" y="24098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With Deepak</a:t>
            </a:r>
          </a:p>
        </p:txBody>
      </p:sp>
      <p:sp>
        <p:nvSpPr>
          <p:cNvPr id="43" name="Diamond 42"/>
          <p:cNvSpPr/>
          <p:nvPr/>
        </p:nvSpPr>
        <p:spPr>
          <a:xfrm>
            <a:off x="3162300" y="242887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4350" y="299085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Process X-Ray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95550" y="297180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57550" y="29718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52800" y="30003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81550" y="29718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76800" y="30003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05550" y="2971800"/>
            <a:ext cx="52959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3000375"/>
            <a:ext cx="514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Sell + install</a:t>
            </a:r>
          </a:p>
        </p:txBody>
      </p:sp>
      <p:sp>
        <p:nvSpPr>
          <p:cNvPr id="52" name="Diamond 51"/>
          <p:cNvSpPr/>
          <p:nvPr/>
        </p:nvSpPr>
        <p:spPr>
          <a:xfrm>
            <a:off x="3924300" y="301942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iamond 52"/>
          <p:cNvSpPr/>
          <p:nvPr/>
        </p:nvSpPr>
        <p:spPr>
          <a:xfrm>
            <a:off x="6210300" y="301942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4350" y="358140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Value Telemetry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57550" y="356235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19549" y="356235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781550" y="356235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76800" y="35909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05550" y="3562350"/>
            <a:ext cx="52959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3590925"/>
            <a:ext cx="514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Recurring</a:t>
            </a:r>
          </a:p>
        </p:txBody>
      </p:sp>
      <p:sp>
        <p:nvSpPr>
          <p:cNvPr id="61" name="Diamond 60"/>
          <p:cNvSpPr/>
          <p:nvPr/>
        </p:nvSpPr>
        <p:spPr>
          <a:xfrm>
            <a:off x="6210300" y="360997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350" y="417195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Guardrail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05550" y="415290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067550" y="41529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62800" y="41814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591550" y="41529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86800" y="41814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115550" y="415290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10800" y="418147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Sell</a:t>
            </a:r>
          </a:p>
        </p:txBody>
      </p:sp>
      <p:sp>
        <p:nvSpPr>
          <p:cNvPr id="70" name="Diamond 69"/>
          <p:cNvSpPr/>
          <p:nvPr/>
        </p:nvSpPr>
        <p:spPr>
          <a:xfrm>
            <a:off x="10020300" y="4200525"/>
            <a:ext cx="152400" cy="152400"/>
          </a:xfrm>
          <a:prstGeom prst="diamond">
            <a:avLst/>
          </a:prstGeom>
          <a:solidFill>
            <a:srgbClr val="3367F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350" y="4762500"/>
            <a:ext cx="1809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41326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067550" y="4743450"/>
            <a:ext cx="723900" cy="247649"/>
          </a:xfrm>
          <a:prstGeom prst="roundRect">
            <a:avLst>
              <a:gd name="adj" fmla="val 8000"/>
            </a:avLst>
          </a:prstGeom>
          <a:solidFill>
            <a:srgbClr val="99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829550" y="4743450"/>
            <a:ext cx="1485900" cy="247649"/>
          </a:xfrm>
          <a:prstGeom prst="roundRect">
            <a:avLst>
              <a:gd name="adj" fmla="val 8000"/>
            </a:avLst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24799" y="4772025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353550" y="4743450"/>
            <a:ext cx="2247900" cy="247649"/>
          </a:xfrm>
          <a:prstGeom prst="roundRect">
            <a:avLst>
              <a:gd name="adj" fmla="val 8000"/>
            </a:avLst>
          </a:prstGeom>
          <a:solidFill>
            <a:srgbClr val="264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48800" y="4772025"/>
            <a:ext cx="2095499" cy="190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712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77" name="Diamond 76"/>
          <p:cNvSpPr/>
          <p:nvPr/>
        </p:nvSpPr>
        <p:spPr>
          <a:xfrm>
            <a:off x="6972300" y="4791075"/>
            <a:ext cx="152400" cy="152400"/>
          </a:xfrm>
          <a:prstGeom prst="diamond">
            <a:avLst/>
          </a:prstGeom>
          <a:solidFill>
            <a:srgbClr val="FF503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MOBILIZATION · THE DELIVERY FACTORY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Delivery Factory carries every stage from prototype to installed layer.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Factory toolchain per the Banking OS canon: Process &amp; Workspace Designer · Semantic Modeler · Agent Builder · Decision &amp; Policy · Connector Studio · Simulation &amp; Testing · Deployment &amp; Ops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190750"/>
            <a:ext cx="2619375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2400300"/>
            <a:ext cx="223837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2686050"/>
            <a:ext cx="2238375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Semantic Modeler +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Connector Studio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3900" y="3505200"/>
            <a:ext cx="2200275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" y="3638550"/>
            <a:ext cx="2238375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A working demo on the bank’s own data, in weeks.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2775" y="33337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2325" y="2190750"/>
            <a:ext cx="2619375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71875" y="2400300"/>
            <a:ext cx="223837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1875" y="2686050"/>
            <a:ext cx="2238375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Simulation &amp; Testing +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Ops Control telemetry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71875" y="3505200"/>
            <a:ext cx="2200275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71875" y="3638550"/>
            <a:ext cx="2238375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CFO-grade evidence runs with zero production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0750" y="33337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300" y="2190750"/>
            <a:ext cx="2619375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850" y="2400300"/>
            <a:ext cx="223837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INSTALL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850" y="2686050"/>
            <a:ext cx="2238375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Mission Contract with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Nexus + Sentinel binding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9850" y="3505200"/>
            <a:ext cx="2200275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850" y="3638550"/>
            <a:ext cx="2238375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The Banking OS layer live in 6-12 weeks, via the agentic SDLC.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8725" y="3333750"/>
            <a:ext cx="1905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25" b="0">
                <a:solidFill>
                  <a:srgbClr val="6B7786"/>
                </a:solidFill>
                <a:latin typeface="Libre Franklin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8275" y="2190750"/>
            <a:ext cx="2619375" cy="2667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67825" y="2400300"/>
            <a:ext cx="2238375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3367FF"/>
                </a:solidFill>
                <a:latin typeface="Libre Franklin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7825" y="2686050"/>
            <a:ext cx="2238375" cy="666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Deployment &amp;</a:t>
            </a:r>
          </a:p>
          <a:p>
            <a:pPr algn="l">
              <a:lnSpc>
                <a:spcPct val="112000"/>
              </a:lnSpc>
            </a:pPr>
            <a:r>
              <a:rPr sz="1087" b="1">
                <a:solidFill>
                  <a:srgbClr val="041326"/>
                </a:solidFill>
                <a:latin typeface="Libre Franklin"/>
              </a:rPr>
              <a:t>Ops Control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67825" y="3505200"/>
            <a:ext cx="2200275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7825" y="3638550"/>
            <a:ext cx="2238375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Live telemetry that feeds Value Telemetry and the expansion case.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MOBILIZATION · 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Four decisions unlock execution; the €5,000 talent budget seeds product number one.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Quota figure of ~€200K recognition and pilot-account choice are open PDP items (1.3, 1.4) for the next 1:1 with Mayur. Keystone study scope sits with Deepak (backlog item 2.2).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0574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350" y="21336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1717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1 · Name the solution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4384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0.5 FTE from the regional pool, committed by September. The single critical-path resource.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" y="29337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50" y="30099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30480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2 · Green-light one prospect 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33147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AIB-profile account for the X-Ray proof, by October. A prospect, keeping existing customers out of scope.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38100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50" y="38862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9243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3 · Back the keystone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190999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Cost-per-outcome model with Deepak in September. Value Telemetry and the FinOps line depend on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4686300"/>
            <a:ext cx="5334000" cy="7620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 w="9525">
            <a:solidFill>
              <a:srgbClr val="CE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4350" y="4762500"/>
            <a:ext cx="38100" cy="6096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800600"/>
            <a:ext cx="49911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41326"/>
                </a:solidFill>
                <a:latin typeface="Libre Franklin"/>
              </a:rPr>
              <a:t>4 · Agree the commercial treatment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5067300"/>
            <a:ext cx="4991100" cy="2857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2A384A"/>
                </a:solidFill>
                <a:latin typeface="Libre Franklin"/>
              </a:rPr>
              <a:t>Quota recognition of ~€200K so the line carries a real target from day one.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1250" y="2057400"/>
            <a:ext cx="5486400" cy="3390900"/>
          </a:xfrm>
          <a:prstGeom prst="roundRect">
            <a:avLst>
              <a:gd name="adj" fmla="val 8000"/>
            </a:avLst>
          </a:prstGeom>
          <a:solidFill>
            <a:srgbClr val="041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0" y="230505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69FEFF"/>
                </a:solidFill>
                <a:latin typeface="Libre Franklin"/>
              </a:rPr>
              <a:t>THE €5,000 SEED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260985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Libre Franklin"/>
              </a:rPr>
              <a:t>The talent budget launches product number one.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0" y="4324350"/>
            <a:ext cx="4914900" cy="9905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C5CFDE"/>
                </a:solidFill>
                <a:latin typeface="Libre Franklin"/>
              </a:rPr>
              <a:t>Packaging and delivery kit for Process X-Ray, a demo built on the APA V3 catalog, launch collateral produced with marketing, and pricing pressure-tests with three friendly accounts.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2425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242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39575" y="0"/>
            <a:ext cx="13334" cy="6515100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5100"/>
            <a:ext cx="121920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6225" y="200025"/>
            <a:ext cx="76200" cy="1524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025" y="276225"/>
            <a:ext cx="76200" cy="76200"/>
          </a:xfrm>
          <a:prstGeom prst="rect">
            <a:avLst/>
          </a:prstGeom>
          <a:solidFill>
            <a:srgbClr val="336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514350"/>
            <a:ext cx="8572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3367FF"/>
                </a:solidFill>
                <a:latin typeface="Libre Franklin"/>
              </a:rPr>
              <a:t>MOBILIZATION · PLANNING BASIS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781050"/>
            <a:ext cx="9906000" cy="10477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2175" b="1">
                <a:solidFill>
                  <a:srgbClr val="041326"/>
                </a:solidFill>
                <a:latin typeface="Libre Franklin"/>
              </a:rPr>
              <a:t>The plan stands on five explicit assumptions, each with an owner to validate.</a:t>
            </a:r>
          </a:p>
        </p:txBody>
      </p:sp>
      <p:pic>
        <p:nvPicPr>
          <p:cNvPr id="10" name="Picture 9" descr="backbase-word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2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6B7786"/>
                </a:solidFill>
                <a:latin typeface="Libre Franklin"/>
              </a:rPr>
              <a:t>1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514350" y="6172200"/>
            <a:ext cx="11163300" cy="13334"/>
          </a:xfrm>
          <a:prstGeom prst="rect">
            <a:avLst/>
          </a:prstGeom>
          <a:solidFill>
            <a:srgbClr val="CE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238875"/>
            <a:ext cx="11163300" cy="2476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62" b="0">
                <a:solidFill>
                  <a:srgbClr val="6B7786"/>
                </a:solidFill>
                <a:latin typeface="Libre Franklin"/>
              </a:rPr>
              <a:t>Confidence ratings follow the repo standard: every assumption is documented, conservative, and sensitivity-tested before any figure becomes client-facing or budget-committed.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2114550"/>
            <a:ext cx="111633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950" y="220980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Team cost ~€1.2M a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5350" y="220980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PDP working figure</a:t>
            </a:r>
          </a:p>
        </p:txBody>
      </p:sp>
      <p:sp>
        <p:nvSpPr>
          <p:cNvPr id="17" name="Oval 16"/>
          <p:cNvSpPr/>
          <p:nvPr/>
        </p:nvSpPr>
        <p:spPr>
          <a:xfrm>
            <a:off x="9467850" y="235267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230505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1300" y="2247900"/>
            <a:ext cx="12192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Mayur + finance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" y="2800350"/>
            <a:ext cx="111633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950" y="289560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Effort estimates within ±30%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5350" y="289560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Analogous VC engagements; first product build actuals will recalibrate</a:t>
            </a:r>
          </a:p>
        </p:txBody>
      </p:sp>
      <p:sp>
        <p:nvSpPr>
          <p:cNvPr id="23" name="Oval 22"/>
          <p:cNvSpPr/>
          <p:nvPr/>
        </p:nvSpPr>
        <p:spPr>
          <a:xfrm>
            <a:off x="9467850" y="3038475"/>
            <a:ext cx="114300" cy="11430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8350" y="299085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Medium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1300" y="2933700"/>
            <a:ext cx="12192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First build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" y="3486150"/>
            <a:ext cx="111633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950" y="358140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SE at 0.5 FTE is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350" y="358140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Regional pool capacity, unconfirmed</a:t>
            </a:r>
          </a:p>
        </p:txBody>
      </p:sp>
      <p:sp>
        <p:nvSpPr>
          <p:cNvPr id="29" name="Oval 28"/>
          <p:cNvSpPr/>
          <p:nvPr/>
        </p:nvSpPr>
        <p:spPr>
          <a:xfrm>
            <a:off x="9467850" y="372427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8350" y="3676649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1300" y="3619500"/>
            <a:ext cx="12192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SE leadership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4350" y="4171950"/>
            <a:ext cx="111633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950" y="426720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Tickets of €15-100K clear the market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350" y="426720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AIB paid ~€80K for a weaker ADS; SAP and AWS wedge benchmarks</a:t>
            </a:r>
          </a:p>
        </p:txBody>
      </p:sp>
      <p:sp>
        <p:nvSpPr>
          <p:cNvPr id="35" name="Oval 34"/>
          <p:cNvSpPr/>
          <p:nvPr/>
        </p:nvSpPr>
        <p:spPr>
          <a:xfrm>
            <a:off x="9467850" y="4410075"/>
            <a:ext cx="114300" cy="11430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36245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Medium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01300" y="4305300"/>
            <a:ext cx="12192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First 3 deals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4350" y="4857750"/>
            <a:ext cx="11163300" cy="59055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950" y="4953000"/>
            <a:ext cx="38100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75" b="1">
                <a:solidFill>
                  <a:srgbClr val="041326"/>
                </a:solidFill>
                <a:latin typeface="Libre Franklin"/>
              </a:rPr>
              <a:t>Wedge-to-Mission attach of 50%+ in 6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5350" y="4953000"/>
            <a:ext cx="409575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62" b="0">
                <a:solidFill>
                  <a:srgbClr val="2A384A"/>
                </a:solidFill>
                <a:latin typeface="Libre Franklin"/>
              </a:rPr>
              <a:t>SAP and ServiceNow expansion patterns</a:t>
            </a:r>
          </a:p>
        </p:txBody>
      </p:sp>
      <p:sp>
        <p:nvSpPr>
          <p:cNvPr id="41" name="Oval 40"/>
          <p:cNvSpPr/>
          <p:nvPr/>
        </p:nvSpPr>
        <p:spPr>
          <a:xfrm>
            <a:off x="9467850" y="5095875"/>
            <a:ext cx="114300" cy="114300"/>
          </a:xfrm>
          <a:prstGeom prst="ellipse">
            <a:avLst/>
          </a:prstGeom>
          <a:solidFill>
            <a:srgbClr val="FF5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8350" y="5048250"/>
            <a:ext cx="7239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62" b="1">
                <a:solidFill>
                  <a:srgbClr val="6B7786"/>
                </a:solidFill>
                <a:latin typeface="Libre Franklin"/>
              </a:rPr>
              <a:t>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1300" y="4991100"/>
            <a:ext cx="1219200" cy="419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87" b="1">
                <a:solidFill>
                  <a:srgbClr val="3367FF"/>
                </a:solidFill>
                <a:latin typeface="Libre Franklin"/>
              </a:rPr>
              <a:t>Validate: Pilot cohort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482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87175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4825" y="1476375"/>
            <a:ext cx="1118235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96224" y="0"/>
            <a:ext cx="13334" cy="6858000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4825" y="4752975"/>
            <a:ext cx="7391400" cy="13334"/>
          </a:xfrm>
          <a:prstGeom prst="rect">
            <a:avLst/>
          </a:prstGeom>
          <a:solidFill>
            <a:srgbClr val="2E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20025" y="1476375"/>
            <a:ext cx="76200" cy="15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43825" y="1476375"/>
            <a:ext cx="7620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95499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37" b="1">
                <a:solidFill>
                  <a:srgbClr val="69FEFF"/>
                </a:solidFill>
                <a:latin typeface="Libre Franklin"/>
              </a:rPr>
              <a:t>THE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495550"/>
            <a:ext cx="6858000" cy="15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3150" b="1">
                <a:solidFill>
                  <a:srgbClr val="FFFFFF"/>
                </a:solidFill>
                <a:latin typeface="Libre Franklin"/>
              </a:rPr>
              <a:t>Land fast. Prove value.</a:t>
            </a:r>
          </a:p>
          <a:p>
            <a:pPr algn="l">
              <a:lnSpc>
                <a:spcPct val="105000"/>
              </a:lnSpc>
            </a:pPr>
            <a:r>
              <a:rPr sz="3150" b="1">
                <a:solidFill>
                  <a:srgbClr val="FFFFFF"/>
                </a:solidFill>
                <a:latin typeface="Libre Franklin"/>
              </a:rPr>
              <a:t>Expand.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5029200"/>
            <a:ext cx="6667500" cy="7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87" b="0">
                <a:solidFill>
                  <a:srgbClr val="C5CFDE"/>
                </a:solidFill>
                <a:latin typeface="Libre Franklin"/>
              </a:rPr>
              <a:t>One product in market by January. Cost neutral inside year one.</a:t>
            </a:r>
          </a:p>
          <a:p>
            <a:pPr algn="l">
              <a:lnSpc>
                <a:spcPct val="130000"/>
              </a:lnSpc>
            </a:pPr>
            <a:r>
              <a:rPr sz="1087" b="0">
                <a:solidFill>
                  <a:srgbClr val="C5CFDE"/>
                </a:solidFill>
                <a:latin typeface="Libre Franklin"/>
              </a:rPr>
              <a:t>Four installed-platform wedges and a recurring line by mid 2027.</a:t>
            </a:r>
          </a:p>
        </p:txBody>
      </p:sp>
      <p:sp>
        <p:nvSpPr>
          <p:cNvPr id="12" name="Oval 11"/>
          <p:cNvSpPr/>
          <p:nvPr/>
        </p:nvSpPr>
        <p:spPr>
          <a:xfrm>
            <a:off x="8429625" y="2162175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2095499"/>
            <a:ext cx="295275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FFFFFF"/>
                </a:solidFill>
                <a:latin typeface="Libre Franklin"/>
              </a:rPr>
              <a:t>This week · book the Mayur 1:1: quota treatment, pilot green-light, SE allocation.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8429625" y="2771775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705100"/>
            <a:ext cx="295275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FFFFFF"/>
                </a:solidFill>
                <a:latin typeface="Libre Franklin"/>
              </a:rPr>
              <a:t>This week · follow up with Tim: category story, launch collateral, talent-budget plan.</a:t>
            </a:r>
          </a:p>
        </p:txBody>
      </p:sp>
      <p:sp>
        <p:nvSpPr>
          <p:cNvPr id="16" name="Oval 15"/>
          <p:cNvSpPr/>
          <p:nvPr/>
        </p:nvSpPr>
        <p:spPr>
          <a:xfrm>
            <a:off x="8429625" y="3381375"/>
            <a:ext cx="95250" cy="95250"/>
          </a:xfrm>
          <a:prstGeom prst="ellipse">
            <a:avLst/>
          </a:prstGeom>
          <a:solidFill>
            <a:srgbClr val="69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314700"/>
            <a:ext cx="2952750" cy="533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FFFFFF"/>
                </a:solidFill>
                <a:latin typeface="Libre Franklin"/>
              </a:rPr>
              <a:t>September · scope the keystone cost-per-outcome study with Deepak.</a:t>
            </a:r>
          </a:p>
        </p:txBody>
      </p:sp>
      <p:pic>
        <p:nvPicPr>
          <p:cNvPr id="18" name="Picture 17" descr="backbase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6572250"/>
            <a:ext cx="685800" cy="1655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582400" y="6591300"/>
            <a:ext cx="457200" cy="2095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fld id="{1F4E2DE4-8ADA-4D4E-9951-90A1D26586E7}" type="slidenum">
              <a:rPr sz="900">
                <a:solidFill>
                  <a:srgbClr val="5A6B80"/>
                </a:solidFill>
                <a:latin typeface="Libre Franklin"/>
              </a:rPr>
              <a:t>1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